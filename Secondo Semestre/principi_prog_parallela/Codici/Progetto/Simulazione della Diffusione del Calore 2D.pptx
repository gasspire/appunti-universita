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86" r:id="rId17"/>
    <p:sldId id="274" r:id="rId18"/>
    <p:sldId id="275" r:id="rId19"/>
    <p:sldId id="276" r:id="rId20"/>
    <p:sldId id="287" r:id="rId21"/>
    <p:sldId id="288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9" r:id="rId30"/>
    <p:sldId id="285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7" autoAdjust="0"/>
    <p:restoredTop sz="94125" autoAdjust="0"/>
  </p:normalViewPr>
  <p:slideViewPr>
    <p:cSldViewPr snapToGrid="0">
      <p:cViewPr varScale="1">
        <p:scale>
          <a:sx n="105" d="100"/>
          <a:sy n="105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5416730896725684E-2"/>
          <c:y val="0.13950256852942694"/>
          <c:w val="0.92942512819462875"/>
          <c:h val="0.73158242138584706"/>
        </c:manualLayout>
      </c:layout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Sequenziale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N 64</c:v>
                </c:pt>
                <c:pt idx="1">
                  <c:v>N 128</c:v>
                </c:pt>
                <c:pt idx="2">
                  <c:v>N 256</c:v>
                </c:pt>
                <c:pt idx="3">
                  <c:v>N 512</c:v>
                </c:pt>
                <c:pt idx="4">
                  <c:v>N 1024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2.92E-2</c:v>
                </c:pt>
                <c:pt idx="1">
                  <c:v>0.47149999999999997</c:v>
                </c:pt>
                <c:pt idx="2" formatCode="#,##0">
                  <c:v>7.1670999999999996</c:v>
                </c:pt>
                <c:pt idx="3">
                  <c:v>118.16200000000001</c:v>
                </c:pt>
                <c:pt idx="4" formatCode="#,##0">
                  <c:v>2537.8130000000001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9A-45BC-8682-668C40769E0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O(N^4)</c:v>
                </c:pt>
              </c:strCache>
            </c:strRef>
          </c:tx>
          <c:spPr>
            <a:ln w="22225" cap="rnd">
              <a:solidFill>
                <a:schemeClr val="accent2"/>
              </a:solidFill>
              <a:prstDash val="dash"/>
              <a:round/>
              <a:headEnd type="none"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Foglio1!$A$2:$A$6</c:f>
              <c:strCache>
                <c:ptCount val="5"/>
                <c:pt idx="0">
                  <c:v>N 64</c:v>
                </c:pt>
                <c:pt idx="1">
                  <c:v>N 128</c:v>
                </c:pt>
                <c:pt idx="2">
                  <c:v>N 256</c:v>
                </c:pt>
                <c:pt idx="3">
                  <c:v>N 512</c:v>
                </c:pt>
                <c:pt idx="4">
                  <c:v>N 1024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2.92E-2</c:v>
                </c:pt>
                <c:pt idx="1">
                  <c:v>0.4672</c:v>
                </c:pt>
                <c:pt idx="2">
                  <c:v>7.4752000000000001</c:v>
                </c:pt>
                <c:pt idx="3">
                  <c:v>119.6032</c:v>
                </c:pt>
                <c:pt idx="4">
                  <c:v>1913.6512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E9A-45BC-8682-668C40769E0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8093072"/>
        <c:axId val="163322976"/>
      </c:lineChart>
      <c:catAx>
        <c:axId val="148093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3322976"/>
        <c:crossesAt val="1.0000000000000002E-2"/>
        <c:auto val="1"/>
        <c:lblAlgn val="ctr"/>
        <c:lblOffset val="100"/>
        <c:noMultiLvlLbl val="0"/>
      </c:catAx>
      <c:valAx>
        <c:axId val="1633229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8093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Tempi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Foglio1!$B$2:$B$6</c:f>
              <c:numCache>
                <c:formatCode>0.0000</c:formatCode>
                <c:ptCount val="5"/>
                <c:pt idx="0">
                  <c:v>4.8399999999999999E-2</c:v>
                </c:pt>
                <c:pt idx="1">
                  <c:v>4.2999999999999997E-2</c:v>
                </c:pt>
                <c:pt idx="2">
                  <c:v>3.3700000000000001E-2</c:v>
                </c:pt>
                <c:pt idx="3">
                  <c:v>2.9899999999999999E-2</c:v>
                </c:pt>
                <c:pt idx="4">
                  <c:v>3.2800000000000003E-2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BB-4426-B408-B3D8B831F37D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Foglio1!$C$2:$C$6</c:f>
              <c:numCache>
                <c:formatCode>0.0000</c:formatCode>
                <c:ptCount val="5"/>
                <c:pt idx="0">
                  <c:v>0.71909999999999996</c:v>
                </c:pt>
                <c:pt idx="1">
                  <c:v>0.40239999999999998</c:v>
                </c:pt>
                <c:pt idx="2">
                  <c:v>0.26960000000000001</c:v>
                </c:pt>
                <c:pt idx="3">
                  <c:v>0.2475</c:v>
                </c:pt>
                <c:pt idx="4">
                  <c:v>0.30009999999999998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BB-4426-B408-B3D8B831F37D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Foglio1!$D$2:$D$6</c:f>
              <c:numCache>
                <c:formatCode>0.0000</c:formatCode>
                <c:ptCount val="5"/>
                <c:pt idx="0">
                  <c:v>11.094900000000001</c:v>
                </c:pt>
                <c:pt idx="1">
                  <c:v>5.8006000000000002</c:v>
                </c:pt>
                <c:pt idx="2">
                  <c:v>3.5347</c:v>
                </c:pt>
                <c:pt idx="3">
                  <c:v>2.8469000000000002</c:v>
                </c:pt>
                <c:pt idx="4">
                  <c:v>3.7553000000000001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BB-4426-B408-B3D8B831F37D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Foglio1!$E$2:$E$6</c:f>
              <c:numCache>
                <c:formatCode>0.0000</c:formatCode>
                <c:ptCount val="5"/>
                <c:pt idx="0">
                  <c:v>168.15639999999999</c:v>
                </c:pt>
                <c:pt idx="1">
                  <c:v>83.887</c:v>
                </c:pt>
                <c:pt idx="2">
                  <c:v>50.049500000000002</c:v>
                </c:pt>
                <c:pt idx="3">
                  <c:v>39.182299999999998</c:v>
                </c:pt>
                <c:pt idx="4">
                  <c:v>53.658900000000003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BB-4426-B408-B3D8B831F37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52876720"/>
        <c:axId val="351642016"/>
      </c:lineChart>
      <c:catAx>
        <c:axId val="35287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1642016"/>
        <c:crossesAt val="1.0000000000000002E-2"/>
        <c:auto val="1"/>
        <c:lblAlgn val="ctr"/>
        <c:lblOffset val="100"/>
        <c:noMultiLvlLbl val="0"/>
      </c:catAx>
      <c:valAx>
        <c:axId val="351642016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dirty="0"/>
                  <a:t>Secondi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287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Efficienza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0.6</c:v>
                </c:pt>
                <c:pt idx="1">
                  <c:v>0.34</c:v>
                </c:pt>
                <c:pt idx="2">
                  <c:v>0.22</c:v>
                </c:pt>
                <c:pt idx="3">
                  <c:v>0.16</c:v>
                </c:pt>
                <c:pt idx="4">
                  <c:v>0.11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A5-4E58-A160-71641889E788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0.68</c:v>
                </c:pt>
                <c:pt idx="1">
                  <c:v>0.61</c:v>
                </c:pt>
                <c:pt idx="2">
                  <c:v>0.45</c:v>
                </c:pt>
                <c:pt idx="3">
                  <c:v>0.33</c:v>
                </c:pt>
                <c:pt idx="4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A5-4E58-A160-71641889E788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0.63</c:v>
                </c:pt>
                <c:pt idx="1">
                  <c:v>0.6</c:v>
                </c:pt>
                <c:pt idx="2">
                  <c:v>0.5</c:v>
                </c:pt>
                <c:pt idx="3">
                  <c:v>0.41</c:v>
                </c:pt>
                <c:pt idx="4">
                  <c:v>0.23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A5-4E58-A160-71641889E788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0.71</c:v>
                </c:pt>
                <c:pt idx="1">
                  <c:v>0.71</c:v>
                </c:pt>
                <c:pt idx="2">
                  <c:v>0.59</c:v>
                </c:pt>
                <c:pt idx="3">
                  <c:v>0.5</c:v>
                </c:pt>
                <c:pt idx="4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BA5-4E58-A160-71641889E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11376"/>
        <c:axId val="2099601759"/>
      </c:lineChart>
      <c:catAx>
        <c:axId val="1811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99601759"/>
        <c:crosses val="autoZero"/>
        <c:auto val="1"/>
        <c:lblAlgn val="ctr"/>
        <c:lblOffset val="100"/>
        <c:noMultiLvlLbl val="0"/>
      </c:catAx>
      <c:valAx>
        <c:axId val="209960175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11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 err="1"/>
              <a:t>Speedup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0.6</c:v>
                </c:pt>
                <c:pt idx="1">
                  <c:v>0.67</c:v>
                </c:pt>
                <c:pt idx="2">
                  <c:v>0.86</c:v>
                </c:pt>
                <c:pt idx="3">
                  <c:v>0.97</c:v>
                </c:pt>
                <c:pt idx="4">
                  <c:v>0.88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2F-4CF3-907B-D9E54270F91A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0.68</c:v>
                </c:pt>
                <c:pt idx="1">
                  <c:v>1.21</c:v>
                </c:pt>
                <c:pt idx="2">
                  <c:v>1.81</c:v>
                </c:pt>
                <c:pt idx="3">
                  <c:v>1.97</c:v>
                </c:pt>
                <c:pt idx="4">
                  <c:v>1.64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2F-4CF3-907B-D9E54270F91A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0.63</c:v>
                </c:pt>
                <c:pt idx="1">
                  <c:v>1.21</c:v>
                </c:pt>
                <c:pt idx="2">
                  <c:v>1.99</c:v>
                </c:pt>
                <c:pt idx="3">
                  <c:v>2.46</c:v>
                </c:pt>
                <c:pt idx="4">
                  <c:v>1.87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2F-4CF3-907B-D9E54270F91A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1T</c:v>
                </c:pt>
                <c:pt idx="1">
                  <c:v>2T</c:v>
                </c:pt>
                <c:pt idx="2">
                  <c:v>4T</c:v>
                </c:pt>
                <c:pt idx="3">
                  <c:v>6T</c:v>
                </c:pt>
                <c:pt idx="4">
                  <c:v>8T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0.71</c:v>
                </c:pt>
                <c:pt idx="1">
                  <c:v>1.41</c:v>
                </c:pt>
                <c:pt idx="2">
                  <c:v>2.37</c:v>
                </c:pt>
                <c:pt idx="3">
                  <c:v>3.03</c:v>
                </c:pt>
                <c:pt idx="4">
                  <c:v>2.21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12F-4CF3-907B-D9E54270F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11376"/>
        <c:axId val="2099601759"/>
      </c:lineChart>
      <c:catAx>
        <c:axId val="1811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99601759"/>
        <c:crosses val="autoZero"/>
        <c:auto val="1"/>
        <c:lblAlgn val="ctr"/>
        <c:lblOffset val="100"/>
        <c:noMultiLvlLbl val="0"/>
      </c:catAx>
      <c:valAx>
        <c:axId val="2099601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11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Tempi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3.2399999999999998E-2</c:v>
                </c:pt>
                <c:pt idx="1">
                  <c:v>2.3E-2</c:v>
                </c:pt>
                <c:pt idx="2">
                  <c:v>2.7400000000000001E-2</c:v>
                </c:pt>
                <c:pt idx="3">
                  <c:v>3.6700000000000003E-2</c:v>
                </c:pt>
                <c:pt idx="4">
                  <c:v>4.3499999999999997E-2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26-4A07-9811-EC39CEB3B03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0.46789999999999998</c:v>
                </c:pt>
                <c:pt idx="1">
                  <c:v>0.26119999999999999</c:v>
                </c:pt>
                <c:pt idx="2">
                  <c:v>0.20019999999999999</c:v>
                </c:pt>
                <c:pt idx="3">
                  <c:v>0.19070000000000001</c:v>
                </c:pt>
                <c:pt idx="4">
                  <c:v>0.26939999999999997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126-4A07-9811-EC39CEB3B034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Foglio1!$D$2:$D$6</c:f>
              <c:numCache>
                <c:formatCode>#,##0</c:formatCode>
                <c:ptCount val="5"/>
                <c:pt idx="0">
                  <c:v>7.1218000000000004</c:v>
                </c:pt>
                <c:pt idx="1">
                  <c:v>3.8228</c:v>
                </c:pt>
                <c:pt idx="2" formatCode="General">
                  <c:v>2.4794999999999998</c:v>
                </c:pt>
                <c:pt idx="3" formatCode="General">
                  <c:v>2.0785999999999998</c:v>
                </c:pt>
                <c:pt idx="4">
                  <c:v>2.9129999999999998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126-4A07-9811-EC39CEB3B034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122.0479</c:v>
                </c:pt>
                <c:pt idx="1">
                  <c:v>63.9861</c:v>
                </c:pt>
                <c:pt idx="2" formatCode="#,##0">
                  <c:v>37.343000000000004</c:v>
                </c:pt>
                <c:pt idx="3" formatCode="#,##0">
                  <c:v>30.943200000000001</c:v>
                </c:pt>
                <c:pt idx="4">
                  <c:v>44.939799999999998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126-4A07-9811-EC39CEB3B03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52876720"/>
        <c:axId val="351642016"/>
      </c:lineChart>
      <c:catAx>
        <c:axId val="35287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1642016"/>
        <c:crossesAt val="1.0000000000000002E-2"/>
        <c:auto val="1"/>
        <c:lblAlgn val="ctr"/>
        <c:lblOffset val="100"/>
        <c:noMultiLvlLbl val="0"/>
      </c:catAx>
      <c:valAx>
        <c:axId val="351642016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dirty="0"/>
                  <a:t>Secondi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287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Speed</a:t>
            </a:r>
            <a:r>
              <a:rPr lang="en-US" baseline="0" noProof="0" dirty="0"/>
              <a:t>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0.9</c:v>
                </c:pt>
                <c:pt idx="1">
                  <c:v>1.26</c:v>
                </c:pt>
                <c:pt idx="2">
                  <c:v>1.06</c:v>
                </c:pt>
                <c:pt idx="3">
                  <c:v>0.79</c:v>
                </c:pt>
                <c:pt idx="4">
                  <c:v>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5B-4236-80F3-41BCFC5D0C76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1</c:v>
                </c:pt>
                <c:pt idx="1">
                  <c:v>1.87</c:v>
                </c:pt>
                <c:pt idx="2">
                  <c:v>2.44</c:v>
                </c:pt>
                <c:pt idx="3">
                  <c:v>2.56</c:v>
                </c:pt>
                <c:pt idx="4">
                  <c:v>1.81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5B-4236-80F3-41BCFC5D0C76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0.99</c:v>
                </c:pt>
                <c:pt idx="1">
                  <c:v>1.84</c:v>
                </c:pt>
                <c:pt idx="2">
                  <c:v>2.83</c:v>
                </c:pt>
                <c:pt idx="3">
                  <c:v>3.38</c:v>
                </c:pt>
                <c:pt idx="4">
                  <c:v>2.41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5B-4236-80F3-41BCFC5D0C76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0.97</c:v>
                </c:pt>
                <c:pt idx="1">
                  <c:v>1.85</c:v>
                </c:pt>
                <c:pt idx="2">
                  <c:v>3.18</c:v>
                </c:pt>
                <c:pt idx="3">
                  <c:v>3.83</c:v>
                </c:pt>
                <c:pt idx="4">
                  <c:v>2.64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25B-4236-80F3-41BCFC5D0C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5103296"/>
        <c:axId val="351644896"/>
      </c:lineChart>
      <c:catAx>
        <c:axId val="45510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1644896"/>
        <c:crosses val="autoZero"/>
        <c:auto val="1"/>
        <c:lblAlgn val="ctr"/>
        <c:lblOffset val="100"/>
        <c:noMultiLvlLbl val="0"/>
      </c:catAx>
      <c:valAx>
        <c:axId val="35164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5510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Efficienza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0.9</c:v>
                </c:pt>
                <c:pt idx="1">
                  <c:v>0.63</c:v>
                </c:pt>
                <c:pt idx="2">
                  <c:v>0.26</c:v>
                </c:pt>
                <c:pt idx="3">
                  <c:v>0.13</c:v>
                </c:pt>
                <c:pt idx="4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65-4582-A19D-E8195E3B2AA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1</c:v>
                </c:pt>
                <c:pt idx="1">
                  <c:v>0.94</c:v>
                </c:pt>
                <c:pt idx="2">
                  <c:v>0.61</c:v>
                </c:pt>
                <c:pt idx="3">
                  <c:v>0.43</c:v>
                </c:pt>
                <c:pt idx="4">
                  <c:v>0.23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65-4582-A19D-E8195E3B2AAB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0.99</c:v>
                </c:pt>
                <c:pt idx="1">
                  <c:v>0.92</c:v>
                </c:pt>
                <c:pt idx="2">
                  <c:v>0.71</c:v>
                </c:pt>
                <c:pt idx="3">
                  <c:v>0.56000000000000005</c:v>
                </c:pt>
                <c:pt idx="4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65-4582-A19D-E8195E3B2AAB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</c:v>
                </c:pt>
                <c:pt idx="1">
                  <c:v>2P</c:v>
                </c:pt>
                <c:pt idx="2">
                  <c:v>4P</c:v>
                </c:pt>
                <c:pt idx="3">
                  <c:v>6P</c:v>
                </c:pt>
                <c:pt idx="4">
                  <c:v>8P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0.97</c:v>
                </c:pt>
                <c:pt idx="1">
                  <c:v>0.93</c:v>
                </c:pt>
                <c:pt idx="2">
                  <c:v>0.79</c:v>
                </c:pt>
                <c:pt idx="3">
                  <c:v>0.64</c:v>
                </c:pt>
                <c:pt idx="4">
                  <c:v>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165-4582-A19D-E8195E3B2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11376"/>
        <c:axId val="2099601759"/>
      </c:lineChart>
      <c:catAx>
        <c:axId val="1811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99601759"/>
        <c:crosses val="autoZero"/>
        <c:auto val="1"/>
        <c:lblAlgn val="ctr"/>
        <c:lblOffset val="100"/>
        <c:noMultiLvlLbl val="0"/>
      </c:catAx>
      <c:valAx>
        <c:axId val="209960175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11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MPI</a:t>
            </a:r>
            <a:r>
              <a:rPr lang="it-IT" baseline="0" dirty="0"/>
              <a:t> + </a:t>
            </a:r>
            <a:r>
              <a:rPr lang="it-IT" baseline="0" dirty="0" err="1"/>
              <a:t>OpenMP</a:t>
            </a:r>
            <a:endParaRPr lang="it-IT" baseline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2P X 3T</c:v>
                </c:pt>
                <c:pt idx="3">
                  <c:v>3P X 2T</c:v>
                </c:pt>
                <c:pt idx="4">
                  <c:v>4P X 2T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5.11E-2</c:v>
                </c:pt>
                <c:pt idx="1">
                  <c:v>3.4799999999999998E-2</c:v>
                </c:pt>
                <c:pt idx="2">
                  <c:v>0.28889999999999999</c:v>
                </c:pt>
                <c:pt idx="3">
                  <c:v>4.6899999999999997E-2</c:v>
                </c:pt>
                <c:pt idx="4">
                  <c:v>5.4699999999999999E-2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FF-4268-907E-D80889D5D4F0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2P X 3T</c:v>
                </c:pt>
                <c:pt idx="3">
                  <c:v>3P X 2T</c:v>
                </c:pt>
                <c:pt idx="4">
                  <c:v>4P X 2T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0.48149999999999998</c:v>
                </c:pt>
                <c:pt idx="1">
                  <c:v>0.29759999999999998</c:v>
                </c:pt>
                <c:pt idx="2">
                  <c:v>1.2470000000000001</c:v>
                </c:pt>
                <c:pt idx="3">
                  <c:v>0.26750000000000002</c:v>
                </c:pt>
                <c:pt idx="4">
                  <c:v>0.36620000000000003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FF-4268-907E-D80889D5D4F0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2P X 3T</c:v>
                </c:pt>
                <c:pt idx="3">
                  <c:v>3P X 2T</c:v>
                </c:pt>
                <c:pt idx="4">
                  <c:v>4P X 2T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6.9762000000000004</c:v>
                </c:pt>
                <c:pt idx="1">
                  <c:v>3.9447000000000001</c:v>
                </c:pt>
                <c:pt idx="2">
                  <c:v>7.8125</c:v>
                </c:pt>
                <c:pt idx="3">
                  <c:v>2.4386000000000001</c:v>
                </c:pt>
                <c:pt idx="4">
                  <c:v>3.1823999999999999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FF-4268-907E-D80889D5D4F0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2P X 3T</c:v>
                </c:pt>
                <c:pt idx="3">
                  <c:v>3P X 2T</c:v>
                </c:pt>
                <c:pt idx="4">
                  <c:v>4P X 2T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106.91</c:v>
                </c:pt>
                <c:pt idx="1">
                  <c:v>62.448</c:v>
                </c:pt>
                <c:pt idx="2">
                  <c:v>85.797499999999999</c:v>
                </c:pt>
                <c:pt idx="3">
                  <c:v>31.348700000000001</c:v>
                </c:pt>
                <c:pt idx="4">
                  <c:v>42.302900000000001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7FF-4268-907E-D80889D5D4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19494976"/>
        <c:axId val="2099607039"/>
      </c:lineChart>
      <c:catAx>
        <c:axId val="191949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99607039"/>
        <c:crossesAt val="1.0000000000000002E-2"/>
        <c:auto val="1"/>
        <c:lblAlgn val="ctr"/>
        <c:lblOffset val="100"/>
        <c:noMultiLvlLbl val="0"/>
      </c:catAx>
      <c:valAx>
        <c:axId val="2099607039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19494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Speed</a:t>
            </a:r>
            <a:r>
              <a:rPr lang="en-US" baseline="0" noProof="0" dirty="0"/>
              <a:t>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0.56999999999999995</c:v>
                </c:pt>
                <c:pt idx="1">
                  <c:v>0.83</c:v>
                </c:pt>
                <c:pt idx="2">
                  <c:v>0.62</c:v>
                </c:pt>
                <c:pt idx="3">
                  <c:v>0.1</c:v>
                </c:pt>
                <c:pt idx="4">
                  <c:v>0.53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F8-4D7E-BB29-1BF3D0F2D38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1.01</c:v>
                </c:pt>
                <c:pt idx="1">
                  <c:v>1.64</c:v>
                </c:pt>
                <c:pt idx="2">
                  <c:v>1.83</c:v>
                </c:pt>
                <c:pt idx="3">
                  <c:v>0.39</c:v>
                </c:pt>
                <c:pt idx="4">
                  <c:v>1.33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F8-4D7E-BB29-1BF3D0F2D383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1.01</c:v>
                </c:pt>
                <c:pt idx="1">
                  <c:v>1.78</c:v>
                </c:pt>
                <c:pt idx="2">
                  <c:v>2.88</c:v>
                </c:pt>
                <c:pt idx="3">
                  <c:v>0.9</c:v>
                </c:pt>
                <c:pt idx="4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F8-4D7E-BB29-1BF3D0F2D383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1.1100000000000001</c:v>
                </c:pt>
                <c:pt idx="1">
                  <c:v>1.9</c:v>
                </c:pt>
                <c:pt idx="2">
                  <c:v>3.78</c:v>
                </c:pt>
                <c:pt idx="3">
                  <c:v>1.38</c:v>
                </c:pt>
                <c:pt idx="4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F8-4D7E-BB29-1BF3D0F2D3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5103296"/>
        <c:axId val="351644896"/>
      </c:lineChart>
      <c:catAx>
        <c:axId val="45510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1644896"/>
        <c:crosses val="autoZero"/>
        <c:auto val="1"/>
        <c:lblAlgn val="ctr"/>
        <c:lblOffset val="100"/>
        <c:noMultiLvlLbl val="0"/>
      </c:catAx>
      <c:valAx>
        <c:axId val="35164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5510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Efficienza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0.28000000000000003</c:v>
                </c:pt>
                <c:pt idx="1">
                  <c:v>0.21</c:v>
                </c:pt>
                <c:pt idx="2">
                  <c:v>0.1</c:v>
                </c:pt>
                <c:pt idx="3">
                  <c:v>0.02</c:v>
                </c:pt>
                <c:pt idx="4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61-4319-A33F-5AD92247EC2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0.51</c:v>
                </c:pt>
                <c:pt idx="1">
                  <c:v>0.41</c:v>
                </c:pt>
                <c:pt idx="2">
                  <c:v>0.3</c:v>
                </c:pt>
                <c:pt idx="3">
                  <c:v>7.0000000000000007E-2</c:v>
                </c:pt>
                <c:pt idx="4">
                  <c:v>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1-4319-A33F-5AD92247EC23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0.5</c:v>
                </c:pt>
                <c:pt idx="1">
                  <c:v>0.44</c:v>
                </c:pt>
                <c:pt idx="2">
                  <c:v>0.48</c:v>
                </c:pt>
                <c:pt idx="3">
                  <c:v>0.15</c:v>
                </c:pt>
                <c:pt idx="4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61-4319-A33F-5AD92247EC23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Foglio1!$A$2:$A$6</c:f>
              <c:strCache>
                <c:ptCount val="5"/>
                <c:pt idx="0">
                  <c:v>1P X 2T</c:v>
                </c:pt>
                <c:pt idx="1">
                  <c:v>2P X 2T</c:v>
                </c:pt>
                <c:pt idx="2">
                  <c:v>3P X 2T</c:v>
                </c:pt>
                <c:pt idx="3">
                  <c:v>2P X 3T</c:v>
                </c:pt>
                <c:pt idx="4">
                  <c:v>4P X 2T</c:v>
                </c:pt>
              </c:strCache>
            </c:strRef>
          </c:cat>
          <c:val>
            <c:numRef>
              <c:f>Foglio1!$E$2:$E$6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0.47</c:v>
                </c:pt>
                <c:pt idx="2">
                  <c:v>0.63</c:v>
                </c:pt>
                <c:pt idx="3">
                  <c:v>0.23</c:v>
                </c:pt>
                <c:pt idx="4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1-4319-A33F-5AD92247EC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11376"/>
        <c:axId val="2099601759"/>
      </c:lineChart>
      <c:catAx>
        <c:axId val="1811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99601759"/>
        <c:crosses val="autoZero"/>
        <c:auto val="1"/>
        <c:lblAlgn val="ctr"/>
        <c:lblOffset val="100"/>
        <c:noMultiLvlLbl val="0"/>
      </c:catAx>
      <c:valAx>
        <c:axId val="209960175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11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Foglio1!$A$2:$A$7</c:f>
              <c:strCache>
                <c:ptCount val="6"/>
                <c:pt idx="0">
                  <c:v>6P MPI puro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Foglio1!$B$2:$B$7</c:f>
              <c:numCache>
                <c:formatCode>General</c:formatCode>
                <c:ptCount val="6"/>
                <c:pt idx="0">
                  <c:v>3.3599999999999998E-2</c:v>
                </c:pt>
                <c:pt idx="1">
                  <c:v>4.7300000000000002E-2</c:v>
                </c:pt>
                <c:pt idx="2">
                  <c:v>5.3499999999999999E-2</c:v>
                </c:pt>
                <c:pt idx="3">
                  <c:v>0.29549999999999998</c:v>
                </c:pt>
                <c:pt idx="4">
                  <c:v>0.55220000000000002</c:v>
                </c:pt>
                <c:pt idx="5">
                  <c:v>2.9899999999999999E-2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5C-4F59-8F9D-B7EBE93834AE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Foglio1!$A$2:$A$7</c:f>
              <c:strCache>
                <c:ptCount val="6"/>
                <c:pt idx="0">
                  <c:v>6P MPI puro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Foglio1!$C$2:$C$7</c:f>
              <c:numCache>
                <c:formatCode>General</c:formatCode>
                <c:ptCount val="6"/>
                <c:pt idx="0">
                  <c:v>0.28449999999999998</c:v>
                </c:pt>
                <c:pt idx="1">
                  <c:v>0.40510000000000002</c:v>
                </c:pt>
                <c:pt idx="2">
                  <c:v>0.33850000000000002</c:v>
                </c:pt>
                <c:pt idx="3">
                  <c:v>1.4044000000000001</c:v>
                </c:pt>
                <c:pt idx="4">
                  <c:v>2.4253</c:v>
                </c:pt>
                <c:pt idx="5">
                  <c:v>0.2475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C5C-4F59-8F9D-B7EBE93834AE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Foglio1!$A$2:$A$7</c:f>
              <c:strCache>
                <c:ptCount val="6"/>
                <c:pt idx="0">
                  <c:v>6P MPI puro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Foglio1!$D$2:$D$7</c:f>
              <c:numCache>
                <c:formatCode>General</c:formatCode>
                <c:ptCount val="6"/>
                <c:pt idx="0">
                  <c:v>1.8154999999999999</c:v>
                </c:pt>
                <c:pt idx="1">
                  <c:v>2.129</c:v>
                </c:pt>
                <c:pt idx="2">
                  <c:v>2.2488000000000001</c:v>
                </c:pt>
                <c:pt idx="3">
                  <c:v>7.7030000000000003</c:v>
                </c:pt>
                <c:pt idx="4">
                  <c:v>14.042299999999999</c:v>
                </c:pt>
                <c:pt idx="5">
                  <c:v>2.8469000000000002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C5C-4F59-8F9D-B7EBE93834AE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Foglio1!$A$2:$A$7</c:f>
              <c:strCache>
                <c:ptCount val="6"/>
                <c:pt idx="0">
                  <c:v>6P MPI puro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Foglio1!$E$2:$E$7</c:f>
              <c:numCache>
                <c:formatCode>General</c:formatCode>
                <c:ptCount val="6"/>
                <c:pt idx="0">
                  <c:v>30.383600000000001</c:v>
                </c:pt>
                <c:pt idx="1">
                  <c:v>33.0548</c:v>
                </c:pt>
                <c:pt idx="2">
                  <c:v>32.059199999999997</c:v>
                </c:pt>
                <c:pt idx="3">
                  <c:v>84.501400000000004</c:v>
                </c:pt>
                <c:pt idx="4">
                  <c:v>135.08580000000001</c:v>
                </c:pt>
                <c:pt idx="5">
                  <c:v>39.182299999999998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C5C-4F59-8F9D-B7EBE93834AE}"/>
            </c:ext>
          </c:extLst>
        </c:ser>
        <c:ser>
          <c:idx val="4"/>
          <c:order val="4"/>
          <c:tx>
            <c:strRef>
              <c:f>Foglio1!$F$1</c:f>
              <c:strCache>
                <c:ptCount val="1"/>
                <c:pt idx="0">
                  <c:v>1024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Foglio1!$A$2:$A$7</c:f>
              <c:strCache>
                <c:ptCount val="6"/>
                <c:pt idx="0">
                  <c:v>6P MPI puro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Foglio1!$F$2:$F$7</c:f>
              <c:numCache>
                <c:formatCode>General</c:formatCode>
                <c:ptCount val="6"/>
                <c:pt idx="0">
                  <c:v>1889.0450000000001</c:v>
                </c:pt>
                <c:pt idx="1">
                  <c:v>1809.7681</c:v>
                </c:pt>
                <c:pt idx="2">
                  <c:v>1826.2143000000001</c:v>
                </c:pt>
                <c:pt idx="3">
                  <c:v>2052.5263</c:v>
                </c:pt>
                <c:pt idx="4">
                  <c:v>2210.7053999999998</c:v>
                </c:pt>
                <c:pt idx="5">
                  <c:v>1812.14552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C5C-4F59-8F9D-B7EBE9383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9733263"/>
        <c:axId val="881292863"/>
      </c:lineChart>
      <c:catAx>
        <c:axId val="819733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1292863"/>
        <c:crossesAt val="1.0000000000000002E-2"/>
        <c:auto val="1"/>
        <c:lblAlgn val="ctr"/>
        <c:lblOffset val="100"/>
        <c:noMultiLvlLbl val="0"/>
      </c:catAx>
      <c:valAx>
        <c:axId val="881292863"/>
        <c:scaling>
          <c:logBase val="10"/>
          <c:orientation val="minMax"/>
          <c:min val="1.0000000000000002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1973326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Speed</a:t>
            </a:r>
            <a:r>
              <a:rPr lang="en-US" baseline="0" noProof="0" dirty="0"/>
              <a:t>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 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Foglio1!$B$2:$B$7</c:f>
              <c:numCache>
                <c:formatCode>General</c:formatCode>
                <c:ptCount val="6"/>
                <c:pt idx="0">
                  <c:v>0.87</c:v>
                </c:pt>
                <c:pt idx="1">
                  <c:v>0.62</c:v>
                </c:pt>
                <c:pt idx="2">
                  <c:v>0.55000000000000004</c:v>
                </c:pt>
                <c:pt idx="3">
                  <c:v>0.1</c:v>
                </c:pt>
                <c:pt idx="4">
                  <c:v>0.05</c:v>
                </c:pt>
                <c:pt idx="5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AA-4FDC-A671-650319787E07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 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Foglio1!$C$2:$C$7</c:f>
              <c:numCache>
                <c:formatCode>General</c:formatCode>
                <c:ptCount val="6"/>
                <c:pt idx="0">
                  <c:v>1.59</c:v>
                </c:pt>
                <c:pt idx="1">
                  <c:v>1.1200000000000001</c:v>
                </c:pt>
                <c:pt idx="2">
                  <c:v>1.34</c:v>
                </c:pt>
                <c:pt idx="3">
                  <c:v>0.32</c:v>
                </c:pt>
                <c:pt idx="4">
                  <c:v>0.19</c:v>
                </c:pt>
                <c:pt idx="5">
                  <c:v>1.97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AA-4FDC-A671-650319787E07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 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Foglio1!$D$2:$D$7</c:f>
              <c:numCache>
                <c:formatCode>General</c:formatCode>
                <c:ptCount val="6"/>
                <c:pt idx="0">
                  <c:v>3.89</c:v>
                </c:pt>
                <c:pt idx="1">
                  <c:v>3.32</c:v>
                </c:pt>
                <c:pt idx="2">
                  <c:v>3.14</c:v>
                </c:pt>
                <c:pt idx="3">
                  <c:v>0.92</c:v>
                </c:pt>
                <c:pt idx="4">
                  <c:v>0.5</c:v>
                </c:pt>
                <c:pt idx="5">
                  <c:v>2.46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CAA-4FDC-A671-650319787E07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 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Foglio1!$E$2:$E$7</c:f>
              <c:numCache>
                <c:formatCode>General</c:formatCode>
                <c:ptCount val="6"/>
                <c:pt idx="0">
                  <c:v>3.81</c:v>
                </c:pt>
                <c:pt idx="1">
                  <c:v>3.5</c:v>
                </c:pt>
                <c:pt idx="2">
                  <c:v>3.61</c:v>
                </c:pt>
                <c:pt idx="3">
                  <c:v>1.37</c:v>
                </c:pt>
                <c:pt idx="4">
                  <c:v>0.86</c:v>
                </c:pt>
                <c:pt idx="5">
                  <c:v>3.03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AA-4FDC-A671-650319787E07}"/>
            </c:ext>
          </c:extLst>
        </c:ser>
        <c:ser>
          <c:idx val="4"/>
          <c:order val="4"/>
          <c:tx>
            <c:strRef>
              <c:f>Foglio1!$F$1</c:f>
              <c:strCache>
                <c:ptCount val="1"/>
                <c:pt idx="0">
                  <c:v>N 1024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 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Foglio1!$F$2:$F$7</c:f>
              <c:numCache>
                <c:formatCode>General</c:formatCode>
                <c:ptCount val="6"/>
                <c:pt idx="0">
                  <c:v>1.34</c:v>
                </c:pt>
                <c:pt idx="1">
                  <c:v>1.4</c:v>
                </c:pt>
                <c:pt idx="2">
                  <c:v>1.39</c:v>
                </c:pt>
                <c:pt idx="3">
                  <c:v>1.23</c:v>
                </c:pt>
                <c:pt idx="4">
                  <c:v>1.1399999999999999</c:v>
                </c:pt>
                <c:pt idx="5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A8-47B9-A211-EFBD2DF4B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5103296"/>
        <c:axId val="351644896"/>
      </c:lineChart>
      <c:catAx>
        <c:axId val="45510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51644896"/>
        <c:crosses val="autoZero"/>
        <c:auto val="1"/>
        <c:lblAlgn val="ctr"/>
        <c:lblOffset val="100"/>
        <c:noMultiLvlLbl val="0"/>
      </c:catAx>
      <c:valAx>
        <c:axId val="35164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5510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Efficienza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N 64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Foglio1!$B$2:$B$7</c:f>
              <c:numCache>
                <c:formatCode>General</c:formatCode>
                <c:ptCount val="6"/>
                <c:pt idx="0">
                  <c:v>0.15</c:v>
                </c:pt>
                <c:pt idx="1">
                  <c:v>0.1</c:v>
                </c:pt>
                <c:pt idx="2">
                  <c:v>0.09</c:v>
                </c:pt>
                <c:pt idx="3">
                  <c:v>0.02</c:v>
                </c:pt>
                <c:pt idx="4">
                  <c:v>0.01</c:v>
                </c:pt>
                <c:pt idx="5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C1-4021-B188-E4846228A6D7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 128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Foglio1!$C$2:$C$7</c:f>
              <c:numCache>
                <c:formatCode>General</c:formatCode>
                <c:ptCount val="6"/>
                <c:pt idx="0">
                  <c:v>0.26</c:v>
                </c:pt>
                <c:pt idx="1">
                  <c:v>0.19</c:v>
                </c:pt>
                <c:pt idx="2">
                  <c:v>0.22</c:v>
                </c:pt>
                <c:pt idx="3">
                  <c:v>0.05</c:v>
                </c:pt>
                <c:pt idx="4">
                  <c:v>0.03</c:v>
                </c:pt>
                <c:pt idx="5">
                  <c:v>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C1-4021-B188-E4846228A6D7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N 256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Foglio1!$D$2:$D$7</c:f>
              <c:numCache>
                <c:formatCode>General</c:formatCode>
                <c:ptCount val="6"/>
                <c:pt idx="0">
                  <c:v>0.65</c:v>
                </c:pt>
                <c:pt idx="1">
                  <c:v>0.55000000000000004</c:v>
                </c:pt>
                <c:pt idx="2">
                  <c:v>0.52</c:v>
                </c:pt>
                <c:pt idx="3">
                  <c:v>0.15</c:v>
                </c:pt>
                <c:pt idx="4">
                  <c:v>0.08</c:v>
                </c:pt>
                <c:pt idx="5">
                  <c:v>0.41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C1-4021-B188-E4846228A6D7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N 512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Foglio1!$E$2:$E$7</c:f>
              <c:numCache>
                <c:formatCode>General</c:formatCode>
                <c:ptCount val="6"/>
                <c:pt idx="0">
                  <c:v>0.63</c:v>
                </c:pt>
                <c:pt idx="1">
                  <c:v>0.57999999999999996</c:v>
                </c:pt>
                <c:pt idx="2">
                  <c:v>0.6</c:v>
                </c:pt>
                <c:pt idx="3">
                  <c:v>0.23</c:v>
                </c:pt>
                <c:pt idx="4">
                  <c:v>0.14000000000000001</c:v>
                </c:pt>
                <c:pt idx="5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C1-4021-B188-E4846228A6D7}"/>
            </c:ext>
          </c:extLst>
        </c:ser>
        <c:ser>
          <c:idx val="4"/>
          <c:order val="4"/>
          <c:tx>
            <c:strRef>
              <c:f>Foglio1!$F$1</c:f>
              <c:strCache>
                <c:ptCount val="1"/>
                <c:pt idx="0">
                  <c:v>N 1024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Foglio1!$A$2:$A$7</c:f>
              <c:strCache>
                <c:ptCount val="6"/>
                <c:pt idx="0">
                  <c:v>6P MPI</c:v>
                </c:pt>
                <c:pt idx="1">
                  <c:v>6P x 1T</c:v>
                </c:pt>
                <c:pt idx="2">
                  <c:v>3P x 2T</c:v>
                </c:pt>
                <c:pt idx="3">
                  <c:v>2P x 3T</c:v>
                </c:pt>
                <c:pt idx="4">
                  <c:v>1P x 6T</c:v>
                </c:pt>
                <c:pt idx="5">
                  <c:v>6T OMP puro</c:v>
                </c:pt>
              </c:strCache>
            </c:strRef>
          </c:cat>
          <c:val>
            <c:numRef>
              <c:f>Foglio1!$F$2:$F$7</c:f>
              <c:numCache>
                <c:formatCode>General</c:formatCode>
                <c:ptCount val="6"/>
                <c:pt idx="0">
                  <c:v>0.22</c:v>
                </c:pt>
                <c:pt idx="1">
                  <c:v>0.23</c:v>
                </c:pt>
                <c:pt idx="2">
                  <c:v>0.23</c:v>
                </c:pt>
                <c:pt idx="3">
                  <c:v>0.2</c:v>
                </c:pt>
                <c:pt idx="4">
                  <c:v>0.19</c:v>
                </c:pt>
                <c:pt idx="5">
                  <c:v>0.23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CA-422D-8E08-3FB0D2F97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11376"/>
        <c:axId val="2099601759"/>
      </c:lineChart>
      <c:catAx>
        <c:axId val="18111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099601759"/>
        <c:crosses val="autoZero"/>
        <c:auto val="1"/>
        <c:lblAlgn val="ctr"/>
        <c:lblOffset val="100"/>
        <c:noMultiLvlLbl val="0"/>
      </c:catAx>
      <c:valAx>
        <c:axId val="209960175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11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FD5F304-DC12-D4A8-51C3-B9E0003266C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CD04EC8-A71D-908E-F4D8-BC63EF1B30C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345BF391-7E6E-4620-98FD-023CDA366473}" type="datetime1">
              <a:rPr lang="it-IT"/>
              <a:pPr lvl="0"/>
              <a:t>12/07/2026</a:t>
            </a:fld>
            <a:endParaRPr lang="it-IT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DD8C2011-6F45-ABD3-A184-06D6BBFBC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BF2C5360-EC2A-4BE4-B733-8F784911D01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DD83F7-AFD9-69C4-F4E7-E1159A3BFAF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C107DE-6ED6-8E78-4F3B-D4AC4F9742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it-IT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F8E85A9-1D11-4CA2-93D1-7F51BDFAA9B0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234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it-IT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671C149-41E3-9E10-9DFC-41A88BF72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D6A1B5-99AB-D0AE-1D12-54639B7640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AC1C25-44FC-B1CC-4798-51949EA2E14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761E351-D3CA-45FD-BB1A-67D5D6C020F8}" type="slidenum">
              <a:t>3</a:t>
            </a:fld>
            <a:endParaRPr lang="it-IT" sz="12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4F33831-7FED-FB65-2E8D-1664B123C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D96929-5236-3E5C-3E06-897DB3BD77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407EAF-AFE8-C37D-3A31-579F9A4AFB7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0D8501A-DB08-4F3A-B64F-B6EE730CFE4E}" type="slidenum">
              <a:t>4</a:t>
            </a:fld>
            <a:endParaRPr lang="it-IT" sz="12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F8E85A9-1D11-4CA2-93D1-7F51BDFAA9B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1300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F8E85A9-1D11-4CA2-93D1-7F51BDFAA9B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486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F8E85A9-1D11-4CA2-93D1-7F51BDFAA9B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3813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F8E85A9-1D11-4CA2-93D1-7F51BDFAA9B0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0748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F8E85A9-1D11-4CA2-93D1-7F51BDFAA9B0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2480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DF8E85A9-1D11-4CA2-93D1-7F51BDFAA9B0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766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8E1E-A05F-5DD7-697E-A2191A10120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40080" y="1371600"/>
            <a:ext cx="6675120" cy="2951829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402F6-1E53-79FC-AA3E-EEF14FE4F5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0080" y="4584874"/>
            <a:ext cx="6675120" cy="1287886"/>
          </a:xfrm>
        </p:spPr>
        <p:txBody>
          <a:bodyPr anchor="b"/>
          <a:lstStyle>
            <a:lvl1pPr marL="0" indent="0">
              <a:lnSpc>
                <a:spcPct val="130000"/>
              </a:lnSpc>
              <a:buNone/>
              <a:defRPr sz="1800" b="1" cap="all" spc="3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D3A4-39F3-6E5D-D982-D981481861D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CAB46A-6DD9-4F62-ABE0-FC90F728C7BD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50B3-5D2B-4556-C9E3-62810B9A7FD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0FB4D-0FAF-0D88-8449-634264DF08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D1D701-E0DA-47E7-AE05-D4E81710CCC8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789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7854-007B-F30C-587D-3208ACA4B7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CE00-00A5-86FC-948B-FC2F569CA0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68B19-6079-D1DA-CC5C-7B48D39D18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B338F0-B854-43AE-9608-61F80A23B07E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54788-D612-8CED-4B8B-F3DC15B911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EF10-05C0-1527-A71D-C4015F6C8C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DD340A-BED0-4C8D-ADCE-4D8330FA3318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21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F2E2230-E277-4A56-A5B8-1864A161682D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F755F9-1EAC-67F2-7318-30ACBA82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291370"/>
            <a:ext cx="9214884" cy="3159974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C85201F-8730-1EB2-5957-4AE41A58F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0080" y="5018565"/>
            <a:ext cx="7907081" cy="107388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A72495-7A31-FB4E-70FF-35120905D09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93E276-F7A9-4844-8194-3164C7EFB60D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ADCB569-0602-BA13-F47C-882939EDE7F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3C7C61-A96A-4F50-B7D4-0F71149543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596049-FA60-4EA9-BEE1-079A3F4065C5}" type="slidenum">
              <a:t>‹N›</a:t>
            </a:fld>
            <a:endParaRPr lang="en-US"/>
          </a:p>
        </p:txBody>
      </p: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A14CEA97-11DB-E232-375E-B9506404D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6276" y="4715231"/>
            <a:ext cx="978866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89354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18D4-DB96-DEB6-99D7-8A9947E0B52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E91BB-E403-6EB0-FF50-BE2517C6DC1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0080" y="2633472"/>
            <a:ext cx="5212080" cy="35661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24F30-953C-BB1B-2923-ED493A0F227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318924" y="2633472"/>
            <a:ext cx="5212080" cy="35661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E9E5F-E380-D58B-19A5-4A2AF1A7B9D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EB2D0A-4E10-4794-ADEA-97748A83AB24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62D3E-A740-5D35-D228-7D60A31E65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E94B3-E737-4429-18B8-DC47B2540D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E14826-9D53-4503-B7BA-9E905D98A6A9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3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D44E-AC61-408C-FE32-FF0FFB6204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10890924" cy="9397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54060-7042-A891-855A-674324F0D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0080" y="2311356"/>
            <a:ext cx="5212080" cy="695373"/>
          </a:xfrm>
        </p:spPr>
        <p:txBody>
          <a:bodyPr anchor="b"/>
          <a:lstStyle>
            <a:lvl1pPr marL="0" indent="0">
              <a:buNone/>
              <a:defRPr sz="1800" b="1" cap="all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0C96-3FC1-E36F-23A0-9D210754DE9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40080" y="3006720"/>
            <a:ext cx="5212080" cy="319125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48FD6-4CAE-C640-8862-019A1821641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318924" y="2311356"/>
            <a:ext cx="5212080" cy="695373"/>
          </a:xfrm>
        </p:spPr>
        <p:txBody>
          <a:bodyPr anchor="b"/>
          <a:lstStyle>
            <a:lvl1pPr marL="0" indent="0">
              <a:buNone/>
              <a:defRPr sz="1800" b="1" cap="all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A119D-E12F-8859-CD2A-1BBDED9A2D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318924" y="3006720"/>
            <a:ext cx="5212080" cy="319125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2FB1C-948E-16FC-30C6-321D5A86C1E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0503B2-A64A-4185-816F-E5138D67B637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B6FBF-CC0D-5AD6-C5D7-E2EFAD48F4E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33E7E9-23F4-1C80-C96F-43D998A6B6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DB242E-E84B-412B-A59A-955B9853A614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9474-98C0-50CE-71B1-C878FADA3DE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60EB5-2FB0-B130-DB15-6840F4DF4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BFD29E-4622-48D4-BC35-30ADB7E99029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C2154-04FA-855A-0AD4-24E648A519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B824F-23E2-520A-DE54-7401E4DE55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53DF92-02FB-4AD2-8B20-13FAE105E26A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53B90D2-AFAF-0DBB-706C-7769C770398A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E0256B8-E41F-1B65-99E2-0C2D9E0CDC7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68017F-0127-4BE8-A92F-7CA6D920EA84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6133EF3-8209-509B-B1A9-A00F958AB5B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493F70F-F350-558E-D486-087255FC9B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B8B9F-35C5-4A68-BDA4-6A6668A28501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2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4AEE-0D14-3A7E-9914-CCFC362BE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3859398" cy="1451719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6F8D6-56D9-948D-E4D7-2F93513F80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36516" y="1031004"/>
            <a:ext cx="6594488" cy="516635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CEFEB-0B24-F688-B37D-AF6AD362C16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40080" y="2972165"/>
            <a:ext cx="3859398" cy="3226826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3F7E0-B488-10BC-07DB-FEDF669270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AC66ADE-EAF2-4E0D-AB93-F35B2645C19A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8425B-1411-4F78-D92F-44C0C9A95FF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228D5-B3F9-3D93-C887-6611498C8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37991E-FB36-4A7B-A351-D9504B9B2D26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7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E4F1-F802-0F8D-8289-C175016D17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3859398" cy="1451719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D0501-4C57-BE47-FE07-5CDCEDDC4D2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937760" y="1033272"/>
            <a:ext cx="6592824" cy="5166359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A70F4-0655-AC1A-5F68-6926FF51AA7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40080" y="2972165"/>
            <a:ext cx="3859398" cy="3226826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67DFF-DF0C-DE7C-D9BD-9D52BCEC98A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9BCB41-B51A-4811-BCAB-ED3D313D0567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701FD-7512-7B89-6688-82AB4E8C3E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661D5-0F37-0188-A43E-84537491E48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185BC8-9663-4640-8F71-4543BC393B00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756D-F3B5-748C-0939-AC922EC853D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7E810-1537-D698-1299-4DEF8A4BB7F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CAA9-A411-81D6-A62E-0D13FC8C748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A8780D-DC3D-49DD-80BA-AF37FC030400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263A3-9FB6-9A75-B2AC-AA53E4D6A15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6464-9F98-1B21-2101-534E86595E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D984466-FA15-43CB-AE6D-4D69DDB631C5}" type="slidenum"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5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77266678-F30E-07F2-920F-53D76500685A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Vertical Title 1">
            <a:extLst>
              <a:ext uri="{FF2B5EF4-FFF2-40B4-BE49-F238E27FC236}">
                <a16:creationId xmlns:a16="http://schemas.microsoft.com/office/drawing/2014/main" id="{18036DFE-53E7-70C8-4896-C95BD26EB844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9209215" y="640080"/>
            <a:ext cx="1811773" cy="553688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5F95A118-A0E7-D4D2-8182-A56ED99E59A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5" cy="553688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7EE4BD-BBF9-1436-990D-2217A3020B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4CF83D-396D-4087-A7AC-2608151ECF00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E849338-C2D6-8407-8E4E-D691CE6F2C7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9BBB22-08A0-22BE-D0D1-F62C34856A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351D8B-7ADE-4FC0-99A7-58577B95DC9C}" type="slidenum">
              <a:t>‹N›</a:t>
            </a:fld>
            <a:endParaRPr lang="en-US"/>
          </a:p>
        </p:txBody>
      </p: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A87DA102-F641-EB77-9948-8ADA4644D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5400013">
            <a:off x="10872151" y="1192441"/>
            <a:ext cx="978866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417594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37AC1-8440-D728-05D7-61A7564CB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10890924" cy="1097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A0D1E-B902-0F7E-C6F8-4FE3778DA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0080" y="2633472"/>
            <a:ext cx="10890924" cy="3566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8CF2-FFE6-36F9-7020-F06ABE00D02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40080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1" i="0" u="none" strike="noStrike" kern="1200" cap="all" spc="300" baseline="0">
                <a:solidFill>
                  <a:srgbClr val="000000"/>
                </a:solidFill>
                <a:uFillTx/>
                <a:latin typeface="Grandview Display"/>
              </a:defRPr>
            </a:lvl1pPr>
          </a:lstStyle>
          <a:p>
            <a:pPr lvl="0"/>
            <a:fld id="{CCE64167-1427-45D0-A173-8E84E9565017}" type="datetime1">
              <a:rPr lang="en-US"/>
              <a:pPr lvl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C12E7-92FF-79F3-A0E3-055E3D74004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6767620" y="6356351"/>
            <a:ext cx="404037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1" i="0" u="none" strike="noStrike" kern="1200" cap="all" spc="300" baseline="0">
                <a:solidFill>
                  <a:srgbClr val="000000"/>
                </a:solidFill>
                <a:uFillTx/>
                <a:latin typeface="Grandview Display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06C81-6671-F98A-4CEB-06F645AF09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807997" y="6356351"/>
            <a:ext cx="72301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1" i="0" u="none" strike="noStrike" kern="1200" cap="all" spc="300" baseline="0">
                <a:solidFill>
                  <a:srgbClr val="000000"/>
                </a:solidFill>
                <a:uFillTx/>
                <a:latin typeface="Grandview Display"/>
              </a:defRPr>
            </a:lvl1pPr>
          </a:lstStyle>
          <a:p>
            <a:pPr lvl="0"/>
            <a:fld id="{75831271-C9A9-478D-8814-89D844B950B5}" type="slidenum">
              <a:t>‹N›</a:t>
            </a:fld>
            <a:endParaRPr lang="en-US"/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237754E6-2D02-BD27-6F7A-292255E4A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3232" y="1031004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000" b="1" i="0" u="none" strike="noStrike" kern="1200" cap="none" spc="0" baseline="0">
          <a:solidFill>
            <a:srgbClr val="000000"/>
          </a:solidFill>
          <a:uFillTx/>
          <a:latin typeface="Grandview Display"/>
        </a:defRPr>
      </a:lvl1pPr>
    </p:titleStyle>
    <p:bodyStyle>
      <a:lvl1pPr marL="228600" marR="0" lvl="0" indent="-228600" algn="l" defTabSz="914400" rtl="0" fontAlgn="auto" hangingPunct="1">
        <a:lnSpc>
          <a:spcPct val="120000"/>
        </a:lnSpc>
        <a:spcBef>
          <a:spcPts val="1000"/>
        </a:spcBef>
        <a:spcAft>
          <a:spcPts val="0"/>
        </a:spcAft>
        <a:buSzPct val="87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Grandview Display"/>
        </a:defRPr>
      </a:lvl1pPr>
      <a:lvl2pPr marL="493776" marR="0" lvl="1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87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Grandview Display"/>
        </a:defRPr>
      </a:lvl2pPr>
      <a:lvl3pPr marL="731520" marR="0" lvl="2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87000"/>
        <a:buFont typeface="Arial" pitchFamily="34"/>
        <a:buChar char="•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Grandview Display"/>
        </a:defRPr>
      </a:lvl3pPr>
      <a:lvl4pPr marL="1051560" marR="0" lvl="3" indent="-28575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87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Grandview Display"/>
        </a:defRPr>
      </a:lvl4pPr>
      <a:lvl5pPr marL="1298448" marR="0" lvl="4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87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Grandview Display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>
            <a:extLst>
              <a:ext uri="{FF2B5EF4-FFF2-40B4-BE49-F238E27FC236}">
                <a16:creationId xmlns:a16="http://schemas.microsoft.com/office/drawing/2014/main" id="{45A4658C-D57B-BA92-4666-21A85E77B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 dirty="0">
              <a:solidFill>
                <a:srgbClr val="FFFFFF"/>
              </a:solidFill>
              <a:uFillTx/>
              <a:latin typeface="Grandview Display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13F1CD9-C69F-53C0-A91F-E7F06CD4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51" r="9091" b="28413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tangle 33">
            <a:extLst>
              <a:ext uri="{FF2B5EF4-FFF2-40B4-BE49-F238E27FC236}">
                <a16:creationId xmlns:a16="http://schemas.microsoft.com/office/drawing/2014/main" id="{CB8B7AC9-9F77-410D-0744-F31B0A6A1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5400013">
            <a:off x="-173179" y="173178"/>
            <a:ext cx="6858000" cy="651164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1700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 dirty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C5FBAED7-8105-083A-C09C-BA1D1DFB11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7190" y="701966"/>
            <a:ext cx="5370947" cy="3640299"/>
          </a:xfrm>
        </p:spPr>
        <p:txBody>
          <a:bodyPr/>
          <a:lstStyle/>
          <a:p>
            <a:pPr lvl="0"/>
            <a:r>
              <a:rPr lang="it-IT" sz="6000" dirty="0">
                <a:solidFill>
                  <a:srgbClr val="FFFFFF"/>
                </a:solidFill>
              </a:rPr>
              <a:t>Simulazione della Diffusione del Calore 2D 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DEA79D2B-AE31-C718-ADF2-54354400AC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8090" y="5253054"/>
            <a:ext cx="3888421" cy="969264"/>
          </a:xfrm>
        </p:spPr>
        <p:txBody>
          <a:bodyPr anchor="t"/>
          <a:lstStyle/>
          <a:p>
            <a:pPr lvl="0">
              <a:lnSpc>
                <a:spcPct val="120000"/>
              </a:lnSpc>
            </a:pPr>
            <a:r>
              <a:rPr lang="it-IT" sz="1400" dirty="0">
                <a:solidFill>
                  <a:srgbClr val="FFFFFF"/>
                </a:solidFill>
              </a:rPr>
              <a:t>Progetto di Principi della Programmazione Parallela</a:t>
            </a:r>
          </a:p>
          <a:p>
            <a:pPr lvl="0">
              <a:lnSpc>
                <a:spcPct val="120000"/>
              </a:lnSpc>
            </a:pPr>
            <a:r>
              <a:rPr lang="it-IT" sz="1400" dirty="0">
                <a:solidFill>
                  <a:srgbClr val="FFFFFF"/>
                </a:solidFill>
              </a:rPr>
              <a:t>Proff. Sciacca e Vitello</a:t>
            </a:r>
          </a:p>
        </p:txBody>
      </p:sp>
      <p:cxnSp>
        <p:nvCxnSpPr>
          <p:cNvPr id="7" name="Straight Connector 35">
            <a:extLst>
              <a:ext uri="{FF2B5EF4-FFF2-40B4-BE49-F238E27FC236}">
                <a16:creationId xmlns:a16="http://schemas.microsoft.com/office/drawing/2014/main" id="{6253D43F-58E3-FD2B-DBF5-AAC52B785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540328" y="4861206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FAC486-3969-4E6E-C1C8-8D0A4050C26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t-IT" sz="3200" dirty="0"/>
              <a:t>Equazione del Calore 2D </a:t>
            </a:r>
            <a:br>
              <a:rPr lang="it-IT" sz="3200" dirty="0"/>
            </a:b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A3D2EA2-022E-A1B6-ACCC-2FF28B82A25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it-IT" dirty="0"/>
                  <a:t>L’idea di questo progetto è quello di simulare la diffusione del calore su una griglia N x N sottoposta a diverse fonti di calore che provengono dai lati della griglia a diverse temperature. </a:t>
                </a:r>
              </a:p>
              <a:p>
                <a:pPr lvl="0"/>
                <a:r>
                  <a:rPr lang="it-IT" dirty="0"/>
                  <a:t>Il calcolo del calore per ogni punto è dato dalla seguente equazione:</a:t>
                </a:r>
              </a:p>
              <a:p>
                <a:pPr marL="0" lvl="0" indent="0">
                  <a:buNone/>
                </a:pPr>
                <a:endParaRPr lang="it-IT" i="1" dirty="0">
                  <a:latin typeface="Cambria Math" pitchFamily="18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>
                        <m:fPr>
                          <m:type m:val="li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A3D2EA2-022E-A1B6-ACCC-2FF28B82A25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 r="-4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AC448C-2EF1-E7BA-8D18-3C24267D4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531" y="171450"/>
            <a:ext cx="10890924" cy="1097280"/>
          </a:xfrm>
        </p:spPr>
        <p:txBody>
          <a:bodyPr/>
          <a:lstStyle/>
          <a:p>
            <a:pPr lvl="0"/>
            <a:r>
              <a:rPr lang="it-IT" dirty="0"/>
              <a:t>Equazione del calore 2D</a:t>
            </a:r>
          </a:p>
        </p:txBody>
      </p:sp>
      <p:pic>
        <p:nvPicPr>
          <p:cNvPr id="3" name="Immagine 4">
            <a:extLst>
              <a:ext uri="{FF2B5EF4-FFF2-40B4-BE49-F238E27FC236}">
                <a16:creationId xmlns:a16="http://schemas.microsoft.com/office/drawing/2014/main" id="{0B678F58-BEBD-2281-300A-944489C5E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31" y="1154430"/>
            <a:ext cx="10779468" cy="560071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1CA7EE3-E58C-6FAF-7A88-B65E8D381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 dirty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D247F251-46FD-00B6-B3B0-92C20AFA32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5737860" cy="1097280"/>
          </a:xfrm>
        </p:spPr>
        <p:txBody>
          <a:bodyPr/>
          <a:lstStyle/>
          <a:p>
            <a:pPr lvl="0"/>
            <a:r>
              <a:rPr lang="it-IT" dirty="0"/>
              <a:t>Equazione del calore 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BD464422-580D-3CDD-0AB9-3E8A3C7FA1EF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640080" y="2633234"/>
                <a:ext cx="5737860" cy="3666981"/>
              </a:xfrm>
            </p:spPr>
            <p:txBody>
              <a:bodyPr/>
              <a:lstStyle/>
              <a:p>
                <a:pPr lvl="0">
                  <a:lnSpc>
                    <a:spcPct val="110000"/>
                  </a:lnSpc>
                </a:pPr>
                <a:r>
                  <a:rPr lang="it-IT" sz="1900" dirty="0"/>
                  <a:t>La complessità di una singola iterazione del do-while è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900" dirty="0"/>
                  <a:t> a causa dei due cicli for annidati. 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it-IT" sz="1900" dirty="0"/>
                  <a:t>Il do-while viene eseguito un numero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it-IT" sz="1900" dirty="0"/>
                  <a:t> di volte che cresce all’aumentare non solo di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900" dirty="0"/>
                  <a:t>ma anche in base al valore di convergenza impostato. Di fatto, ciò rende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900" dirty="0"/>
                  <a:t>un valore assolutamente non trascurabile che, dai dati raccolti sembra essere circa un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1900" dirty="0"/>
              </a:p>
              <a:p>
                <a:pPr lvl="0">
                  <a:lnSpc>
                    <a:spcPct val="110000"/>
                  </a:lnSpc>
                </a:pPr>
                <a:r>
                  <a:rPr lang="it-IT" sz="1900" dirty="0"/>
                  <a:t>Di fatto dunque la risoluzione ha un costo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lit/>
                          </m:rPr>
                          <a:rPr lang="it-IT">
                            <a:latin typeface="Cambria Math" panose="02040503050406030204" pitchFamily="18" charset="0"/>
                          </a:rPr>
                          <m:t>^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it-IT" sz="1900" dirty="0"/>
                  <a:t> che è circa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1900" dirty="0"/>
              </a:p>
              <a:p>
                <a:pPr lvl="0">
                  <a:lnSpc>
                    <a:spcPct val="110000"/>
                  </a:lnSpc>
                </a:pPr>
                <a:endParaRPr lang="it-IT" sz="1900" dirty="0"/>
              </a:p>
            </p:txBody>
          </p:sp>
        </mc:Choice>
        <mc:Fallback xmlns="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BD464422-580D-3CDD-0AB9-3E8A3C7FA1E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234"/>
                <a:ext cx="5737860" cy="3666981"/>
              </a:xfrm>
              <a:blipFill>
                <a:blip r:embed="rId3"/>
                <a:stretch>
                  <a:fillRect l="-425" t="-998" b="-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F32C8394-2663-8B79-96F7-9656E874A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713232" y="1031004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  <p:pic>
        <p:nvPicPr>
          <p:cNvPr id="6" name="Immagine 4">
            <a:extLst>
              <a:ext uri="{FF2B5EF4-FFF2-40B4-BE49-F238E27FC236}">
                <a16:creationId xmlns:a16="http://schemas.microsoft.com/office/drawing/2014/main" id="{8A25A3A0-DFA6-84CE-C423-C2EAA61E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1031004"/>
            <a:ext cx="5494016" cy="548028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D90661F3-5169-F132-5576-226FCE4C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 dirty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5781F44E-E62B-7DDC-80D2-114A278CD9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3144" y="1371600"/>
            <a:ext cx="5737860" cy="1097280"/>
          </a:xfrm>
        </p:spPr>
        <p:txBody>
          <a:bodyPr/>
          <a:lstStyle/>
          <a:p>
            <a:pPr lvl="0"/>
            <a:r>
              <a:rPr lang="it-IT" dirty="0"/>
              <a:t>Hardware di Test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90AC120-5871-FA03-4779-5764D82911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793144" y="2633234"/>
            <a:ext cx="5737860" cy="3666981"/>
          </a:xfrm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it-IT" sz="1400" b="1" dirty="0"/>
              <a:t>Processore:</a:t>
            </a:r>
            <a:r>
              <a:rPr lang="it-IT" sz="1400" dirty="0"/>
              <a:t> AMD Ryzen 5 5500U (Architettura Zen 2 / Lucienne, x86_64)</a:t>
            </a:r>
          </a:p>
          <a:p>
            <a:pPr lvl="0">
              <a:lnSpc>
                <a:spcPct val="110000"/>
              </a:lnSpc>
            </a:pPr>
            <a:r>
              <a:rPr lang="it-IT" sz="1400" b="1" dirty="0"/>
              <a:t>Topologia Core:</a:t>
            </a:r>
            <a:r>
              <a:rPr lang="it-IT" sz="1400" dirty="0"/>
              <a:t> 6 Core Fisici / 12 Core Logici (Thread per core: 2, SMT abilitato)</a:t>
            </a:r>
          </a:p>
          <a:p>
            <a:pPr lvl="0">
              <a:lnSpc>
                <a:spcPct val="110000"/>
              </a:lnSpc>
            </a:pPr>
            <a:r>
              <a:rPr lang="it-IT" sz="1400" b="1" dirty="0"/>
              <a:t>Frequenza di Clock:</a:t>
            </a:r>
            <a:r>
              <a:rPr lang="it-IT" sz="1400" dirty="0"/>
              <a:t> Base 2.10 GHz / Max Boost 4.05 GHz</a:t>
            </a:r>
          </a:p>
          <a:p>
            <a:pPr lvl="0">
              <a:lnSpc>
                <a:spcPct val="110000"/>
              </a:lnSpc>
            </a:pPr>
            <a:r>
              <a:rPr lang="it-IT" sz="1400" b="1" dirty="0"/>
              <a:t>Sottosistema di Cache:</a:t>
            </a:r>
            <a:endParaRPr lang="it-IT" sz="1400" dirty="0"/>
          </a:p>
          <a:p>
            <a:pPr lvl="1">
              <a:lnSpc>
                <a:spcPct val="110000"/>
              </a:lnSpc>
            </a:pPr>
            <a:r>
              <a:rPr lang="it-IT" sz="1400" b="1" dirty="0"/>
              <a:t>Cache L1d:</a:t>
            </a:r>
            <a:r>
              <a:rPr lang="it-IT" sz="1400" dirty="0"/>
              <a:t> 192 </a:t>
            </a:r>
            <a:r>
              <a:rPr lang="it-IT" sz="1400" dirty="0" err="1"/>
              <a:t>KiB</a:t>
            </a:r>
            <a:r>
              <a:rPr lang="it-IT" sz="1400" dirty="0"/>
              <a:t> totali </a:t>
            </a:r>
          </a:p>
          <a:p>
            <a:pPr lvl="1">
              <a:lnSpc>
                <a:spcPct val="110000"/>
              </a:lnSpc>
            </a:pPr>
            <a:r>
              <a:rPr lang="it-IT" sz="1400" b="1" dirty="0"/>
              <a:t>Cache L2:</a:t>
            </a:r>
            <a:r>
              <a:rPr lang="it-IT" sz="1400" dirty="0"/>
              <a:t> 3 </a:t>
            </a:r>
            <a:r>
              <a:rPr lang="it-IT" sz="1400" dirty="0" err="1"/>
              <a:t>MiB</a:t>
            </a:r>
            <a:r>
              <a:rPr lang="it-IT" sz="1400" dirty="0"/>
              <a:t> totali </a:t>
            </a:r>
          </a:p>
          <a:p>
            <a:pPr lvl="1">
              <a:lnSpc>
                <a:spcPct val="110000"/>
              </a:lnSpc>
            </a:pPr>
            <a:r>
              <a:rPr lang="it-IT" sz="1400" b="1" dirty="0"/>
              <a:t>Cache L3:</a:t>
            </a:r>
            <a:r>
              <a:rPr lang="it-IT" sz="1400" dirty="0"/>
              <a:t> </a:t>
            </a:r>
            <a:r>
              <a:rPr lang="it-IT" sz="1400" b="1" dirty="0"/>
              <a:t>8 </a:t>
            </a:r>
            <a:r>
              <a:rPr lang="it-IT" sz="1400" b="1" dirty="0" err="1"/>
              <a:t>MiB</a:t>
            </a:r>
            <a:r>
              <a:rPr lang="it-IT" sz="1400" b="1" dirty="0"/>
              <a:t> totali</a:t>
            </a:r>
          </a:p>
          <a:p>
            <a:pPr lvl="0">
              <a:lnSpc>
                <a:spcPct val="110000"/>
              </a:lnSpc>
            </a:pPr>
            <a:r>
              <a:rPr lang="it-IT" sz="1400" b="1" dirty="0"/>
              <a:t>Memoria RAM:</a:t>
            </a:r>
            <a:r>
              <a:rPr lang="it-IT" sz="1400" dirty="0"/>
              <a:t> 8 GB DDR4 (Memoria disponibile a sistema: ~5.8 GB unificati)</a:t>
            </a:r>
          </a:p>
          <a:p>
            <a:pPr lvl="0">
              <a:lnSpc>
                <a:spcPct val="110000"/>
              </a:lnSpc>
            </a:pPr>
            <a:endParaRPr lang="it-IT" sz="1400" dirty="0"/>
          </a:p>
        </p:txBody>
      </p:sp>
      <p:pic>
        <p:nvPicPr>
          <p:cNvPr id="4" name="Immagine 3" descr="Laptop - Free computer icons">
            <a:extLst>
              <a:ext uri="{FF2B5EF4-FFF2-40B4-BE49-F238E27FC236}">
                <a16:creationId xmlns:a16="http://schemas.microsoft.com/office/drawing/2014/main" id="{EF55B225-28F9-7619-E718-3F899662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56816"/>
            <a:ext cx="4343400" cy="434340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5" name="Straight Connector 18">
            <a:extLst>
              <a:ext uri="{FF2B5EF4-FFF2-40B4-BE49-F238E27FC236}">
                <a16:creationId xmlns:a16="http://schemas.microsoft.com/office/drawing/2014/main" id="{ACDE3FF2-512B-7B1F-69B9-3C6656A83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5866296" y="1031004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944F8663-AD2B-71DE-BB24-E6DB91A29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CB916E8E-B538-4ECD-8787-31BCA5695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5752097" cy="1097280"/>
          </a:xfrm>
        </p:spPr>
        <p:txBody>
          <a:bodyPr/>
          <a:lstStyle/>
          <a:p>
            <a:pPr lvl="0">
              <a:lnSpc>
                <a:spcPct val="90000"/>
              </a:lnSpc>
            </a:pPr>
            <a:r>
              <a:rPr lang="it-IT" sz="3400"/>
              <a:t>Codice Sequenziale – Inizializzazione </a:t>
            </a:r>
          </a:p>
        </p:txBody>
      </p:sp>
      <p:cxnSp>
        <p:nvCxnSpPr>
          <p:cNvPr id="4" name="Straight Connector 16">
            <a:extLst>
              <a:ext uri="{FF2B5EF4-FFF2-40B4-BE49-F238E27FC236}">
                <a16:creationId xmlns:a16="http://schemas.microsoft.com/office/drawing/2014/main" id="{4B4A4741-CD6F-F14C-2C75-2D89C853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713232" y="1031004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  <p:sp>
        <p:nvSpPr>
          <p:cNvPr id="5" name="CasellaDiTesto 9">
            <a:extLst>
              <a:ext uri="{FF2B5EF4-FFF2-40B4-BE49-F238E27FC236}">
                <a16:creationId xmlns:a16="http://schemas.microsoft.com/office/drawing/2014/main" id="{A4F720BC-BF1E-2762-F1AE-D8C4D0DD667A}"/>
              </a:ext>
            </a:extLst>
          </p:cNvPr>
          <p:cNvSpPr txBox="1"/>
          <p:nvPr/>
        </p:nvSpPr>
        <p:spPr>
          <a:xfrm>
            <a:off x="640070" y="2468880"/>
            <a:ext cx="5752097" cy="36617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87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7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rPr>
              <a:t> Per inizializzare la matrice, si avevano principalmente due scelte:</a:t>
            </a:r>
          </a:p>
          <a:p>
            <a:pPr marL="742950" marR="0" lvl="1" indent="-28575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87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700" b="1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rPr>
              <a:t>Inizializzazione con Calloc multipla: </a:t>
            </a:r>
            <a:r>
              <a:rPr lang="it-IT" sz="17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rPr>
              <a:t>chiamare più volte la calloc, genera più sequenze di memorie contigue ma che, tra di loro, non lo sono, rischiando di avere un maggior numero di cache miss.</a:t>
            </a:r>
          </a:p>
          <a:p>
            <a:pPr marL="742950" marR="0" lvl="1" indent="-28575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87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700" b="1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rPr>
              <a:t>Inizializzazione con Calloc singola: </a:t>
            </a:r>
            <a:r>
              <a:rPr lang="it-IT" sz="17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rPr>
              <a:t>utilizzare una singola calloc fa sì che otteniamo una sola sequenza di memoria contigua che siamo, però, costretti a gestire come una matrice attraverso l’aritmetica dei puntatori.</a:t>
            </a:r>
            <a:endParaRPr lang="it-IT" sz="1700" b="1" i="0" u="none" strike="noStrike" kern="1200" cap="none" spc="0" baseline="0">
              <a:solidFill>
                <a:srgbClr val="000000"/>
              </a:solidFill>
              <a:uFillTx/>
              <a:latin typeface="Grandview Display"/>
            </a:endParaRPr>
          </a:p>
        </p:txBody>
      </p:sp>
      <p:pic>
        <p:nvPicPr>
          <p:cNvPr id="6" name="Immagine 19">
            <a:extLst>
              <a:ext uri="{FF2B5EF4-FFF2-40B4-BE49-F238E27FC236}">
                <a16:creationId xmlns:a16="http://schemas.microsoft.com/office/drawing/2014/main" id="{713378E9-E6FF-EEDF-1950-B37DC265A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477" y="1752593"/>
            <a:ext cx="4929448" cy="1924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magine 21">
            <a:extLst>
              <a:ext uri="{FF2B5EF4-FFF2-40B4-BE49-F238E27FC236}">
                <a16:creationId xmlns:a16="http://schemas.microsoft.com/office/drawing/2014/main" id="{FF24AF6D-034E-8165-B5D2-9961271823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7" t="26947" r="1930" b="20209"/>
          <a:stretch>
            <a:fillRect/>
          </a:stretch>
        </p:blipFill>
        <p:spPr>
          <a:xfrm>
            <a:off x="4057650" y="5914531"/>
            <a:ext cx="8134346" cy="428625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8" name="Connettore 2 23">
            <a:extLst>
              <a:ext uri="{FF2B5EF4-FFF2-40B4-BE49-F238E27FC236}">
                <a16:creationId xmlns:a16="http://schemas.microsoft.com/office/drawing/2014/main" id="{45D98BFC-4BC3-9717-AF1D-C0DEA6B5E8E0}"/>
              </a:ext>
            </a:extLst>
          </p:cNvPr>
          <p:cNvCxnSpPr/>
          <p:nvPr/>
        </p:nvCxnSpPr>
        <p:spPr>
          <a:xfrm>
            <a:off x="6053584" y="5399678"/>
            <a:ext cx="677168" cy="456706"/>
          </a:xfrm>
          <a:prstGeom prst="straightConnector1">
            <a:avLst/>
          </a:prstGeom>
          <a:noFill/>
          <a:ln w="6345" cap="flat">
            <a:solidFill>
              <a:srgbClr val="FD0505"/>
            </a:solidFill>
            <a:prstDash val="solid"/>
            <a:miter/>
            <a:tailEnd type="arrow"/>
          </a:ln>
        </p:spPr>
      </p:cxnSp>
      <p:cxnSp>
        <p:nvCxnSpPr>
          <p:cNvPr id="9" name="Connettore 2 25">
            <a:extLst>
              <a:ext uri="{FF2B5EF4-FFF2-40B4-BE49-F238E27FC236}">
                <a16:creationId xmlns:a16="http://schemas.microsoft.com/office/drawing/2014/main" id="{60CE1441-FF5F-E5CA-CD04-09FCE4A3AE57}"/>
              </a:ext>
            </a:extLst>
          </p:cNvPr>
          <p:cNvCxnSpPr/>
          <p:nvPr/>
        </p:nvCxnSpPr>
        <p:spPr>
          <a:xfrm flipV="1">
            <a:off x="6060496" y="3297362"/>
            <a:ext cx="561981" cy="485775"/>
          </a:xfrm>
          <a:prstGeom prst="straightConnector1">
            <a:avLst/>
          </a:prstGeom>
          <a:noFill/>
          <a:ln w="6345" cap="flat">
            <a:solidFill>
              <a:srgbClr val="FF0000"/>
            </a:solidFill>
            <a:prstDash val="solid"/>
            <a:miter/>
            <a:tailEnd type="arrow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6">
            <a:extLst>
              <a:ext uri="{FF2B5EF4-FFF2-40B4-BE49-F238E27FC236}">
                <a16:creationId xmlns:a16="http://schemas.microsoft.com/office/drawing/2014/main" id="{AD6A9582-B99B-9961-F23E-15048402B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713232" y="1031004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  <p:sp>
        <p:nvSpPr>
          <p:cNvPr id="3" name="Rectangle 28">
            <a:extLst>
              <a:ext uri="{FF2B5EF4-FFF2-40B4-BE49-F238E27FC236}">
                <a16:creationId xmlns:a16="http://schemas.microsoft.com/office/drawing/2014/main" id="{EB4964EA-2F1C-8554-BB67-41F919357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D3B14F1A-AE47-96E9-46A8-1753BF636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2572" y="1171145"/>
            <a:ext cx="10168109" cy="955511"/>
          </a:xfrm>
        </p:spPr>
        <p:txBody>
          <a:bodyPr anchorCtr="1"/>
          <a:lstStyle/>
          <a:p>
            <a:pPr lvl="0" algn="ctr"/>
            <a:r>
              <a:rPr lang="en-US" sz="4800"/>
              <a:t>Codice sequenziale – Inizializzazione</a:t>
            </a:r>
          </a:p>
        </p:txBody>
      </p:sp>
      <p:pic>
        <p:nvPicPr>
          <p:cNvPr id="7" name="Segnaposto contenuto 14">
            <a:extLst>
              <a:ext uri="{FF2B5EF4-FFF2-40B4-BE49-F238E27FC236}">
                <a16:creationId xmlns:a16="http://schemas.microsoft.com/office/drawing/2014/main" id="{0292EFF8-4FA1-70F6-F391-BA6B1279D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232" y="2829427"/>
            <a:ext cx="5497180" cy="1662900"/>
          </a:xfrm>
        </p:spPr>
      </p:pic>
      <p:cxnSp>
        <p:nvCxnSpPr>
          <p:cNvPr id="5" name="Straight Connector 30">
            <a:extLst>
              <a:ext uri="{FF2B5EF4-FFF2-40B4-BE49-F238E27FC236}">
                <a16:creationId xmlns:a16="http://schemas.microsoft.com/office/drawing/2014/main" id="{681B5981-0C85-F4D8-89AB-50AD2F3FB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992572" y="914400"/>
            <a:ext cx="10208828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  <p:pic>
        <p:nvPicPr>
          <p:cNvPr id="6" name="Immagine 10">
            <a:extLst>
              <a:ext uri="{FF2B5EF4-FFF2-40B4-BE49-F238E27FC236}">
                <a16:creationId xmlns:a16="http://schemas.microsoft.com/office/drawing/2014/main" id="{79DF628D-778A-1C99-7016-8FF69650C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00" y="2842531"/>
            <a:ext cx="4504572" cy="32996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magine 16">
            <a:extLst>
              <a:ext uri="{FF2B5EF4-FFF2-40B4-BE49-F238E27FC236}">
                <a16:creationId xmlns:a16="http://schemas.microsoft.com/office/drawing/2014/main" id="{44074279-E68C-46AF-3B6F-C707D6413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731343"/>
            <a:ext cx="5582128" cy="103889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>
            <a:extLst>
              <a:ext uri="{FF2B5EF4-FFF2-40B4-BE49-F238E27FC236}">
                <a16:creationId xmlns:a16="http://schemas.microsoft.com/office/drawing/2014/main" id="{1ECE44B2-0531-C49F-9642-A6D061DD6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randview Display"/>
            </a:endParaRP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68C60361-B12E-7645-60B3-1E30E2043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080" y="914400"/>
            <a:ext cx="10847490" cy="1171072"/>
          </a:xfrm>
        </p:spPr>
        <p:txBody>
          <a:bodyPr/>
          <a:lstStyle/>
          <a:p>
            <a:pPr lvl="0"/>
            <a:r>
              <a:rPr lang="it-IT"/>
              <a:t>Codice sequenziale – Calcolo</a:t>
            </a:r>
          </a:p>
        </p:txBody>
      </p:sp>
      <p:sp>
        <p:nvSpPr>
          <p:cNvPr id="5" name="Segnaposto contenuto 6">
            <a:extLst>
              <a:ext uri="{FF2B5EF4-FFF2-40B4-BE49-F238E27FC236}">
                <a16:creationId xmlns:a16="http://schemas.microsoft.com/office/drawing/2014/main" id="{D5A1F5DD-D28A-D669-AE59-1485BE570D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915149" y="2256291"/>
            <a:ext cx="4563614" cy="3760460"/>
          </a:xfrm>
        </p:spPr>
        <p:txBody>
          <a:bodyPr/>
          <a:lstStyle/>
          <a:p>
            <a:pPr lvl="0"/>
            <a:r>
              <a:rPr lang="it-IT"/>
              <a:t>Il codice sequenziale, banalmente, ricalca alla perfezione quello che è lo pseudocodice visto precedentemente.</a:t>
            </a:r>
          </a:p>
        </p:txBody>
      </p:sp>
      <p:pic>
        <p:nvPicPr>
          <p:cNvPr id="4" name="Immagine 8">
            <a:extLst>
              <a:ext uri="{FF2B5EF4-FFF2-40B4-BE49-F238E27FC236}">
                <a16:creationId xmlns:a16="http://schemas.microsoft.com/office/drawing/2014/main" id="{F3FBECBC-2AE3-5176-B827-DE37CB5AE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7" y="1499936"/>
            <a:ext cx="6401943" cy="4657414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6" name="Straight Connector 25">
            <a:extLst>
              <a:ext uri="{FF2B5EF4-FFF2-40B4-BE49-F238E27FC236}">
                <a16:creationId xmlns:a16="http://schemas.microsoft.com/office/drawing/2014/main" id="{8A47BDFE-DFF4-5677-E6A3-FEE9244A4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672248" y="6272783"/>
            <a:ext cx="10847500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3C7B53-044B-5D21-F353-72BFB7AA585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pPr lvl="0"/>
            <a:r>
              <a:rPr lang="it-IT"/>
              <a:t>MPI– Topologia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C30C96-647A-C38B-E01A-D925D137F510}"/>
              </a:ext>
            </a:extLst>
          </p:cNvPr>
          <p:cNvSpPr txBox="1"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pPr lvl="0"/>
            <a:r>
              <a:rPr lang="it-IT" dirty="0"/>
              <a:t>La matrice viene divisa secondo un partizionamento orizzontale cercando di assegnare ad ogni processo un </a:t>
            </a:r>
            <a:r>
              <a:rPr lang="it-IT" b="1" dirty="0"/>
              <a:t>numero equo di righe da calcolare.</a:t>
            </a:r>
          </a:p>
          <a:p>
            <a:pPr lvl="0"/>
            <a:r>
              <a:rPr lang="it-IT" dirty="0"/>
              <a:t>Grazie all’uso di </a:t>
            </a:r>
            <a:r>
              <a:rPr lang="it-IT" b="1" dirty="0" err="1"/>
              <a:t>MPI_Cart_create</a:t>
            </a:r>
            <a:r>
              <a:rPr lang="it-IT" dirty="0"/>
              <a:t>, è possibile effettuare questo tipo di decomposizione molto facilmente gestendo facilmente l’identificazione e lo scambio di messaggi con i vicini tramite le </a:t>
            </a:r>
            <a:r>
              <a:rPr lang="it-IT" b="1" dirty="0"/>
              <a:t>righe di Halo</a:t>
            </a:r>
            <a:r>
              <a:rPr lang="it-IT" dirty="0"/>
              <a:t>.</a:t>
            </a:r>
          </a:p>
          <a:p>
            <a:pPr lvl="0"/>
            <a:endParaRPr lang="it-IT" dirty="0"/>
          </a:p>
        </p:txBody>
      </p:sp>
      <p:pic>
        <p:nvPicPr>
          <p:cNvPr id="4" name="Immagine 8">
            <a:extLst>
              <a:ext uri="{FF2B5EF4-FFF2-40B4-BE49-F238E27FC236}">
                <a16:creationId xmlns:a16="http://schemas.microsoft.com/office/drawing/2014/main" id="{09F0AFA6-40C3-1757-FE74-40DB197C9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560" y="1033272"/>
            <a:ext cx="5555224" cy="516635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64FD68-6942-C5F8-5C45-CFE66A53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MPI – </a:t>
            </a:r>
            <a:r>
              <a:rPr lang="en-GB" dirty="0"/>
              <a:t>Latency Hiding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577971-0454-FBAB-EE60-E5DAFC74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36533"/>
            <a:ext cx="4230303" cy="3794760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Una volta identificati i vicini tramite la </a:t>
            </a:r>
            <a:r>
              <a:rPr lang="it-IT" b="1" dirty="0" err="1"/>
              <a:t>MPI_Cart_shift</a:t>
            </a:r>
            <a:r>
              <a:rPr lang="it-IT" dirty="0"/>
              <a:t>, la prima cosa che facciamo dentro il do-while è proprio quella di inviare e ricevere gli </a:t>
            </a:r>
            <a:r>
              <a:rPr lang="it-IT" b="1" dirty="0"/>
              <a:t>Halo</a:t>
            </a:r>
            <a:r>
              <a:rPr lang="it-IT" dirty="0"/>
              <a:t> tramite chiamate </a:t>
            </a:r>
            <a:r>
              <a:rPr lang="it-IT" b="1" dirty="0"/>
              <a:t>asincrone</a:t>
            </a:r>
            <a:r>
              <a:rPr lang="it-IT" dirty="0"/>
              <a:t>, così ché, in attesa del completamento dello scambio, cominciamo ad effettuare i calcoli necessari, di fatto, riducendo l’impatto che ha la comunicazione sull’intero codice.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5F66DDA-677B-6F24-6BAE-504D29A3B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62"/>
          <a:stretch>
            <a:fillRect/>
          </a:stretch>
        </p:blipFill>
        <p:spPr>
          <a:xfrm>
            <a:off x="4671933" y="4235548"/>
            <a:ext cx="7520067" cy="2060043"/>
          </a:xfrm>
          <a:prstGeom prst="rect">
            <a:avLst/>
          </a:prstGeo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57A37A00-A936-EF65-DAA2-DE2500A61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896" y="2468880"/>
            <a:ext cx="5245769" cy="13450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37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B3887D-27D9-4BFD-7A9F-B5D2558F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it-IT" dirty="0"/>
              <a:t>MPI – Calcolo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BD9FCC-B365-05EA-BD18-8662E0C3EDA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r>
              <a:rPr lang="it-IT" dirty="0"/>
              <a:t>Il calcolo interno in questa versione viene fatto senza utilizzo di ulteriori Thread, lavorando esclusivamente in sequenziale. Tutte le righe vengono calcolate normalmente meno che la prima e l’ultima che verranno calcolate successivamente dopo che si è certi che si è ricevuto l’Halo dai vicini. 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A9EA59F-F723-4884-F9E8-1945C1BA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096" y="1785237"/>
            <a:ext cx="6592824" cy="30656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39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55ABAD-810C-43FF-372A-A9B3826ED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8" y="1121343"/>
            <a:ext cx="10890924" cy="1097280"/>
          </a:xfrm>
        </p:spPr>
        <p:txBody>
          <a:bodyPr wrap="square" anchor="t">
            <a:normAutofit/>
          </a:bodyPr>
          <a:lstStyle/>
          <a:p>
            <a:r>
              <a:rPr lang="it-IT" noProof="0" dirty="0"/>
              <a:t>MPI – Calcolo – </a:t>
            </a:r>
            <a:r>
              <a:rPr lang="it-IT" noProof="0" dirty="0" err="1"/>
              <a:t>Waitall</a:t>
            </a:r>
            <a:r>
              <a:rPr lang="it-IT" noProof="0" dirty="0"/>
              <a:t> </a:t>
            </a:r>
          </a:p>
        </p:txBody>
      </p:sp>
      <p:pic>
        <p:nvPicPr>
          <p:cNvPr id="6" name="Segnaposto immagine 5">
            <a:extLst>
              <a:ext uri="{FF2B5EF4-FFF2-40B4-BE49-F238E27FC236}">
                <a16:creationId xmlns:a16="http://schemas.microsoft.com/office/drawing/2014/main" id="{B98DB1A3-BABB-9AB8-4B86-7179945BE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1196"/>
          <a:stretch>
            <a:fillRect/>
          </a:stretch>
        </p:blipFill>
        <p:spPr>
          <a:xfrm>
            <a:off x="0" y="1810005"/>
            <a:ext cx="6915752" cy="4731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207C738-0CFB-1A4D-1C03-86076B30BC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151570" y="2633472"/>
            <a:ext cx="4379433" cy="3566160"/>
          </a:xfrm>
        </p:spPr>
        <p:txBody>
          <a:bodyPr wrap="square" anchor="t">
            <a:normAutofit/>
          </a:bodyPr>
          <a:lstStyle/>
          <a:p>
            <a:r>
              <a:rPr lang="it-IT" noProof="0" dirty="0"/>
              <a:t>A questo punto, una volta certi che abbiamo completato lo scambio con tutti i processi, possiamo calcolare le righe mancanti.</a:t>
            </a:r>
          </a:p>
        </p:txBody>
      </p:sp>
    </p:spTree>
    <p:extLst>
      <p:ext uri="{BB962C8B-B14F-4D97-AF65-F5344CB8AC3E}">
        <p14:creationId xmlns:p14="http://schemas.microsoft.com/office/powerpoint/2010/main" val="282664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3F1517-D17F-8AED-3B69-4D2098BE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it-IT" dirty="0"/>
              <a:t>MPI + </a:t>
            </a:r>
            <a:r>
              <a:rPr lang="it-IT" dirty="0" err="1"/>
              <a:t>OpenMP</a:t>
            </a:r>
            <a:endParaRPr lang="it-IT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3E85B865-F908-13A5-59CF-A5E925BC769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71"/>
          <a:stretch>
            <a:fillRect/>
          </a:stretch>
        </p:blipFill>
        <p:spPr>
          <a:xfrm>
            <a:off x="5973366" y="374650"/>
            <a:ext cx="5856081" cy="612534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561801-8511-4BD4-CC81-45BB87F5A1A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0080" y="2972165"/>
            <a:ext cx="4819160" cy="2613823"/>
          </a:xfrm>
        </p:spPr>
        <p:txBody>
          <a:bodyPr wrap="square" anchor="t">
            <a:normAutofit/>
          </a:bodyPr>
          <a:lstStyle/>
          <a:p>
            <a:r>
              <a:rPr lang="it-IT" b="1" dirty="0"/>
              <a:t>Macro-partizionamento (MPI):</a:t>
            </a:r>
            <a:r>
              <a:rPr lang="it-IT" dirty="0"/>
              <a:t> Suddivide il dominio 2D in strisce orizzontali e gestisce lo scambio asincrono degli Halo (Ghost </a:t>
            </a:r>
            <a:r>
              <a:rPr lang="it-IT" dirty="0" err="1"/>
              <a:t>Cells</a:t>
            </a:r>
            <a:r>
              <a:rPr lang="it-IT" dirty="0"/>
              <a:t>) tra i nodi.</a:t>
            </a:r>
          </a:p>
          <a:p>
            <a:r>
              <a:rPr lang="it-IT" b="1" dirty="0"/>
              <a:t>Micro-partizionamento (</a:t>
            </a:r>
            <a:r>
              <a:rPr lang="it-IT" b="1" dirty="0" err="1"/>
              <a:t>OpenMP</a:t>
            </a:r>
            <a:r>
              <a:rPr lang="it-IT" b="1" dirty="0"/>
              <a:t>):</a:t>
            </a:r>
            <a:r>
              <a:rPr lang="it-IT" dirty="0"/>
              <a:t> </a:t>
            </a:r>
            <a:r>
              <a:rPr lang="it-IT" b="1" dirty="0"/>
              <a:t>Parallelizza i cicli annidati</a:t>
            </a:r>
            <a:r>
              <a:rPr lang="it-IT" dirty="0"/>
              <a:t> per il calcolo dello stencil a 5 punti sfruttando tutti i core all'interno del singolo nodo.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7515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1E138E-F846-CDE8-B528-35D5A3E7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it-IT" dirty="0"/>
              <a:t>MPI + </a:t>
            </a:r>
            <a:r>
              <a:rPr lang="it-IT" dirty="0" err="1"/>
              <a:t>OpenMP</a:t>
            </a:r>
            <a:r>
              <a:rPr lang="it-IT" dirty="0"/>
              <a:t> – Inizializzazione </a:t>
            </a:r>
          </a:p>
        </p:txBody>
      </p:sp>
      <p:pic>
        <p:nvPicPr>
          <p:cNvPr id="6" name="Segnaposto immagine 5">
            <a:extLst>
              <a:ext uri="{FF2B5EF4-FFF2-40B4-BE49-F238E27FC236}">
                <a16:creationId xmlns:a16="http://schemas.microsoft.com/office/drawing/2014/main" id="{3915D1A8-EC41-0186-0CAA-B2A12A8A9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4937125" y="2432904"/>
            <a:ext cx="6594475" cy="2362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C5D7A0D-6F05-5EFB-0052-1363DA115F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r>
              <a:rPr lang="it-IT" b="1" dirty="0"/>
              <a:t>Ottimizzazione NUMA:</a:t>
            </a:r>
            <a:r>
              <a:rPr lang="it-IT" dirty="0"/>
              <a:t> Implementazione della politica </a:t>
            </a:r>
            <a:r>
              <a:rPr lang="it-IT" i="1" dirty="0"/>
              <a:t>First-Touch</a:t>
            </a:r>
            <a:r>
              <a:rPr lang="it-IT" dirty="0"/>
              <a:t> in fase di inizializzazione per garantire la località dei dati.</a:t>
            </a:r>
          </a:p>
          <a:p>
            <a:r>
              <a:rPr lang="it-IT" b="1" dirty="0"/>
              <a:t>Vantaggio:</a:t>
            </a:r>
            <a:r>
              <a:rPr lang="it-IT" dirty="0"/>
              <a:t> Previene il sovraccarico del bus di memoria, un problema tipico quando un singolo thread (master) pre-alloca l'intera struttura dati.</a:t>
            </a:r>
          </a:p>
        </p:txBody>
      </p:sp>
    </p:spTree>
    <p:extLst>
      <p:ext uri="{BB962C8B-B14F-4D97-AF65-F5344CB8AC3E}">
        <p14:creationId xmlns:p14="http://schemas.microsoft.com/office/powerpoint/2010/main" val="1235874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2B4C1B-262D-F31E-D03A-9888E390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it-IT" noProof="0" dirty="0"/>
              <a:t>MPI + </a:t>
            </a:r>
            <a:r>
              <a:rPr lang="it-IT" noProof="0" dirty="0" err="1"/>
              <a:t>OpenMP</a:t>
            </a:r>
            <a:r>
              <a:rPr lang="it-IT" noProof="0" dirty="0"/>
              <a:t> - Calcolo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A25794F-11FF-B974-5911-B0DB7F93EA5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square" anchor="t">
            <a:normAutofit/>
          </a:bodyPr>
          <a:lstStyle/>
          <a:p>
            <a:r>
              <a:rPr lang="it-IT" dirty="0"/>
              <a:t>Il calcolo interno è parallelizzato tramite </a:t>
            </a:r>
            <a:r>
              <a:rPr lang="it-IT" dirty="0" err="1"/>
              <a:t>OpenMP</a:t>
            </a:r>
            <a:r>
              <a:rPr lang="it-IT" dirty="0"/>
              <a:t> </a:t>
            </a:r>
            <a:r>
              <a:rPr lang="it-IT" b="1" dirty="0"/>
              <a:t>(#pragma </a:t>
            </a:r>
            <a:r>
              <a:rPr lang="it-IT" b="1" dirty="0" err="1"/>
              <a:t>omp</a:t>
            </a:r>
            <a:r>
              <a:rPr lang="it-IT" b="1" dirty="0"/>
              <a:t> </a:t>
            </a:r>
            <a:r>
              <a:rPr lang="it-IT" b="1" dirty="0" err="1"/>
              <a:t>parallel</a:t>
            </a:r>
            <a:r>
              <a:rPr lang="it-IT" b="1" dirty="0"/>
              <a:t> for</a:t>
            </a:r>
            <a:r>
              <a:rPr lang="it-IT" dirty="0"/>
              <a:t>). Per evitare </a:t>
            </a:r>
            <a:r>
              <a:rPr lang="it-IT" i="1" dirty="0"/>
              <a:t>data race</a:t>
            </a:r>
            <a:r>
              <a:rPr lang="it-IT" dirty="0"/>
              <a:t> sulla variabile globale </a:t>
            </a:r>
            <a:r>
              <a:rPr lang="it-IT" b="1" dirty="0"/>
              <a:t>differenza</a:t>
            </a:r>
            <a:r>
              <a:rPr lang="it-IT" dirty="0"/>
              <a:t> – che causerebbe la perdita di aggiornamenti e corromperebbe la verifica di convergenza – è obbligatorio proteggere l'accumulo con la clausola </a:t>
            </a:r>
            <a:r>
              <a:rPr lang="it-IT" b="1" dirty="0" err="1"/>
              <a:t>reduction</a:t>
            </a:r>
            <a:r>
              <a:rPr lang="it-IT" b="1" dirty="0"/>
              <a:t>(+:differenza).</a:t>
            </a:r>
            <a:endParaRPr lang="it-IT" b="1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D72504C-D3E4-58AB-A4AE-BE5766A10C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727"/>
          <a:stretch>
            <a:fillRect/>
          </a:stretch>
        </p:blipFill>
        <p:spPr>
          <a:xfrm>
            <a:off x="4499478" y="1048888"/>
            <a:ext cx="7692522" cy="56322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752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49ACF0-3807-AD51-3B76-19564753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4" cy="1097280"/>
          </a:xfrm>
        </p:spPr>
        <p:txBody>
          <a:bodyPr wrap="square" anchor="t">
            <a:normAutofit/>
          </a:bodyPr>
          <a:lstStyle/>
          <a:p>
            <a:r>
              <a:rPr lang="it-IT" dirty="0" err="1"/>
              <a:t>OpenMP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292627-5D7F-DE0A-5853-EFB812E5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212080" cy="3566160"/>
          </a:xfrm>
        </p:spPr>
        <p:txBody>
          <a:bodyPr wrap="square" anchor="t">
            <a:normAutofit/>
          </a:bodyPr>
          <a:lstStyle/>
          <a:p>
            <a:r>
              <a:rPr lang="it-IT" dirty="0"/>
              <a:t>A questo punto, per avere una panoramica completa. Si è scelto di effettuare dei test usando una versione basata esclusivamente su </a:t>
            </a:r>
            <a:r>
              <a:rPr lang="it-IT" dirty="0" err="1"/>
              <a:t>OpenMP</a:t>
            </a:r>
            <a:r>
              <a:rPr lang="it-IT" dirty="0"/>
              <a:t> mantenendo la struttura vista precedentemente vista.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364650F-3FCD-B42F-0B1A-1B2964300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2" y="1173593"/>
            <a:ext cx="5523120" cy="50260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56390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E4177B-5BED-732D-416F-4A3E8F60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Metriche di Analisi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contenuto 7">
                <a:extLst>
                  <a:ext uri="{FF2B5EF4-FFF2-40B4-BE49-F238E27FC236}">
                    <a16:creationId xmlns:a16="http://schemas.microsoft.com/office/drawing/2014/main" id="{A6E9697B-30F9-9129-BEAA-86E3543871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933" y="2398490"/>
                <a:ext cx="11214133" cy="398126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it-IT" sz="2300" dirty="0"/>
                  <a:t>Per analizzare le prestazioni del codice, sono state considerate:</a:t>
                </a:r>
              </a:p>
              <a:p>
                <a:pPr lvl="1"/>
                <a:r>
                  <a:rPr lang="en-US" sz="2300" b="1" noProof="0" dirty="0"/>
                  <a:t>Speedup</a:t>
                </a:r>
                <a:r>
                  <a:rPr lang="it-IT" sz="2300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3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3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it-IT" sz="23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it-IT" sz="23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3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</m:den>
                    </m:f>
                  </m:oMath>
                </a14:m>
                <a:endParaRPr lang="it-IT" sz="2300" b="1" dirty="0"/>
              </a:p>
              <a:p>
                <a:pPr lvl="1" algn="just"/>
                <a:r>
                  <a:rPr lang="it-IT" sz="2300" b="1" dirty="0"/>
                  <a:t>Efficienza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3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3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it-IT" sz="23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it-IT" sz="23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3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it-IT" sz="23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it-IT" sz="2300" b="1" i="1" smtClean="0"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endParaRPr lang="it-IT" sz="2300" b="1" dirty="0"/>
              </a:p>
              <a:p>
                <a:pPr marL="0" indent="0" algn="just">
                  <a:buNone/>
                </a:pPr>
                <a:br>
                  <a:rPr lang="it-IT" sz="1800" dirty="0"/>
                </a:br>
                <a:r>
                  <a:rPr lang="it-IT" sz="2300" dirty="0"/>
                  <a:t>Inoltre, sono stati considerati i seguenti setup per mettere a paragone MPI puro con la versione Ibrida</a:t>
                </a:r>
                <a:r>
                  <a:rPr lang="it-IT" sz="2300" b="1" dirty="0"/>
                  <a:t>:</a:t>
                </a:r>
              </a:p>
              <a:p>
                <a:pPr lvl="1"/>
                <a:r>
                  <a:rPr lang="it-IT" sz="2300" b="1" dirty="0"/>
                  <a:t>6 Processi x 1 Thread</a:t>
                </a:r>
              </a:p>
              <a:p>
                <a:pPr lvl="1"/>
                <a:r>
                  <a:rPr lang="it-IT" sz="2300" b="1" dirty="0"/>
                  <a:t>3 Processi x 2 Thread</a:t>
                </a:r>
              </a:p>
              <a:p>
                <a:pPr lvl="1"/>
                <a:r>
                  <a:rPr lang="it-IT" sz="2300" b="1" dirty="0"/>
                  <a:t>2 Processi x 3 Thread </a:t>
                </a:r>
              </a:p>
              <a:p>
                <a:pPr lvl="1"/>
                <a:r>
                  <a:rPr lang="it-IT" sz="2300" b="1" dirty="0"/>
                  <a:t>1 Processo x 6 Thread</a:t>
                </a:r>
                <a:br>
                  <a:rPr lang="it-IT" sz="2300" dirty="0"/>
                </a:br>
                <a:br>
                  <a:rPr lang="it-IT" sz="2300" dirty="0"/>
                </a:br>
                <a:endParaRPr lang="it-IT" sz="2300" dirty="0"/>
              </a:p>
              <a:p>
                <a:pPr marL="265176" lvl="1" indent="0" algn="just">
                  <a:buNone/>
                </a:pPr>
                <a:endParaRPr lang="it-IT" sz="1600" dirty="0"/>
              </a:p>
            </p:txBody>
          </p:sp>
        </mc:Choice>
        <mc:Fallback xmlns="">
          <p:sp>
            <p:nvSpPr>
              <p:cNvPr id="8" name="Segnaposto contenuto 7">
                <a:extLst>
                  <a:ext uri="{FF2B5EF4-FFF2-40B4-BE49-F238E27FC236}">
                    <a16:creationId xmlns:a16="http://schemas.microsoft.com/office/drawing/2014/main" id="{A6E9697B-30F9-9129-BEAA-86E354387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933" y="2398490"/>
                <a:ext cx="11214133" cy="3981262"/>
              </a:xfrm>
              <a:blipFill>
                <a:blip r:embed="rId3"/>
                <a:stretch>
                  <a:fillRect l="-435" t="-76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859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F1B685-8655-DB8D-67D1-54673300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Tempo Sequenziale</a:t>
            </a:r>
          </a:p>
        </p:txBody>
      </p:sp>
      <p:graphicFrame>
        <p:nvGraphicFramePr>
          <p:cNvPr id="11" name="Segnaposto contenuto 10">
            <a:extLst>
              <a:ext uri="{FF2B5EF4-FFF2-40B4-BE49-F238E27FC236}">
                <a16:creationId xmlns:a16="http://schemas.microsoft.com/office/drawing/2014/main" id="{DAF6E4D3-37AC-94A8-0A29-3E72441C4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075499"/>
              </p:ext>
            </p:extLst>
          </p:nvPr>
        </p:nvGraphicFramePr>
        <p:xfrm>
          <a:off x="639764" y="2281383"/>
          <a:ext cx="10890924" cy="3917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3376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74DACE-A7A1-98C2-AB20-2627F434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Tempo Sequenziale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C5ACEE4-ECEA-BB1B-25B2-6A587573F7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512 </m:t>
                    </m:r>
                  </m:oMath>
                </a14:m>
                <a:r>
                  <a:rPr lang="it-IT" dirty="0"/>
                  <a:t>il tempo reale ricalca fedelmente la curva teorica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.</a:t>
                </a:r>
              </a:p>
              <a:p>
                <a:r>
                  <a:rPr lang="it-IT" dirty="0"/>
                  <a:t>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lang="it-IT" dirty="0"/>
                  <a:t>, il tempo reale (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2537.81</m:t>
                    </m:r>
                  </m:oMath>
                </a14:m>
                <a:r>
                  <a:rPr lang="it-IT" dirty="0"/>
                  <a:t> s) devia nettamente verso l'alto rispetto alla proiezione asintotica (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1913.65</m:t>
                    </m:r>
                  </m:oMath>
                </a14:m>
                <a:r>
                  <a:rPr lang="it-IT" dirty="0"/>
                  <a:t> s). Perché?</a:t>
                </a:r>
              </a:p>
              <a:p>
                <a:r>
                  <a:rPr lang="it-IT" dirty="0"/>
                  <a:t>La </a:t>
                </a:r>
                <a:r>
                  <a:rPr lang="it-IT" b="1" dirty="0"/>
                  <a:t>cache L3 </a:t>
                </a:r>
                <a:r>
                  <a:rPr lang="it-IT" dirty="0"/>
                  <a:t>ha uno spazio totale di </a:t>
                </a:r>
                <a:r>
                  <a:rPr lang="it-IT" b="1" dirty="0"/>
                  <a:t>8MB </a:t>
                </a:r>
                <a:r>
                  <a:rPr lang="it-IT" dirty="0"/>
                  <a:t>mentre, invece, le due matrici occupano uno spazio di circa </a:t>
                </a:r>
                <a:r>
                  <a:rPr lang="it-IT" b="1" dirty="0"/>
                  <a:t>8 MB </a:t>
                </a:r>
                <a:r>
                  <a:rPr lang="it-IT" dirty="0"/>
                  <a:t>l’una, rendendo quindi il totale </a:t>
                </a:r>
                <a:r>
                  <a:rPr lang="it-IT" b="1" dirty="0"/>
                  <a:t>16 MB </a:t>
                </a:r>
                <a:r>
                  <a:rPr lang="it-IT" dirty="0"/>
                  <a:t>forzando dunque continui accessi alla RAM.</a:t>
                </a:r>
                <a:endParaRPr lang="it-IT" b="1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C5ACEE4-ECEA-BB1B-25B2-6A587573F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 r="-8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742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E32EEB-9DF8-90E6-C23B-BA442C24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Tempo OMP</a:t>
            </a:r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98D824CD-E50A-9D7E-C836-3034B6E53B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382120"/>
              </p:ext>
            </p:extLst>
          </p:nvPr>
        </p:nvGraphicFramePr>
        <p:xfrm>
          <a:off x="553453" y="2224489"/>
          <a:ext cx="10890924" cy="3919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546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DBBE78-F38D-B06C-A837-25E624036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Strong Scaling - OMP</a:t>
            </a:r>
          </a:p>
        </p:txBody>
      </p:sp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2792B85B-7526-FA3D-0583-D6B60813A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64946"/>
              </p:ext>
            </p:extLst>
          </p:nvPr>
        </p:nvGraphicFramePr>
        <p:xfrm>
          <a:off x="6252910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afico 6">
            <a:extLst>
              <a:ext uri="{FF2B5EF4-FFF2-40B4-BE49-F238E27FC236}">
                <a16:creationId xmlns:a16="http://schemas.microsoft.com/office/drawing/2014/main" id="{0263905D-CB5A-0379-4C68-C69D35AD3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162868"/>
              </p:ext>
            </p:extLst>
          </p:nvPr>
        </p:nvGraphicFramePr>
        <p:xfrm>
          <a:off x="851793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0186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1FA6A8-D99B-67C9-9EA0-F517BD5D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Tempo MPI 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B76F5DEC-0AB9-CFDB-2791-74570536B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28235"/>
              </p:ext>
            </p:extLst>
          </p:nvPr>
        </p:nvGraphicFramePr>
        <p:xfrm>
          <a:off x="640080" y="2185988"/>
          <a:ext cx="10890924" cy="3919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9122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BE67F2-AE56-2BCC-9C60-964D5A7B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Strong Scaling – MPI 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89E2DBA0-6FEA-2ED1-9A6B-526AC1487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413613"/>
              </p:ext>
            </p:extLst>
          </p:nvPr>
        </p:nvGraphicFramePr>
        <p:xfrm>
          <a:off x="639763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3F16AD40-9051-5400-1525-BC8988DB6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0816080"/>
              </p:ext>
            </p:extLst>
          </p:nvPr>
        </p:nvGraphicFramePr>
        <p:xfrm>
          <a:off x="6252910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7621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26640F-8D0E-644A-BB0D-A967EC74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Tempo Ibrido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E1C4C71E-76CE-4E3F-6E1D-D9B7D837F4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123222"/>
              </p:ext>
            </p:extLst>
          </p:nvPr>
        </p:nvGraphicFramePr>
        <p:xfrm>
          <a:off x="639763" y="2633663"/>
          <a:ext cx="10891837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3905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453487-373E-170F-EE64-C39FA4EA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– Strong Scaling - Ibrido</a:t>
            </a:r>
          </a:p>
        </p:txBody>
      </p:sp>
      <p:graphicFrame>
        <p:nvGraphicFramePr>
          <p:cNvPr id="4" name="Segnaposto contenuto 5">
            <a:extLst>
              <a:ext uri="{FF2B5EF4-FFF2-40B4-BE49-F238E27FC236}">
                <a16:creationId xmlns:a16="http://schemas.microsoft.com/office/drawing/2014/main" id="{385B09B4-13B8-EDE7-059B-FA50E441B0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4167843"/>
              </p:ext>
            </p:extLst>
          </p:nvPr>
        </p:nvGraphicFramePr>
        <p:xfrm>
          <a:off x="639763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9E181B14-5F21-5B24-7D05-5CDDDA1BE4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983735"/>
              </p:ext>
            </p:extLst>
          </p:nvPr>
        </p:nvGraphicFramePr>
        <p:xfrm>
          <a:off x="6458184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39206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034AD0-5801-DD07-C38E-75A121A8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Analisi – Paragone tra MPI, Ibrido e OMP- Tempi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587EA6D0-6DC4-0393-D19C-F0E25D15A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061046"/>
              </p:ext>
            </p:extLst>
          </p:nvPr>
        </p:nvGraphicFramePr>
        <p:xfrm>
          <a:off x="639763" y="2633663"/>
          <a:ext cx="10891837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6342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057568-0B86-DC5C-58C0-EA38B071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Analisi – Paragone tra MPI, Ibrido e OMP- </a:t>
            </a:r>
            <a:r>
              <a:rPr lang="it-IT" dirty="0" err="1"/>
              <a:t>Speedup</a:t>
            </a:r>
            <a:r>
              <a:rPr lang="it-IT" dirty="0"/>
              <a:t> Efficienza</a:t>
            </a:r>
          </a:p>
        </p:txBody>
      </p:sp>
      <p:graphicFrame>
        <p:nvGraphicFramePr>
          <p:cNvPr id="15" name="Segnaposto contenuto 5">
            <a:extLst>
              <a:ext uri="{FF2B5EF4-FFF2-40B4-BE49-F238E27FC236}">
                <a16:creationId xmlns:a16="http://schemas.microsoft.com/office/drawing/2014/main" id="{D05DD848-2AEC-A041-3634-956ECB6A2A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085129"/>
              </p:ext>
            </p:extLst>
          </p:nvPr>
        </p:nvGraphicFramePr>
        <p:xfrm>
          <a:off x="639763" y="2633663"/>
          <a:ext cx="5303837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Grafico 16">
            <a:extLst>
              <a:ext uri="{FF2B5EF4-FFF2-40B4-BE49-F238E27FC236}">
                <a16:creationId xmlns:a16="http://schemas.microsoft.com/office/drawing/2014/main" id="{AB3B9DFE-2A72-3518-F432-6EDDC3E84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703800"/>
              </p:ext>
            </p:extLst>
          </p:nvPr>
        </p:nvGraphicFramePr>
        <p:xfrm>
          <a:off x="6458184" y="2633663"/>
          <a:ext cx="4538819" cy="362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1924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AAC004-FD2D-DA60-B52F-E45565C2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70" y="1371600"/>
            <a:ext cx="10890924" cy="1097280"/>
          </a:xfrm>
        </p:spPr>
        <p:txBody>
          <a:bodyPr>
            <a:normAutofit/>
          </a:bodyPr>
          <a:lstStyle/>
          <a:p>
            <a:r>
              <a:rPr lang="it-IT" dirty="0"/>
              <a:t>Analisi – </a:t>
            </a:r>
            <a:r>
              <a:rPr lang="it-IT" dirty="0" err="1"/>
              <a:t>Perf</a:t>
            </a:r>
            <a:endParaRPr lang="it-IT" dirty="0"/>
          </a:p>
        </p:txBody>
      </p:sp>
      <p:graphicFrame>
        <p:nvGraphicFramePr>
          <p:cNvPr id="20" name="Segnaposto contenuto 19">
            <a:extLst>
              <a:ext uri="{FF2B5EF4-FFF2-40B4-BE49-F238E27FC236}">
                <a16:creationId xmlns:a16="http://schemas.microsoft.com/office/drawing/2014/main" id="{05B88DB5-7029-89D3-645C-845E8C62E6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857779"/>
              </p:ext>
            </p:extLst>
          </p:nvPr>
        </p:nvGraphicFramePr>
        <p:xfrm>
          <a:off x="1452689" y="3831336"/>
          <a:ext cx="8676113" cy="2743391"/>
        </p:xfrm>
        <a:graphic>
          <a:graphicData uri="http://schemas.openxmlformats.org/drawingml/2006/table">
            <a:tbl>
              <a:tblPr/>
              <a:tblGrid>
                <a:gridCol w="1717722">
                  <a:extLst>
                    <a:ext uri="{9D8B030D-6E8A-4147-A177-3AD203B41FA5}">
                      <a16:colId xmlns:a16="http://schemas.microsoft.com/office/drawing/2014/main" val="1823872166"/>
                    </a:ext>
                  </a:extLst>
                </a:gridCol>
                <a:gridCol w="1717722">
                  <a:extLst>
                    <a:ext uri="{9D8B030D-6E8A-4147-A177-3AD203B41FA5}">
                      <a16:colId xmlns:a16="http://schemas.microsoft.com/office/drawing/2014/main" val="3122249832"/>
                    </a:ext>
                  </a:extLst>
                </a:gridCol>
                <a:gridCol w="1717722">
                  <a:extLst>
                    <a:ext uri="{9D8B030D-6E8A-4147-A177-3AD203B41FA5}">
                      <a16:colId xmlns:a16="http://schemas.microsoft.com/office/drawing/2014/main" val="3449718266"/>
                    </a:ext>
                  </a:extLst>
                </a:gridCol>
                <a:gridCol w="1794980">
                  <a:extLst>
                    <a:ext uri="{9D8B030D-6E8A-4147-A177-3AD203B41FA5}">
                      <a16:colId xmlns:a16="http://schemas.microsoft.com/office/drawing/2014/main" val="2268862395"/>
                    </a:ext>
                  </a:extLst>
                </a:gridCol>
                <a:gridCol w="1727967">
                  <a:extLst>
                    <a:ext uri="{9D8B030D-6E8A-4147-A177-3AD203B41FA5}">
                      <a16:colId xmlns:a16="http://schemas.microsoft.com/office/drawing/2014/main" val="598991843"/>
                    </a:ext>
                  </a:extLst>
                </a:gridCol>
              </a:tblGrid>
              <a:tr h="4756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Dim. Griglia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Tempo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IPC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Cache Miss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Iterazioni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33036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 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0,080435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17,3 Milioni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779387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 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0,379968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50,8 Milioni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31585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68585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 256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dirty="0"/>
                        <a:t>3,244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253,5 Milioni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118160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164283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 512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43,772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4,62 Miliardi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437720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791796"/>
                  </a:ext>
                </a:extLst>
              </a:tr>
              <a:tr h="4535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 1024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dirty="0"/>
                        <a:t>1942,127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48,61 Miliardi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1607108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979137"/>
                  </a:ext>
                </a:extLst>
              </a:tr>
            </a:tbl>
          </a:graphicData>
        </a:graphic>
      </p:graphicFrame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2177CD-883B-D69D-04ED-9229622B3423}"/>
              </a:ext>
            </a:extLst>
          </p:cNvPr>
          <p:cNvSpPr txBox="1">
            <a:spLocks/>
          </p:cNvSpPr>
          <p:nvPr/>
        </p:nvSpPr>
        <p:spPr>
          <a:xfrm>
            <a:off x="639170" y="2066544"/>
            <a:ext cx="11248030" cy="176479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92500" lnSpcReduction="20000"/>
          </a:bodyPr>
          <a:lstStyle>
            <a:lvl1pPr marL="228600" marR="0" lvl="0" indent="-228600" algn="l" defTabSz="914400" rtl="0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87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defRPr>
            </a:lvl1pPr>
            <a:lvl2pPr marL="493776" marR="0" lvl="1" indent="-228600" algn="l" defTabSz="914400" rtl="0" fontAlgn="auto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87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defRPr>
            </a:lvl2pPr>
            <a:lvl3pPr marL="731520" marR="0" lvl="2" indent="-228600" algn="l" defTabSz="914400" rtl="0" fontAlgn="auto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87000"/>
              <a:buFont typeface="Arial" pitchFamily="34"/>
              <a:buChar char="•"/>
              <a:tabLst/>
              <a:def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defRPr>
            </a:lvl3pPr>
            <a:lvl4pPr marL="1051560" marR="0" lvl="3" indent="-285750" algn="l" defTabSz="914400" rtl="0" fontAlgn="auto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87000"/>
              <a:buFont typeface="Arial" pitchFamily="34"/>
              <a:buChar char="•"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defRPr>
            </a:lvl4pPr>
            <a:lvl5pPr marL="1298448" marR="0" lvl="4" indent="-228600" algn="l" defTabSz="914400" rtl="0" fontAlgn="auto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87000"/>
              <a:buFont typeface="Arial" pitchFamily="34"/>
              <a:buChar char="•"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Grandview Display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Granularità ridotta (N=64, N=128):</a:t>
            </a:r>
            <a:r>
              <a:rPr lang="it-IT" dirty="0"/>
              <a:t> L'IPC è inferiore a 1 a causa del ridotto carico computazionale. Il tempo speso nella gestione dei messaggi MPI e nella sincronizzazione </a:t>
            </a:r>
            <a:r>
              <a:rPr lang="it-IT" i="1" dirty="0"/>
              <a:t>Fork-Join</a:t>
            </a:r>
            <a:r>
              <a:rPr lang="it-IT" dirty="0"/>
              <a:t> di </a:t>
            </a:r>
            <a:r>
              <a:rPr lang="it-IT" dirty="0" err="1"/>
              <a:t>OpenMP</a:t>
            </a:r>
            <a:r>
              <a:rPr lang="it-IT" dirty="0"/>
              <a:t> domina sul calcolo dello stencil, introducendo stalli. </a:t>
            </a:r>
          </a:p>
          <a:p>
            <a:r>
              <a:rPr lang="it-IT" b="1" dirty="0"/>
              <a:t>Crollo dell'IPC per Memory Wall (N=1024):</a:t>
            </a:r>
            <a:r>
              <a:rPr lang="it-IT" dirty="0"/>
              <a:t> L'IPC precipita a </a:t>
            </a:r>
            <a:r>
              <a:rPr lang="it-IT" b="1" dirty="0"/>
              <a:t>0,46</a:t>
            </a:r>
            <a:r>
              <a:rPr lang="it-IT" dirty="0"/>
              <a:t> a causa del superamento degli 8MB di Cache L3 con oltre </a:t>
            </a:r>
            <a:r>
              <a:rPr lang="it-IT" b="1" dirty="0"/>
              <a:t>48 miliardi di cache miss</a:t>
            </a:r>
            <a:r>
              <a:rPr lang="it-IT" dirty="0"/>
              <a:t>.</a:t>
            </a:r>
          </a:p>
          <a:p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489376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0AA44F-25CC-2744-2E05-73DA52D0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85BB37-5235-7F10-E336-283B66771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Modello Ottimale:</a:t>
            </a:r>
            <a:r>
              <a:rPr lang="it-IT" dirty="0"/>
              <a:t> A parità di core totali, la segmentazione in processi </a:t>
            </a:r>
            <a:r>
              <a:rPr lang="it-IT" b="1" dirty="0"/>
              <a:t>MPI Puri</a:t>
            </a:r>
            <a:r>
              <a:rPr lang="it-IT" dirty="0"/>
              <a:t> o un approccio ibrido bilanciato (</a:t>
            </a:r>
            <a:r>
              <a:rPr lang="it-IT" b="1" dirty="0"/>
              <a:t>3P x 2T</a:t>
            </a:r>
            <a:r>
              <a:rPr lang="it-IT" dirty="0"/>
              <a:t>) minimizza gli overhead di sincronizzazione. </a:t>
            </a:r>
          </a:p>
          <a:p>
            <a:r>
              <a:rPr lang="it-IT" b="1" dirty="0"/>
              <a:t>Il Limite dei Thread:</a:t>
            </a:r>
            <a:r>
              <a:rPr lang="it-IT" dirty="0"/>
              <a:t> Strutture sbilanciate sui thread </a:t>
            </a:r>
            <a:r>
              <a:rPr lang="it-IT" dirty="0" err="1"/>
              <a:t>OpenMP</a:t>
            </a:r>
            <a:r>
              <a:rPr lang="it-IT" dirty="0"/>
              <a:t> (come 1P x 6T) pagano un costo eccessivo in termini di </a:t>
            </a:r>
            <a:r>
              <a:rPr lang="it-IT" i="1" dirty="0"/>
              <a:t>Fork-Join</a:t>
            </a:r>
            <a:r>
              <a:rPr lang="it-IT" dirty="0"/>
              <a:t> all'interno dei cicli iterativi di convergenza. </a:t>
            </a:r>
          </a:p>
          <a:p>
            <a:r>
              <a:rPr lang="it-IT" b="1" dirty="0"/>
              <a:t>Efficienza Hardware:</a:t>
            </a:r>
            <a:r>
              <a:rPr lang="it-IT" dirty="0"/>
              <a:t> La profilazione con </a:t>
            </a:r>
            <a:r>
              <a:rPr lang="it-IT" dirty="0" err="1"/>
              <a:t>perf</a:t>
            </a:r>
            <a:r>
              <a:rPr lang="it-IT" dirty="0"/>
              <a:t> ha dimostrato che lo scaling parallelo è strettamente vincolato all'architettura delle cache hardware. Superato il vincolo della Cache L3 (N=1024), il problema diventa strutturalmente </a:t>
            </a:r>
            <a:r>
              <a:rPr lang="it-IT" i="1" dirty="0"/>
              <a:t>Memory-Bound.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3614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A585-8F4F-63CF-7FCF-92CE5BFF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>
            <a:extLst>
              <a:ext uri="{FF2B5EF4-FFF2-40B4-BE49-F238E27FC236}">
                <a16:creationId xmlns:a16="http://schemas.microsoft.com/office/drawing/2014/main" id="{AA370DCB-1E1A-D8C3-2C31-FE687FA08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 dirty="0">
              <a:solidFill>
                <a:srgbClr val="FFFFFF"/>
              </a:solidFill>
              <a:uFillTx/>
              <a:latin typeface="Grandview Display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942DCDB-7AE1-EBE3-7839-E8B50E60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51" r="9091" b="28413"/>
          <a:stretch>
            <a:fillRect/>
          </a:stretch>
        </p:blipFill>
        <p:spPr>
          <a:xfrm>
            <a:off x="-14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tangle 33">
            <a:extLst>
              <a:ext uri="{FF2B5EF4-FFF2-40B4-BE49-F238E27FC236}">
                <a16:creationId xmlns:a16="http://schemas.microsoft.com/office/drawing/2014/main" id="{FC616C02-B5BA-8B6C-A90B-5BBDB38D9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5400013">
            <a:off x="-173179" y="173178"/>
            <a:ext cx="6858000" cy="651164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1700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it-IT" sz="1800" b="0" i="0" u="none" strike="noStrike" kern="1200" cap="none" spc="0" baseline="0" dirty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04645714-467F-0C7D-D238-BD63972125B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3182" y="1744382"/>
            <a:ext cx="8542431" cy="4399423"/>
          </a:xfrm>
        </p:spPr>
        <p:txBody>
          <a:bodyPr>
            <a:normAutofit/>
          </a:bodyPr>
          <a:lstStyle/>
          <a:p>
            <a:pPr lvl="0"/>
            <a:r>
              <a:rPr lang="it-IT" sz="8000" dirty="0">
                <a:solidFill>
                  <a:srgbClr val="FFFFFF"/>
                </a:solidFill>
              </a:rPr>
              <a:t>GRAZIE PER L’ATTENZIONE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548C8BF9-4E93-5C92-578D-8BFAF1341A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8090" y="5253054"/>
            <a:ext cx="3888421" cy="969264"/>
          </a:xfrm>
        </p:spPr>
        <p:txBody>
          <a:bodyPr anchor="t"/>
          <a:lstStyle/>
          <a:p>
            <a:pPr lvl="0">
              <a:lnSpc>
                <a:spcPct val="120000"/>
              </a:lnSpc>
            </a:pPr>
            <a:r>
              <a:rPr lang="it-IT" sz="1400" dirty="0">
                <a:solidFill>
                  <a:srgbClr val="FFFFFF"/>
                </a:solidFill>
              </a:rPr>
              <a:t>Petronio </a:t>
            </a:r>
            <a:r>
              <a:rPr lang="it-IT" sz="1400" dirty="0" err="1">
                <a:solidFill>
                  <a:srgbClr val="FFFFFF"/>
                </a:solidFill>
              </a:rPr>
              <a:t>petronio</a:t>
            </a:r>
            <a:r>
              <a:rPr lang="it-IT" sz="1400" dirty="0">
                <a:solidFill>
                  <a:srgbClr val="FFFFFF"/>
                </a:solidFill>
              </a:rPr>
              <a:t> Davide</a:t>
            </a:r>
          </a:p>
          <a:p>
            <a:pPr lvl="0">
              <a:lnSpc>
                <a:spcPct val="120000"/>
              </a:lnSpc>
            </a:pPr>
            <a:endParaRPr lang="it-IT" sz="1400" dirty="0">
              <a:solidFill>
                <a:srgbClr val="FFFFFF"/>
              </a:solidFill>
            </a:endParaRPr>
          </a:p>
        </p:txBody>
      </p:sp>
      <p:cxnSp>
        <p:nvCxnSpPr>
          <p:cNvPr id="7" name="Straight Connector 35">
            <a:extLst>
              <a:ext uri="{FF2B5EF4-FFF2-40B4-BE49-F238E27FC236}">
                <a16:creationId xmlns:a16="http://schemas.microsoft.com/office/drawing/2014/main" id="{15F9C4F6-4EC7-8EE0-3D52-C714C018E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Move="1" noResize="1"/>
          </p:cNvCxnSpPr>
          <p:nvPr/>
        </p:nvCxnSpPr>
        <p:spPr>
          <a:xfrm>
            <a:off x="540328" y="4861206"/>
            <a:ext cx="978865" cy="0"/>
          </a:xfrm>
          <a:prstGeom prst="straightConnector1">
            <a:avLst/>
          </a:prstGeom>
          <a:noFill/>
          <a:ln w="76196" cap="flat">
            <a:solidFill>
              <a:srgbClr val="1973EB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2011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theme/theme1.xml><?xml version="1.0" encoding="utf-8"?>
<a:theme xmlns:a="http://schemas.openxmlformats.org/drawingml/2006/main" name="Dash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TM04033923[[fn=Profondità]]</Template>
  <TotalTime>864</TotalTime>
  <Words>1237</Words>
  <Application>Microsoft Office PowerPoint</Application>
  <PresentationFormat>Widescreen</PresentationFormat>
  <Paragraphs>130</Paragraphs>
  <Slides>30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7" baseType="lpstr">
      <vt:lpstr>Aptos</vt:lpstr>
      <vt:lpstr>Aptos Narrow</vt:lpstr>
      <vt:lpstr>Arial</vt:lpstr>
      <vt:lpstr>Cambria Math</vt:lpstr>
      <vt:lpstr>Grandview Display</vt:lpstr>
      <vt:lpstr>Neue Haas Grotesk Text Pro</vt:lpstr>
      <vt:lpstr>DashVTI</vt:lpstr>
      <vt:lpstr>Simulazione della Diffusione del Calore 2D </vt:lpstr>
      <vt:lpstr>Equazione del Calore 2D  </vt:lpstr>
      <vt:lpstr>Equazione del calore 2D</vt:lpstr>
      <vt:lpstr>Equazione del calore 2D</vt:lpstr>
      <vt:lpstr>Hardware di Test</vt:lpstr>
      <vt:lpstr>Codice Sequenziale – Inizializzazione </vt:lpstr>
      <vt:lpstr>Codice sequenziale – Inizializzazione</vt:lpstr>
      <vt:lpstr>Codice sequenziale – Calcolo</vt:lpstr>
      <vt:lpstr>MPI– Topologia</vt:lpstr>
      <vt:lpstr>MPI – Latency Hiding</vt:lpstr>
      <vt:lpstr>MPI – Calcolo</vt:lpstr>
      <vt:lpstr>MPI – Calcolo – Waitall </vt:lpstr>
      <vt:lpstr>MPI + OpenMP</vt:lpstr>
      <vt:lpstr>MPI + OpenMP – Inizializzazione </vt:lpstr>
      <vt:lpstr>MPI + OpenMP - Calcolo</vt:lpstr>
      <vt:lpstr>OpenMP</vt:lpstr>
      <vt:lpstr>Metriche di Analisi</vt:lpstr>
      <vt:lpstr>Analisi – Tempo Sequenziale</vt:lpstr>
      <vt:lpstr>Analisi – Tempo Sequenziale</vt:lpstr>
      <vt:lpstr>Analisi – Tempo OMP</vt:lpstr>
      <vt:lpstr>Analisi – Strong Scaling - OMP</vt:lpstr>
      <vt:lpstr>Analisi – Tempo MPI </vt:lpstr>
      <vt:lpstr>Analisi – Strong Scaling – MPI </vt:lpstr>
      <vt:lpstr>Analisi – Tempo Ibrido</vt:lpstr>
      <vt:lpstr>Analisi – Strong Scaling - Ibrido</vt:lpstr>
      <vt:lpstr>Analisi – Paragone tra MPI, Ibrido e OMP- Tempi</vt:lpstr>
      <vt:lpstr>Analisi – Paragone tra MPI, Ibrido e OMP- Speedup Efficienza</vt:lpstr>
      <vt:lpstr>Analisi – Perf</vt:lpstr>
      <vt:lpstr>Conclusioni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PETRONIO PETRONIO</dc:creator>
  <cp:lastModifiedBy>DAVIDE PETRONIO PETRONIO</cp:lastModifiedBy>
  <cp:revision>20</cp:revision>
  <dcterms:created xsi:type="dcterms:W3CDTF">2026-07-10T08:20:12Z</dcterms:created>
  <dcterms:modified xsi:type="dcterms:W3CDTF">2026-07-12T14:31:36Z</dcterms:modified>
</cp:coreProperties>
</file>