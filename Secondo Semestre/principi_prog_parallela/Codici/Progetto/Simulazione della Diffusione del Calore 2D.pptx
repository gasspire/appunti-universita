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3" r:id="rId17"/>
    <p:sldId id="274" r:id="rId18"/>
    <p:sldId id="275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7" autoAdjust="0"/>
    <p:restoredTop sz="94660"/>
  </p:normalViewPr>
  <p:slideViewPr>
    <p:cSldViewPr snapToGrid="0">
      <p:cViewPr>
        <p:scale>
          <a:sx n="100" d="100"/>
          <a:sy n="100" d="100"/>
        </p:scale>
        <p:origin x="22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5416730896725684E-2"/>
          <c:y val="0.13950256852942694"/>
          <c:w val="0.92942512819462875"/>
          <c:h val="0.73158242138584706"/>
        </c:manualLayout>
      </c:layout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Sequenziale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2.92E-2</c:v>
                </c:pt>
                <c:pt idx="1">
                  <c:v>0.47149999999999997</c:v>
                </c:pt>
                <c:pt idx="2" formatCode="#,##0">
                  <c:v>7.1670999999999996</c:v>
                </c:pt>
                <c:pt idx="3">
                  <c:v>118.16200000000001</c:v>
                </c:pt>
                <c:pt idx="4" formatCode="#,##0">
                  <c:v>2537.8130000000001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9A-45BC-8682-668C40769E0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O(N^4)</c:v>
                </c:pt>
              </c:strCache>
            </c:strRef>
          </c:tx>
          <c:spPr>
            <a:ln w="22225" cap="rnd">
              <a:solidFill>
                <a:schemeClr val="accent2"/>
              </a:solidFill>
              <a:prstDash val="dash"/>
              <a:round/>
              <a:headEnd type="none"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2.92E-2</c:v>
                </c:pt>
                <c:pt idx="1">
                  <c:v>0.4672</c:v>
                </c:pt>
                <c:pt idx="2">
                  <c:v>7.4752000000000001</c:v>
                </c:pt>
                <c:pt idx="3">
                  <c:v>119.6032</c:v>
                </c:pt>
                <c:pt idx="4">
                  <c:v>1913.6512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E9A-45BC-8682-668C40769E0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48093072"/>
        <c:axId val="163322976"/>
      </c:lineChart>
      <c:catAx>
        <c:axId val="148093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63322976"/>
        <c:crossesAt val="1.0000000000000002E-2"/>
        <c:auto val="1"/>
        <c:lblAlgn val="ctr"/>
        <c:lblOffset val="100"/>
        <c:noMultiLvlLbl val="0"/>
      </c:catAx>
      <c:valAx>
        <c:axId val="163322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8093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3.2399999999999998E-2</c:v>
                </c:pt>
                <c:pt idx="1">
                  <c:v>2.3E-2</c:v>
                </c:pt>
                <c:pt idx="2">
                  <c:v>2.7400000000000001E-2</c:v>
                </c:pt>
                <c:pt idx="3">
                  <c:v>3.6700000000000003E-2</c:v>
                </c:pt>
                <c:pt idx="4">
                  <c:v>4.3499999999999997E-2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26-4A07-9811-EC39CEB3B03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0.46789999999999998</c:v>
                </c:pt>
                <c:pt idx="1">
                  <c:v>0.26119999999999999</c:v>
                </c:pt>
                <c:pt idx="2">
                  <c:v>0.20019999999999999</c:v>
                </c:pt>
                <c:pt idx="3">
                  <c:v>0.19070000000000001</c:v>
                </c:pt>
                <c:pt idx="4">
                  <c:v>0.26939999999999997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126-4A07-9811-EC39CEB3B03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#,##0</c:formatCode>
                <c:ptCount val="5"/>
                <c:pt idx="0">
                  <c:v>7.1218000000000004</c:v>
                </c:pt>
                <c:pt idx="1">
                  <c:v>3.8228</c:v>
                </c:pt>
                <c:pt idx="2" formatCode="General">
                  <c:v>2.4794999999999998</c:v>
                </c:pt>
                <c:pt idx="3" formatCode="General">
                  <c:v>2.0785999999999998</c:v>
                </c:pt>
                <c:pt idx="4">
                  <c:v>2.9129999999999998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126-4A07-9811-EC39CEB3B034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122.0479</c:v>
                </c:pt>
                <c:pt idx="1">
                  <c:v>63.9861</c:v>
                </c:pt>
                <c:pt idx="2" formatCode="#,##0">
                  <c:v>37.343000000000004</c:v>
                </c:pt>
                <c:pt idx="3" formatCode="#,##0">
                  <c:v>30.943200000000001</c:v>
                </c:pt>
                <c:pt idx="4">
                  <c:v>44.939799999999998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126-4A07-9811-EC39CEB3B034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0.9</c:v>
                </c:pt>
                <c:pt idx="1">
                  <c:v>1.26</c:v>
                </c:pt>
                <c:pt idx="2">
                  <c:v>1.06</c:v>
                </c:pt>
                <c:pt idx="3">
                  <c:v>0.79</c:v>
                </c:pt>
                <c:pt idx="4">
                  <c:v>0.67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5B-4236-80F3-41BCFC5D0C76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1.04</c:v>
                </c:pt>
                <c:pt idx="1">
                  <c:v>1.87</c:v>
                </c:pt>
                <c:pt idx="2">
                  <c:v>2.44</c:v>
                </c:pt>
                <c:pt idx="3">
                  <c:v>2.56</c:v>
                </c:pt>
                <c:pt idx="4">
                  <c:v>1.81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5B-4236-80F3-41BCFC5D0C76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0.99</c:v>
                </c:pt>
                <c:pt idx="1">
                  <c:v>1.84</c:v>
                </c:pt>
                <c:pt idx="2">
                  <c:v>2.83</c:v>
                </c:pt>
                <c:pt idx="3">
                  <c:v>3.38</c:v>
                </c:pt>
                <c:pt idx="4">
                  <c:v>2.41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25B-4236-80F3-41BCFC5D0C76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0.97</c:v>
                </c:pt>
                <c:pt idx="1">
                  <c:v>1.85</c:v>
                </c:pt>
                <c:pt idx="2">
                  <c:v>3.18</c:v>
                </c:pt>
                <c:pt idx="3">
                  <c:v>3.83</c:v>
                </c:pt>
                <c:pt idx="4">
                  <c:v>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25B-4236-80F3-41BCFC5D0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11/07/2026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13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0748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/>
              <a:t>Equazione del Calore 2D </a:t>
            </a:r>
            <a:br>
              <a:rPr lang="it-IT" sz="3200"/>
            </a:br>
            <a:endParaRPr lang="it-IT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 dirty="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 dirty="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 dirty="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endParaRPr lang="it-IT" sz="1900" dirty="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031004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Hardware di Test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37125" y="2432904"/>
            <a:ext cx="6594475" cy="2362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7F418F-3F28-F809-A674-0DDACB1CE4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Analisi delle prestazioni</a:t>
            </a:r>
          </a:p>
        </p:txBody>
      </p:sp>
      <p:sp>
        <p:nvSpPr>
          <p:cNvPr id="6" name="Sottotitolo 5">
            <a:extLst>
              <a:ext uri="{FF2B5EF4-FFF2-40B4-BE49-F238E27FC236}">
                <a16:creationId xmlns:a16="http://schemas.microsoft.com/office/drawing/2014/main" id="{81EF2F74-1DFB-984C-38F7-F786F9D49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137074"/>
            <a:ext cx="4474845" cy="2196926"/>
          </a:xfrm>
        </p:spPr>
        <p:txBody>
          <a:bodyPr>
            <a:normAutofit/>
          </a:bodyPr>
          <a:lstStyle/>
          <a:p>
            <a:r>
              <a:rPr lang="it-IT" dirty="0"/>
              <a:t>Strumenti utilizzati: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Perf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Clock_gettime</a:t>
            </a:r>
            <a:r>
              <a:rPr lang="it-IT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E0670ED-A437-CC24-CC0B-AECFE35A9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7167" y="1023732"/>
            <a:ext cx="2743206" cy="2743206"/>
          </a:xfrm>
          <a:prstGeom prst="rect">
            <a:avLst/>
          </a:prstGeom>
        </p:spPr>
      </p:pic>
      <p:pic>
        <p:nvPicPr>
          <p:cNvPr id="7" name="Immagine 6" descr="Time symbol png Images - Free Download on Magnific (formerly Freepik)">
            <a:extLst>
              <a:ext uri="{FF2B5EF4-FFF2-40B4-BE49-F238E27FC236}">
                <a16:creationId xmlns:a16="http://schemas.microsoft.com/office/drawing/2014/main" id="{5A3187E4-C147-8CFC-7B24-78F9496CF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08" y="3605013"/>
            <a:ext cx="2951830" cy="295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422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E4177B-5BED-732D-416F-4A3E8F60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Metriche di Analisi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it-IT" sz="2300" dirty="0"/>
                  <a:t>Per analizzare le prestazioni del codice, sono state considerate:</a:t>
                </a:r>
              </a:p>
              <a:p>
                <a:pPr lvl="1"/>
                <a:r>
                  <a:rPr lang="it-IT" sz="2300" b="1" dirty="0" err="1"/>
                  <a:t>Speedup</a:t>
                </a:r>
                <a:r>
                  <a:rPr lang="it-IT" sz="23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den>
                    </m:f>
                  </m:oMath>
                </a14:m>
                <a:endParaRPr lang="it-IT" sz="2300" b="1" dirty="0"/>
              </a:p>
              <a:p>
                <a:pPr lvl="1" algn="just"/>
                <a:r>
                  <a:rPr lang="it-IT" sz="2300" b="1" dirty="0"/>
                  <a:t>Efficienza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it-IT" sz="2300" b="1" i="1" smtClean="0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it-IT" sz="2300" b="1" dirty="0"/>
              </a:p>
              <a:p>
                <a:pPr marL="0" indent="0" algn="just">
                  <a:buNone/>
                </a:pPr>
                <a:br>
                  <a:rPr lang="it-IT" sz="1800" dirty="0"/>
                </a:br>
                <a:r>
                  <a:rPr lang="it-IT" sz="2300" dirty="0"/>
                  <a:t>Inoltre, sono stati considerati i seguenti setup per mettere a paragone MPI puro con la versione Ibrida</a:t>
                </a:r>
                <a:r>
                  <a:rPr lang="it-IT" sz="2300" b="1" dirty="0"/>
                  <a:t>:</a:t>
                </a:r>
              </a:p>
              <a:p>
                <a:pPr lvl="1"/>
                <a:r>
                  <a:rPr lang="it-IT" sz="2300" b="1" dirty="0"/>
                  <a:t>8 Processi x 1 Thread</a:t>
                </a:r>
              </a:p>
              <a:p>
                <a:pPr lvl="1"/>
                <a:r>
                  <a:rPr lang="it-IT" sz="2300" b="1" dirty="0"/>
                  <a:t>4 Processi x 2 Thread</a:t>
                </a:r>
              </a:p>
              <a:p>
                <a:pPr lvl="1"/>
                <a:r>
                  <a:rPr lang="it-IT" sz="2300" b="1" dirty="0"/>
                  <a:t>2 Processi x 4 Thread </a:t>
                </a:r>
              </a:p>
              <a:p>
                <a:pPr lvl="1"/>
                <a:r>
                  <a:rPr lang="it-IT" sz="2300" b="1" dirty="0"/>
                  <a:t>1 Processo x 8 Thread</a:t>
                </a:r>
                <a:br>
                  <a:rPr lang="it-IT" sz="2300" dirty="0"/>
                </a:br>
                <a:br>
                  <a:rPr lang="it-IT" sz="2300" dirty="0"/>
                </a:br>
                <a:endParaRPr lang="it-IT" sz="2300" dirty="0"/>
              </a:p>
              <a:p>
                <a:pPr marL="265176" lvl="1" indent="0" algn="just">
                  <a:buNone/>
                </a:pPr>
                <a:endParaRPr lang="it-IT" sz="1600" dirty="0"/>
              </a:p>
            </p:txBody>
          </p:sp>
        </mc:Choice>
        <mc:Fallback xmlns="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  <a:blipFill>
                <a:blip r:embed="rId3"/>
                <a:stretch>
                  <a:fillRect l="-435" t="-7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859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1B685-8655-DB8D-67D1-54673300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p:graphicFrame>
        <p:nvGraphicFramePr>
          <p:cNvPr id="11" name="Segnaposto contenuto 10">
            <a:extLst>
              <a:ext uri="{FF2B5EF4-FFF2-40B4-BE49-F238E27FC236}">
                <a16:creationId xmlns:a16="http://schemas.microsoft.com/office/drawing/2014/main" id="{DAF6E4D3-37AC-94A8-0A29-3E72441C4D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3075499"/>
              </p:ext>
            </p:extLst>
          </p:nvPr>
        </p:nvGraphicFramePr>
        <p:xfrm>
          <a:off x="639764" y="2281383"/>
          <a:ext cx="10890924" cy="3917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63376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DACE-A7A1-98C2-AB20-2627F434A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512 </m:t>
                    </m:r>
                  </m:oMath>
                </a14:m>
                <a:r>
                  <a:rPr lang="it-IT" dirty="0"/>
                  <a:t>il tempo reale ricalca fedelmente la curva teorica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dirty="0"/>
                  <a:t>.</a:t>
                </a:r>
              </a:p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  <a:r>
                  <a:rPr lang="it-IT" dirty="0"/>
                  <a:t>, il tempo reale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2537.81</m:t>
                    </m:r>
                  </m:oMath>
                </a14:m>
                <a:r>
                  <a:rPr lang="it-IT" dirty="0"/>
                  <a:t> s) devia nettamente verso l'alto rispetto alla proiezione asintotica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1913.65</m:t>
                    </m:r>
                  </m:oMath>
                </a14:m>
                <a:r>
                  <a:rPr lang="it-IT" dirty="0"/>
                  <a:t> s). Perché?</a:t>
                </a:r>
              </a:p>
              <a:p>
                <a:r>
                  <a:rPr lang="it-IT" dirty="0"/>
                  <a:t>La </a:t>
                </a:r>
                <a:r>
                  <a:rPr lang="it-IT" b="1" dirty="0"/>
                  <a:t>cache L3 </a:t>
                </a:r>
                <a:r>
                  <a:rPr lang="it-IT" dirty="0"/>
                  <a:t>ha uno spazio totale di </a:t>
                </a:r>
                <a:r>
                  <a:rPr lang="it-IT" b="1" dirty="0"/>
                  <a:t>8MB </a:t>
                </a:r>
                <a:r>
                  <a:rPr lang="it-IT" dirty="0"/>
                  <a:t>mentre, invece, le due matrici occupano uno spazio di circa </a:t>
                </a:r>
                <a:r>
                  <a:rPr lang="it-IT" b="1" dirty="0"/>
                  <a:t>8 MB </a:t>
                </a:r>
                <a:r>
                  <a:rPr lang="it-IT" dirty="0"/>
                  <a:t>l’una, rendendo quindi il totale </a:t>
                </a:r>
                <a:r>
                  <a:rPr lang="it-IT" b="1" dirty="0"/>
                  <a:t>16 MB </a:t>
                </a:r>
                <a:r>
                  <a:rPr lang="it-IT" dirty="0"/>
                  <a:t>forzando dunque continui accessi alla RAM.</a:t>
                </a:r>
                <a:endParaRPr lang="it-IT" b="1" dirty="0"/>
              </a:p>
              <a:p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8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42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1FA6A8-D99B-67C9-9EA0-F517BD5D3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–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B76F5DEC-0AB9-CFDB-2791-74570536B3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1528192"/>
              </p:ext>
            </p:extLst>
          </p:nvPr>
        </p:nvGraphicFramePr>
        <p:xfrm>
          <a:off x="640080" y="2185988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91229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BE67F2-AE56-2BCC-9C60-964D5A7B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–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89E2DBA0-6FEA-2ED1-9A6B-526AC1487A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4292"/>
              </p:ext>
            </p:extLst>
          </p:nvPr>
        </p:nvGraphicFramePr>
        <p:xfrm>
          <a:off x="639763" y="2633663"/>
          <a:ext cx="5999162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7762111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TM04033923[[fn=Profondità]]</Template>
  <TotalTime>514</TotalTime>
  <Words>931</Words>
  <Application>Microsoft Office PowerPoint</Application>
  <PresentationFormat>Widescreen</PresentationFormat>
  <Paragraphs>75</Paragraphs>
  <Slides>21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7" baseType="lpstr">
      <vt:lpstr>Aptos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  <vt:lpstr>Analisi delle prestazioni</vt:lpstr>
      <vt:lpstr>Metriche di Analisi</vt:lpstr>
      <vt:lpstr>Analisi – Tempo Sequenziale</vt:lpstr>
      <vt:lpstr>Analisi – Tempo Sequenziale</vt:lpstr>
      <vt:lpstr>Analisi – Strong Scaling – MPI </vt:lpstr>
      <vt:lpstr>Analisi – Strong Scaling – MPI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9</cp:revision>
  <dcterms:created xsi:type="dcterms:W3CDTF">2026-07-10T08:20:12Z</dcterms:created>
  <dcterms:modified xsi:type="dcterms:W3CDTF">2026-07-11T09:58:53Z</dcterms:modified>
</cp:coreProperties>
</file>