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7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4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5.5416730896725684E-2"/>
          <c:y val="0.13950256852942694"/>
          <c:w val="0.92942512819462875"/>
          <c:h val="0.73158242138584706"/>
        </c:manualLayout>
      </c:layout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Sequenziale</c:v>
                </c:pt>
              </c:strCache>
            </c:strRef>
          </c:tx>
          <c:spPr>
            <a:ln w="2222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6"/>
            <c:spPr>
              <a:solidFill>
                <a:schemeClr val="accent1"/>
              </a:solidFill>
              <a:ln w="9525">
                <a:solidFill>
                  <a:schemeClr val="accent1"/>
                </a:solidFill>
                <a:round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N 64</c:v>
                </c:pt>
                <c:pt idx="1">
                  <c:v>N 128</c:v>
                </c:pt>
                <c:pt idx="2">
                  <c:v>N 256</c:v>
                </c:pt>
                <c:pt idx="3">
                  <c:v>N 512</c:v>
                </c:pt>
                <c:pt idx="4">
                  <c:v>N 1024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2.92E-2</c:v>
                </c:pt>
                <c:pt idx="1">
                  <c:v>0.47149999999999997</c:v>
                </c:pt>
                <c:pt idx="2" formatCode="#,##0">
                  <c:v>7.1670999999999996</c:v>
                </c:pt>
                <c:pt idx="3">
                  <c:v>118.16200000000001</c:v>
                </c:pt>
                <c:pt idx="4" formatCode="#,##0">
                  <c:v>2537.8130000000001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9A-45BC-8682-668C40769E03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O(N^4)</c:v>
                </c:pt>
              </c:strCache>
            </c:strRef>
          </c:tx>
          <c:spPr>
            <a:ln w="22225" cap="rnd">
              <a:solidFill>
                <a:schemeClr val="accent2"/>
              </a:solidFill>
              <a:prstDash val="dash"/>
              <a:round/>
              <a:headEnd type="none"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Foglio1!$A$2:$A$6</c:f>
              <c:strCache>
                <c:ptCount val="5"/>
                <c:pt idx="0">
                  <c:v>N 64</c:v>
                </c:pt>
                <c:pt idx="1">
                  <c:v>N 128</c:v>
                </c:pt>
                <c:pt idx="2">
                  <c:v>N 256</c:v>
                </c:pt>
                <c:pt idx="3">
                  <c:v>N 512</c:v>
                </c:pt>
                <c:pt idx="4">
                  <c:v>N 1024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2.92E-2</c:v>
                </c:pt>
                <c:pt idx="1">
                  <c:v>0.4672</c:v>
                </c:pt>
                <c:pt idx="2">
                  <c:v>7.4752000000000001</c:v>
                </c:pt>
                <c:pt idx="3">
                  <c:v>119.6032</c:v>
                </c:pt>
                <c:pt idx="4">
                  <c:v>1913.6512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E9A-45BC-8682-668C40769E0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48093072"/>
        <c:axId val="163322976"/>
      </c:lineChart>
      <c:catAx>
        <c:axId val="1480930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64" b="0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63322976"/>
        <c:crossesAt val="1.0000000000000002E-2"/>
        <c:auto val="1"/>
        <c:lblAlgn val="ctr"/>
        <c:lblOffset val="100"/>
        <c:noMultiLvlLbl val="0"/>
      </c:catAx>
      <c:valAx>
        <c:axId val="1633229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480930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Tempi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3.2399999999999998E-2</c:v>
                </c:pt>
                <c:pt idx="1">
                  <c:v>2.3E-2</c:v>
                </c:pt>
                <c:pt idx="2">
                  <c:v>2.7400000000000001E-2</c:v>
                </c:pt>
                <c:pt idx="3">
                  <c:v>3.6700000000000003E-2</c:v>
                </c:pt>
                <c:pt idx="4">
                  <c:v>4.3499999999999997E-2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126-4A07-9811-EC39CEB3B034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0.46789999999999998</c:v>
                </c:pt>
                <c:pt idx="1">
                  <c:v>0.26119999999999999</c:v>
                </c:pt>
                <c:pt idx="2">
                  <c:v>0.20019999999999999</c:v>
                </c:pt>
                <c:pt idx="3">
                  <c:v>0.19070000000000001</c:v>
                </c:pt>
                <c:pt idx="4">
                  <c:v>0.26939999999999997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126-4A07-9811-EC39CEB3B034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Foglio1!$D$2:$D$6</c:f>
              <c:numCache>
                <c:formatCode>#,##0</c:formatCode>
                <c:ptCount val="5"/>
                <c:pt idx="0">
                  <c:v>7.1218000000000004</c:v>
                </c:pt>
                <c:pt idx="1">
                  <c:v>3.8228</c:v>
                </c:pt>
                <c:pt idx="2" formatCode="General">
                  <c:v>2.4794999999999998</c:v>
                </c:pt>
                <c:pt idx="3" formatCode="General">
                  <c:v>2.0785999999999998</c:v>
                </c:pt>
                <c:pt idx="4">
                  <c:v>2.9129999999999998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E126-4A07-9811-EC39CEB3B034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122.0479</c:v>
                </c:pt>
                <c:pt idx="1">
                  <c:v>63.9861</c:v>
                </c:pt>
                <c:pt idx="2" formatCode="#,##0">
                  <c:v>37.343000000000004</c:v>
                </c:pt>
                <c:pt idx="3" formatCode="#,##0">
                  <c:v>30.943200000000001</c:v>
                </c:pt>
                <c:pt idx="4">
                  <c:v>44.939799999999998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E126-4A07-9811-EC39CEB3B03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352876720"/>
        <c:axId val="351642016"/>
      </c:lineChart>
      <c:catAx>
        <c:axId val="352876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2016"/>
        <c:crossesAt val="1.0000000000000002E-2"/>
        <c:auto val="1"/>
        <c:lblAlgn val="ctr"/>
        <c:lblOffset val="100"/>
        <c:noMultiLvlLbl val="0"/>
      </c:catAx>
      <c:valAx>
        <c:axId val="351642016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it-IT" dirty="0"/>
                  <a:t>Secondi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2876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Speed</a:t>
            </a:r>
            <a:r>
              <a:rPr lang="en-US" baseline="0" noProof="0" dirty="0"/>
              <a:t>up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1</c:v>
                </c:pt>
                <c:pt idx="1">
                  <c:v>1.26</c:v>
                </c:pt>
                <c:pt idx="2">
                  <c:v>1.06</c:v>
                </c:pt>
                <c:pt idx="3">
                  <c:v>0.79</c:v>
                </c:pt>
                <c:pt idx="4">
                  <c:v>0.67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25B-4236-80F3-41BCFC5D0C76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1</c:v>
                </c:pt>
                <c:pt idx="1">
                  <c:v>1.87</c:v>
                </c:pt>
                <c:pt idx="2">
                  <c:v>2.44</c:v>
                </c:pt>
                <c:pt idx="3">
                  <c:v>2.56</c:v>
                </c:pt>
                <c:pt idx="4">
                  <c:v>1.81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25B-4236-80F3-41BCFC5D0C76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1</c:v>
                </c:pt>
                <c:pt idx="1">
                  <c:v>1.84</c:v>
                </c:pt>
                <c:pt idx="2">
                  <c:v>2.83</c:v>
                </c:pt>
                <c:pt idx="3">
                  <c:v>3.38</c:v>
                </c:pt>
                <c:pt idx="4">
                  <c:v>2.41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25B-4236-80F3-41BCFC5D0C76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</c:v>
                </c:pt>
                <c:pt idx="1">
                  <c:v>1.85</c:v>
                </c:pt>
                <c:pt idx="2">
                  <c:v>3.18</c:v>
                </c:pt>
                <c:pt idx="3">
                  <c:v>3.83</c:v>
                </c:pt>
                <c:pt idx="4">
                  <c:v>2.64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25B-4236-80F3-41BCFC5D0C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55103296"/>
        <c:axId val="351644896"/>
      </c:lineChart>
      <c:catAx>
        <c:axId val="455103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4896"/>
        <c:crosses val="autoZero"/>
        <c:auto val="1"/>
        <c:lblAlgn val="ctr"/>
        <c:lblOffset val="100"/>
        <c:noMultiLvlLbl val="0"/>
      </c:catAx>
      <c:valAx>
        <c:axId val="351644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455103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Efficienza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1</c:v>
                </c:pt>
                <c:pt idx="1">
                  <c:v>0.63</c:v>
                </c:pt>
                <c:pt idx="2">
                  <c:v>0.26</c:v>
                </c:pt>
                <c:pt idx="3">
                  <c:v>0.13</c:v>
                </c:pt>
                <c:pt idx="4">
                  <c:v>0.08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165-4582-A19D-E8195E3B2AAB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 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1</c:v>
                </c:pt>
                <c:pt idx="1">
                  <c:v>0.94</c:v>
                </c:pt>
                <c:pt idx="2">
                  <c:v>0.61</c:v>
                </c:pt>
                <c:pt idx="3">
                  <c:v>0.43</c:v>
                </c:pt>
                <c:pt idx="4">
                  <c:v>0.23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165-4582-A19D-E8195E3B2AAB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 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1</c:v>
                </c:pt>
                <c:pt idx="1">
                  <c:v>0.92</c:v>
                </c:pt>
                <c:pt idx="2">
                  <c:v>0.71</c:v>
                </c:pt>
                <c:pt idx="3">
                  <c:v>0.56000000000000005</c:v>
                </c:pt>
                <c:pt idx="4">
                  <c:v>0.3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165-4582-A19D-E8195E3B2AAB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</c:v>
                </c:pt>
                <c:pt idx="1">
                  <c:v>0.93</c:v>
                </c:pt>
                <c:pt idx="2">
                  <c:v>0.79</c:v>
                </c:pt>
                <c:pt idx="3">
                  <c:v>0.64</c:v>
                </c:pt>
                <c:pt idx="4">
                  <c:v>0.33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165-4582-A19D-E8195E3B2A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111376"/>
        <c:axId val="2099601759"/>
      </c:lineChart>
      <c:catAx>
        <c:axId val="18111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1759"/>
        <c:crosses val="autoZero"/>
        <c:auto val="1"/>
        <c:lblAlgn val="ctr"/>
        <c:lblOffset val="100"/>
        <c:noMultiLvlLbl val="0"/>
      </c:catAx>
      <c:valAx>
        <c:axId val="2099601759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8111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MPI</a:t>
            </a:r>
            <a:r>
              <a:rPr lang="it-IT" baseline="0" dirty="0"/>
              <a:t> + </a:t>
            </a:r>
            <a:r>
              <a:rPr lang="it-IT" baseline="0" dirty="0" err="1"/>
              <a:t>OpenMP</a:t>
            </a:r>
            <a:endParaRPr lang="it-IT" baseline="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2P X 3T</c:v>
                </c:pt>
                <c:pt idx="3">
                  <c:v>3P X 2T</c:v>
                </c:pt>
                <c:pt idx="4">
                  <c:v>4P X 2T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5.11E-2</c:v>
                </c:pt>
                <c:pt idx="1">
                  <c:v>3.4799999999999998E-2</c:v>
                </c:pt>
                <c:pt idx="2">
                  <c:v>0.28889999999999999</c:v>
                </c:pt>
                <c:pt idx="3">
                  <c:v>4.6899999999999997E-2</c:v>
                </c:pt>
                <c:pt idx="4">
                  <c:v>5.4699999999999999E-2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7FF-4268-907E-D80889D5D4F0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2P X 3T</c:v>
                </c:pt>
                <c:pt idx="3">
                  <c:v>3P X 2T</c:v>
                </c:pt>
                <c:pt idx="4">
                  <c:v>4P X 2T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0.48149999999999998</c:v>
                </c:pt>
                <c:pt idx="1">
                  <c:v>0.29759999999999998</c:v>
                </c:pt>
                <c:pt idx="2">
                  <c:v>1.2470000000000001</c:v>
                </c:pt>
                <c:pt idx="3">
                  <c:v>0.26750000000000002</c:v>
                </c:pt>
                <c:pt idx="4">
                  <c:v>0.36620000000000003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7FF-4268-907E-D80889D5D4F0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2P X 3T</c:v>
                </c:pt>
                <c:pt idx="3">
                  <c:v>3P X 2T</c:v>
                </c:pt>
                <c:pt idx="4">
                  <c:v>4P X 2T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6.9762000000000004</c:v>
                </c:pt>
                <c:pt idx="1">
                  <c:v>3.9447000000000001</c:v>
                </c:pt>
                <c:pt idx="2">
                  <c:v>7.8125</c:v>
                </c:pt>
                <c:pt idx="3">
                  <c:v>2.4386000000000001</c:v>
                </c:pt>
                <c:pt idx="4">
                  <c:v>3.1823999999999999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7FF-4268-907E-D80889D5D4F0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2P X 3T</c:v>
                </c:pt>
                <c:pt idx="3">
                  <c:v>3P X 2T</c:v>
                </c:pt>
                <c:pt idx="4">
                  <c:v>4P X 2T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106.91</c:v>
                </c:pt>
                <c:pt idx="1">
                  <c:v>62.448</c:v>
                </c:pt>
                <c:pt idx="2">
                  <c:v>85.797499999999999</c:v>
                </c:pt>
                <c:pt idx="3">
                  <c:v>31.348700000000001</c:v>
                </c:pt>
                <c:pt idx="4">
                  <c:v>42.302900000000001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7FF-4268-907E-D80889D5D4F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919494976"/>
        <c:axId val="2099607039"/>
      </c:lineChart>
      <c:catAx>
        <c:axId val="19194949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7039"/>
        <c:crossesAt val="1.0000000000000002E-2"/>
        <c:auto val="1"/>
        <c:lblAlgn val="ctr"/>
        <c:lblOffset val="100"/>
        <c:noMultiLvlLbl val="0"/>
      </c:catAx>
      <c:valAx>
        <c:axId val="2099607039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9194949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Speed</a:t>
            </a:r>
            <a:r>
              <a:rPr lang="en-US" baseline="0" noProof="0" dirty="0"/>
              <a:t>up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0.56999999999999995</c:v>
                </c:pt>
                <c:pt idx="1">
                  <c:v>0.83</c:v>
                </c:pt>
                <c:pt idx="2">
                  <c:v>0.62</c:v>
                </c:pt>
                <c:pt idx="3">
                  <c:v>0.1</c:v>
                </c:pt>
                <c:pt idx="4">
                  <c:v>0.53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F8-4D7E-BB29-1BF3D0F2D383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1.01</c:v>
                </c:pt>
                <c:pt idx="1">
                  <c:v>1.64</c:v>
                </c:pt>
                <c:pt idx="2">
                  <c:v>1.83</c:v>
                </c:pt>
                <c:pt idx="3">
                  <c:v>0.39</c:v>
                </c:pt>
                <c:pt idx="4">
                  <c:v>1.33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4F8-4D7E-BB29-1BF3D0F2D383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1.01</c:v>
                </c:pt>
                <c:pt idx="1">
                  <c:v>1.78</c:v>
                </c:pt>
                <c:pt idx="2">
                  <c:v>2.88</c:v>
                </c:pt>
                <c:pt idx="3">
                  <c:v>0.9</c:v>
                </c:pt>
                <c:pt idx="4">
                  <c:v>2.2000000000000002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4F8-4D7E-BB29-1BF3D0F2D383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1.1100000000000001</c:v>
                </c:pt>
                <c:pt idx="1">
                  <c:v>1.9</c:v>
                </c:pt>
                <c:pt idx="2">
                  <c:v>3.78</c:v>
                </c:pt>
                <c:pt idx="3">
                  <c:v>1.38</c:v>
                </c:pt>
                <c:pt idx="4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4F8-4D7E-BB29-1BF3D0F2D3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55103296"/>
        <c:axId val="351644896"/>
      </c:lineChart>
      <c:catAx>
        <c:axId val="455103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4896"/>
        <c:crosses val="autoZero"/>
        <c:auto val="1"/>
        <c:lblAlgn val="ctr"/>
        <c:lblOffset val="100"/>
        <c:noMultiLvlLbl val="0"/>
      </c:catAx>
      <c:valAx>
        <c:axId val="351644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455103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Efficienza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0.28000000000000003</c:v>
                </c:pt>
                <c:pt idx="1">
                  <c:v>0.21</c:v>
                </c:pt>
                <c:pt idx="2">
                  <c:v>0.1</c:v>
                </c:pt>
                <c:pt idx="3">
                  <c:v>0.02</c:v>
                </c:pt>
                <c:pt idx="4">
                  <c:v>7.0000000000000007E-2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161-4319-A33F-5AD92247EC23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 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0.51</c:v>
                </c:pt>
                <c:pt idx="1">
                  <c:v>0.41</c:v>
                </c:pt>
                <c:pt idx="2">
                  <c:v>0.3</c:v>
                </c:pt>
                <c:pt idx="3">
                  <c:v>7.0000000000000007E-2</c:v>
                </c:pt>
                <c:pt idx="4">
                  <c:v>0.17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161-4319-A33F-5AD92247EC23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 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0.5</c:v>
                </c:pt>
                <c:pt idx="1">
                  <c:v>0.44</c:v>
                </c:pt>
                <c:pt idx="2">
                  <c:v>0.48</c:v>
                </c:pt>
                <c:pt idx="3">
                  <c:v>0.15</c:v>
                </c:pt>
                <c:pt idx="4">
                  <c:v>0.28000000000000003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161-4319-A33F-5AD92247EC23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0.47</c:v>
                </c:pt>
                <c:pt idx="2">
                  <c:v>0.63</c:v>
                </c:pt>
                <c:pt idx="3">
                  <c:v>0.23</c:v>
                </c:pt>
                <c:pt idx="4">
                  <c:v>0.35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161-4319-A33F-5AD92247EC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111376"/>
        <c:axId val="2099601759"/>
      </c:lineChart>
      <c:catAx>
        <c:axId val="18111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1759"/>
        <c:crosses val="autoZero"/>
        <c:auto val="1"/>
        <c:lblAlgn val="ctr"/>
        <c:lblOffset val="100"/>
        <c:noMultiLvlLbl val="0"/>
      </c:catAx>
      <c:valAx>
        <c:axId val="2099601759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8111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512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6P MPI puro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30.383600000000001</c:v>
                </c:pt>
                <c:pt idx="1">
                  <c:v>33.0548</c:v>
                </c:pt>
                <c:pt idx="2">
                  <c:v>32.059199999999997</c:v>
                </c:pt>
                <c:pt idx="3">
                  <c:v>84.501400000000004</c:v>
                </c:pt>
                <c:pt idx="4">
                  <c:v>135.08580000000001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C5C-4F59-8F9D-B7EBE93834AE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1024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6P MPI puro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1889.0450000000001</c:v>
                </c:pt>
                <c:pt idx="1">
                  <c:v>1809.7681</c:v>
                </c:pt>
                <c:pt idx="2">
                  <c:v>1826.2143000000001</c:v>
                </c:pt>
                <c:pt idx="3">
                  <c:v>2052.5263</c:v>
                </c:pt>
                <c:pt idx="4">
                  <c:v>2210.7053999999998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C5C-4F59-8F9D-B7EBE93834A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819733263"/>
        <c:axId val="881292863"/>
      </c:barChart>
      <c:catAx>
        <c:axId val="819733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881292863"/>
        <c:crosses val="autoZero"/>
        <c:auto val="1"/>
        <c:lblAlgn val="ctr"/>
        <c:lblOffset val="100"/>
        <c:noMultiLvlLbl val="0"/>
      </c:catAx>
      <c:valAx>
        <c:axId val="8812928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81973326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0FD5F304-DC12-D4A8-51C3-B9E0003266CB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CD04EC8-A71D-908E-F4D8-BC63EF1B30CF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345BF391-7E6E-4620-98FD-023CDA366473}" type="datetime1">
              <a:rPr lang="it-IT"/>
              <a:pPr lvl="0"/>
              <a:t>11/07/2026</a:t>
            </a:fld>
            <a:endParaRPr lang="it-IT"/>
          </a:p>
        </p:txBody>
      </p:sp>
      <p:sp>
        <p:nvSpPr>
          <p:cNvPr id="4" name="Segnaposto immagine diapositiva 3">
            <a:extLst>
              <a:ext uri="{FF2B5EF4-FFF2-40B4-BE49-F238E27FC236}">
                <a16:creationId xmlns:a16="http://schemas.microsoft.com/office/drawing/2014/main" id="{DD8C2011-6F45-ABD3-A184-06D6BBFBC1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Segnaposto note 4">
            <a:extLst>
              <a:ext uri="{FF2B5EF4-FFF2-40B4-BE49-F238E27FC236}">
                <a16:creationId xmlns:a16="http://schemas.microsoft.com/office/drawing/2014/main" id="{BF2C5360-EC2A-4BE4-B733-8F784911D019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ADD83F7-AFD9-69C4-F4E7-E1159A3BFAF1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0C107DE-6ED6-8E78-4F3B-D4AC4F9742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DF8E85A9-1D11-4CA2-93D1-7F51BDFAA9B0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2345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671C149-41E3-9E10-9DFC-41A88BF72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4D6A1B5-99AB-D0AE-1D12-54639B7640E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AC1C25-44FC-B1CC-4798-51949EA2E14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761E351-D3CA-45FD-BB1A-67D5D6C020F8}" type="slidenum">
              <a:t>3</a:t>
            </a:fld>
            <a:endParaRPr lang="it-IT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4F33831-7FED-FB65-2E8D-1664B123CC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0D96929-5236-3E5C-3E06-897DB3BD77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3407EAF-AFE8-C37D-3A31-579F9A4AFB71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90D8501A-DB08-4F3A-B64F-B6EE730CFE4E}" type="slidenum">
              <a:t>4</a:t>
            </a:fld>
            <a:endParaRPr lang="it-IT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613000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544867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38135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707480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18E1E-A05F-5DD7-697E-A2191A10120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40080" y="1371600"/>
            <a:ext cx="6675120" cy="2951829"/>
          </a:xfrm>
        </p:spPr>
        <p:txBody>
          <a:bodyPr/>
          <a:lstStyle>
            <a:lvl1pPr>
              <a:defRPr sz="54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F402F6-1E53-79FC-AA3E-EEF14FE4F51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40080" y="4584874"/>
            <a:ext cx="6675120" cy="1287886"/>
          </a:xfrm>
        </p:spPr>
        <p:txBody>
          <a:bodyPr anchor="b"/>
          <a:lstStyle>
            <a:lvl1pPr marL="0" indent="0">
              <a:lnSpc>
                <a:spcPct val="130000"/>
              </a:lnSpc>
              <a:buNone/>
              <a:defRPr sz="1800" b="1" cap="all" spc="30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2D3A4-39F3-6E5D-D982-D981481861D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FCAB46A-6DD9-4F62-ABE0-FC90F728C7BD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950B3-5D2B-4556-C9E3-62810B9A7FD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0FB4D-0FAF-0D88-8449-634264DF080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CD1D701-E0DA-47E7-AE05-D4E81710CCC8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47895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97854-007B-F30C-587D-3208ACA4B7E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11CE00-00A5-86FC-948B-FC2F569CA08A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68B19-6079-D1DA-CC5C-7B48D39D181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B338F0-B854-43AE-9608-61F80A23B07E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54788-D612-8CED-4B8B-F3DC15B9113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0EF10-05C0-1527-A71D-C4015F6C8CE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6DD340A-BED0-4C8D-ADCE-4D8330FA3318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0214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F2E2230-E277-4A56-A5B8-1864A161682D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FF755F9-1EAC-67F2-7318-30ACBA82BE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291370"/>
            <a:ext cx="9214884" cy="3159974"/>
          </a:xfrm>
        </p:spPr>
        <p:txBody>
          <a:bodyPr anchor="b"/>
          <a:lstStyle>
            <a:lvl1pPr>
              <a:defRPr sz="54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C85201F-8730-1EB2-5957-4AE41A58FD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5018565"/>
            <a:ext cx="7907081" cy="107388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7A72495-7A31-FB4E-70FF-35120905D09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93E276-F7A9-4844-8194-3164C7EFB60D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ADCB569-0602-BA13-F47C-882939EDE7F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D3C7C61-A96A-4F50-B7D4-0F71149543B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C596049-FA60-4EA9-BEE1-079A3F4065C5}" type="slidenum">
              <a:t>‹N›</a:t>
            </a:fld>
            <a:endParaRPr lang="en-US"/>
          </a:p>
        </p:txBody>
      </p:sp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A14CEA97-11DB-E232-375E-B9506404D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16276" y="4715231"/>
            <a:ext cx="978866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3893543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218D4-DB96-DEB6-99D7-8A9947E0B52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E91BB-E403-6EB0-FF50-BE2517C6DC1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40080" y="2633472"/>
            <a:ext cx="5212080" cy="356616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924F30-953C-BB1B-2923-ED493A0F227B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318924" y="2633472"/>
            <a:ext cx="5212080" cy="356616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6E9E5F-E380-D58B-19A5-4A2AF1A7B9D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4EB2D0A-4E10-4794-ADEA-97748A83AB24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62D3E-A740-5D35-D228-7D60A31E65A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4E94B3-E737-4429-18B8-DC47B2540D6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BE14826-9D53-4503-B7BA-9E905D98A6A9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34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AD44E-AC61-408C-FE32-FF0FFB6204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10890924" cy="9397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E54060-7042-A891-855A-674324F0DB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2311356"/>
            <a:ext cx="5212080" cy="695373"/>
          </a:xfrm>
        </p:spPr>
        <p:txBody>
          <a:bodyPr anchor="b"/>
          <a:lstStyle>
            <a:lvl1pPr marL="0" indent="0">
              <a:buNone/>
              <a:defRPr sz="1800" b="1" cap="all" spc="3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A0C96-3FC1-E36F-23A0-9D210754DE92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40080" y="3006720"/>
            <a:ext cx="5212080" cy="319125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948FD6-4CAE-C640-8862-019A18216417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318924" y="2311356"/>
            <a:ext cx="5212080" cy="695373"/>
          </a:xfrm>
        </p:spPr>
        <p:txBody>
          <a:bodyPr anchor="b"/>
          <a:lstStyle>
            <a:lvl1pPr marL="0" indent="0">
              <a:buNone/>
              <a:defRPr sz="1800" b="1" cap="all" spc="3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FA119D-E12F-8859-CD2A-1BBDED9A2D5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318924" y="3006720"/>
            <a:ext cx="5212080" cy="319125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52FB1C-948E-16FC-30C6-321D5A86C1E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A0503B2-A64A-4185-816F-E5138D67B637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8B6FBF-CC0D-5AD6-C5D7-E2EFAD48F4E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33E7E9-23F4-1C80-C96F-43D998A6B67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ADB242E-E84B-412B-A59A-955B9853A614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49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D9474-98C0-50CE-71B1-C878FADA3DE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60EB5-2FB0-B130-DB15-6840F4DF4C2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5BFD29E-4622-48D4-BC35-30ADB7E99029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9C2154-04FA-855A-0AD4-24E648A5192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0B824F-23E2-520A-DE54-7401E4DE556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F53DF92-02FB-4AD2-8B20-13FAE105E26A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83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53B90D2-AFAF-0DBB-706C-7769C770398A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EE0256B8-E41F-1B65-99E2-0C2D9E0CDC7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68017F-0127-4BE8-A92F-7CA6D920EA84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46133EF3-8209-509B-B1A9-A00F958AB5B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F493F70F-F350-558E-D486-087255FC9BD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3DB8B9F-35C5-4A68-BDA4-6A6668A28501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226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A4AEE-0D14-3A7E-9914-CCFC362BEC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6F8D6-56D9-948D-E4D7-2F93513F80A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936516" y="1031004"/>
            <a:ext cx="6594488" cy="516635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DCEFEB-0B24-F688-B37D-AF6AD362C16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93F7E0-B488-10BC-07DB-FEDF669270B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AC66ADE-EAF2-4E0D-AB93-F35B2645C19A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8425B-1411-4F78-D92F-44C0C9A95FF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C228D5-B3F9-3D93-C887-6611498C8B4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637991E-FB36-4A7B-A351-D9504B9B2D26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97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EE4F1-F802-0F8D-8289-C175016D17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5D0501-4C57-BE47-FE07-5CDCEDDC4D2D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4937760" y="1033272"/>
            <a:ext cx="6592824" cy="5166359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1A70F4-0655-AC1A-5F68-6926FF51AA7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B67DFF-DF0C-DE7C-D9BD-9D52BCEC98A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59BCB41-B51A-4811-BCAB-ED3D313D0567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B701FD-7512-7B89-6688-82AB4E8C3E8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661D5-0F37-0188-A43E-84537491E48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8185BC8-9663-4640-8F71-4543BC393B00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12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3756D-F3B5-748C-0939-AC922EC853D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A7E810-1537-D698-1299-4DEF8A4BB7FB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DCAA9-A411-81D6-A62E-0D13FC8C748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2A8780D-DC3D-49DD-80BA-AF37FC030400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263A3-9FB6-9A75-B2AC-AA53E4D6A15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4A6464-9F98-1B21-2101-534E86595EE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D984466-FA15-43CB-AE6D-4D69DDB631C5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58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77266678-F30E-07F2-920F-53D76500685A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Vertical Title 1">
            <a:extLst>
              <a:ext uri="{FF2B5EF4-FFF2-40B4-BE49-F238E27FC236}">
                <a16:creationId xmlns:a16="http://schemas.microsoft.com/office/drawing/2014/main" id="{18036DFE-53E7-70C8-4896-C95BD26EB844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9209215" y="640080"/>
            <a:ext cx="1811773" cy="553688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Vertical Text Placeholder 2">
            <a:extLst>
              <a:ext uri="{FF2B5EF4-FFF2-40B4-BE49-F238E27FC236}">
                <a16:creationId xmlns:a16="http://schemas.microsoft.com/office/drawing/2014/main" id="{5F95A118-A0E7-D4D2-8182-A56ED99E59AF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5" cy="553688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87EE4BD-BBF9-1436-990D-2217A3020B1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64CF83D-396D-4087-A7AC-2608151ECF00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E849338-C2D6-8407-8E4E-D691CE6F2C7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79BBB22-08A0-22BE-D0D1-F62C34856AD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5351D8B-7ADE-4FC0-99A7-58577B95DC9C}" type="slidenum">
              <a:t>‹N›</a:t>
            </a:fld>
            <a:endParaRPr lang="en-US"/>
          </a:p>
        </p:txBody>
      </p:sp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A87DA102-F641-EB77-9948-8ADA4644D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rot="5400013">
            <a:off x="10872151" y="1192441"/>
            <a:ext cx="978866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4175948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D37AC1-8440-D728-05D7-61A7564CB3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10890924" cy="109728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A0D1E-B902-0F7E-C6F8-4FE3778DA9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2633472"/>
            <a:ext cx="10890924" cy="356616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A8CF2-FFE6-36F9-7020-F06ABE00D029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40080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fld id="{CCE64167-1427-45D0-A173-8E84E9565017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C12E7-92FF-79F3-A0E3-055E3D740048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6767620" y="6356351"/>
            <a:ext cx="404037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806C81-6671-F98A-4CEB-06F645AF095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0807997" y="6356351"/>
            <a:ext cx="72301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fld id="{75831271-C9A9-478D-8814-89D844B950B5}" type="slidenum">
              <a:t>‹N›</a:t>
            </a:fld>
            <a:endParaRPr lang="en-US"/>
          </a:p>
        </p:txBody>
      </p:sp>
      <p:cxnSp>
        <p:nvCxnSpPr>
          <p:cNvPr id="7" name="Straight Connector 8">
            <a:extLst>
              <a:ext uri="{FF2B5EF4-FFF2-40B4-BE49-F238E27FC236}">
                <a16:creationId xmlns:a16="http://schemas.microsoft.com/office/drawing/2014/main" id="{237754E6-2D02-BD27-6F7A-292255E4A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000" b="1" i="0" u="none" strike="noStrike" kern="1200" cap="none" spc="0" baseline="0">
          <a:solidFill>
            <a:srgbClr val="000000"/>
          </a:solidFill>
          <a:uFillTx/>
          <a:latin typeface="Grandview Display"/>
        </a:defRPr>
      </a:lvl1pPr>
    </p:titleStyle>
    <p:bodyStyle>
      <a:lvl1pPr marL="228600" marR="0" lvl="0" indent="-228600" algn="l" defTabSz="914400" rtl="0" fontAlgn="auto" hangingPunct="1">
        <a:lnSpc>
          <a:spcPct val="120000"/>
        </a:lnSpc>
        <a:spcBef>
          <a:spcPts val="1000"/>
        </a:spcBef>
        <a:spcAft>
          <a:spcPts val="0"/>
        </a:spcAft>
        <a:buSzPct val="87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1pPr>
      <a:lvl2pPr marL="493776" marR="0" lvl="1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2pPr>
      <a:lvl3pPr marL="731520" marR="0" lvl="2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6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3pPr>
      <a:lvl4pPr marL="1051560" marR="0" lvl="3" indent="-28575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4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4pPr>
      <a:lvl5pPr marL="1298448" marR="0" lvl="4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4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45A4658C-D57B-BA92-4666-21A85E77B5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A13F1CD9-C69F-53C0-A91F-E7F06CD466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451" r="9091" b="28413"/>
          <a:stretch>
            <a:fillRect/>
          </a:stretch>
        </p:blipFill>
        <p:spPr>
          <a:xfrm>
            <a:off x="0" y="0"/>
            <a:ext cx="12191996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Rectangle 33">
            <a:extLst>
              <a:ext uri="{FF2B5EF4-FFF2-40B4-BE49-F238E27FC236}">
                <a16:creationId xmlns:a16="http://schemas.microsoft.com/office/drawing/2014/main" id="{CB8B7AC9-9F77-410D-0744-F31B0A6A18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5400013">
            <a:off x="-173179" y="173178"/>
            <a:ext cx="6858000" cy="651164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17000"/>
                </a:srgbClr>
              </a:gs>
            </a:gsLst>
            <a:lin ang="5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Neue Haas Grotesk Text Pro"/>
            </a:endParaRPr>
          </a:p>
        </p:txBody>
      </p:sp>
      <p:sp>
        <p:nvSpPr>
          <p:cNvPr id="5" name="Titolo 1">
            <a:extLst>
              <a:ext uri="{FF2B5EF4-FFF2-40B4-BE49-F238E27FC236}">
                <a16:creationId xmlns:a16="http://schemas.microsoft.com/office/drawing/2014/main" id="{C5FBAED7-8105-083A-C09C-BA1D1DFB11D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57190" y="701966"/>
            <a:ext cx="5370947" cy="3640299"/>
          </a:xfrm>
        </p:spPr>
        <p:txBody>
          <a:bodyPr/>
          <a:lstStyle/>
          <a:p>
            <a:pPr lvl="0"/>
            <a:r>
              <a:rPr lang="it-IT" sz="6000">
                <a:solidFill>
                  <a:srgbClr val="FFFFFF"/>
                </a:solidFill>
              </a:rPr>
              <a:t>Simulazione della Diffusione del Calore 2D </a:t>
            </a:r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DEA79D2B-AE31-C718-ADF2-54354400ACB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68090" y="5253054"/>
            <a:ext cx="3888421" cy="969264"/>
          </a:xfrm>
        </p:spPr>
        <p:txBody>
          <a:bodyPr anchor="t"/>
          <a:lstStyle/>
          <a:p>
            <a:pPr lvl="0">
              <a:lnSpc>
                <a:spcPct val="120000"/>
              </a:lnSpc>
            </a:pPr>
            <a:r>
              <a:rPr lang="it-IT" sz="1400">
                <a:solidFill>
                  <a:srgbClr val="FFFFFF"/>
                </a:solidFill>
              </a:rPr>
              <a:t>Progetto di Principi della Programmazione Parallela</a:t>
            </a:r>
          </a:p>
          <a:p>
            <a:pPr lvl="0">
              <a:lnSpc>
                <a:spcPct val="120000"/>
              </a:lnSpc>
            </a:pPr>
            <a:r>
              <a:rPr lang="it-IT" sz="1400">
                <a:solidFill>
                  <a:srgbClr val="FFFFFF"/>
                </a:solidFill>
              </a:rPr>
              <a:t>Proff. Sciacca e Vitello</a:t>
            </a:r>
          </a:p>
        </p:txBody>
      </p:sp>
      <p:cxnSp>
        <p:nvCxnSpPr>
          <p:cNvPr id="7" name="Straight Connector 35">
            <a:extLst>
              <a:ext uri="{FF2B5EF4-FFF2-40B4-BE49-F238E27FC236}">
                <a16:creationId xmlns:a16="http://schemas.microsoft.com/office/drawing/2014/main" id="{6253D43F-58E3-FD2B-DBF5-AAC52B7859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540328" y="4861206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FAC486-3969-4E6E-C1C8-8D0A4050C26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3200"/>
              <a:t>Equazione del Calore 2D </a:t>
            </a:r>
            <a:br>
              <a:rPr lang="it-IT" sz="3200"/>
            </a:br>
            <a:endParaRPr lang="it-IT"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A3D2EA2-022E-A1B6-ACCC-2FF28B82A258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it-IT"/>
                  <a:t>L’idea di questo progetto è quello di simulare la diffusione del calore su una griglia N x N sottoposta a diverse fonti di calore che provengono dai lati della griglia a diverse temperature. </a:t>
                </a:r>
              </a:p>
              <a:p>
                <a:pPr lvl="0"/>
                <a:r>
                  <a:rPr lang="it-IT"/>
                  <a:t>Il calcolo del calore per ogni punto è dato dalla seguente equazione:</a:t>
                </a:r>
              </a:p>
              <a:p>
                <a:pPr marL="0" lvl="0" indent="0">
                  <a:buNone/>
                </a:pPr>
                <a:endParaRPr lang="it-IT" i="1">
                  <a:latin typeface="Cambria Math" pitchFamily="18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it-IT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f>
                        <m:fPr>
                          <m:type m:val="lin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it-IT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it-IT">
                          <a:latin typeface="Cambria Math" panose="02040503050406030204" pitchFamily="18" charset="0"/>
                        </a:rPr>
                        <m:t>.0</m:t>
                      </m:r>
                    </m:oMath>
                  </m:oMathPara>
                </a14:m>
                <a:endParaRPr lang="it-IT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A3D2EA2-022E-A1B6-ACCC-2FF28B82A25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36" t="-171" r="-4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AC448C-2EF1-E7BA-8D18-3C24267D4A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0531" y="171450"/>
            <a:ext cx="10890924" cy="1097280"/>
          </a:xfrm>
        </p:spPr>
        <p:txBody>
          <a:bodyPr/>
          <a:lstStyle/>
          <a:p>
            <a:pPr lvl="0"/>
            <a:r>
              <a:rPr lang="it-IT"/>
              <a:t>Equazione del calore 2D</a:t>
            </a:r>
          </a:p>
        </p:txBody>
      </p:sp>
      <p:pic>
        <p:nvPicPr>
          <p:cNvPr id="3" name="Immagine 4">
            <a:extLst>
              <a:ext uri="{FF2B5EF4-FFF2-40B4-BE49-F238E27FC236}">
                <a16:creationId xmlns:a16="http://schemas.microsoft.com/office/drawing/2014/main" id="{0B678F58-BEBD-2281-300A-944489C5E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1" y="1154430"/>
            <a:ext cx="10779468" cy="5600718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C1CA7EE3-E58C-6FAF-7A88-B65E8D3814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D247F251-46FD-00B6-B3B0-92C20AFA32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5737860" cy="1097280"/>
          </a:xfrm>
        </p:spPr>
        <p:txBody>
          <a:bodyPr/>
          <a:lstStyle/>
          <a:p>
            <a:pPr lvl="0"/>
            <a:r>
              <a:rPr lang="it-IT"/>
              <a:t>Equazione del calore 2D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egnaposto contenuto 2">
                <a:extLst>
                  <a:ext uri="{FF2B5EF4-FFF2-40B4-BE49-F238E27FC236}">
                    <a16:creationId xmlns:a16="http://schemas.microsoft.com/office/drawing/2014/main" id="{BD464422-580D-3CDD-0AB9-3E8A3C7FA1EF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640080" y="2633234"/>
                <a:ext cx="5737860" cy="3666981"/>
              </a:xfrm>
            </p:spPr>
            <p:txBody>
              <a:bodyPr/>
              <a:lstStyle/>
              <a:p>
                <a:pPr lvl="0">
                  <a:lnSpc>
                    <a:spcPct val="110000"/>
                  </a:lnSpc>
                </a:pPr>
                <a:r>
                  <a:rPr lang="it-IT" sz="1900" dirty="0"/>
                  <a:t>La complessità di una singola iterazione del do-while è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it-IT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it-IT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sz="1900" dirty="0"/>
                  <a:t> a causa dei due cicli for annidati. </a:t>
                </a:r>
              </a:p>
              <a:p>
                <a:pPr lvl="0">
                  <a:lnSpc>
                    <a:spcPct val="110000"/>
                  </a:lnSpc>
                </a:pPr>
                <a:r>
                  <a:rPr lang="it-IT" sz="1900" dirty="0"/>
                  <a:t>Il do-while viene eseguito un numero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sz="1900" dirty="0"/>
                  <a:t> di volte che cresce all’aumentare non solo di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900" dirty="0"/>
                  <a:t>ma anche in base al valore di convergenza impostato. Di fatto, ciò rende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900" dirty="0"/>
                  <a:t>un valore assolutamente non trascurabile che, dai dati raccolti sembra essere circa un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it-IT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sz="1900" dirty="0"/>
              </a:p>
              <a:p>
                <a:pPr lvl="0">
                  <a:lnSpc>
                    <a:spcPct val="110000"/>
                  </a:lnSpc>
                </a:pPr>
                <a:r>
                  <a:rPr lang="it-IT" sz="1900" dirty="0"/>
                  <a:t>Di fatto dunque la risoluzione ha un costo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it-IT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lit/>
                          </m:rPr>
                          <a:rPr lang="it-IT">
                            <a:latin typeface="Cambria Math" panose="02040503050406030204" pitchFamily="18" charset="0"/>
                          </a:rPr>
                          <m:t>^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it-IT" sz="1900" dirty="0"/>
                  <a:t> che è circa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  <m:r>
                      <a:rPr lang="it-IT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sz="1900" dirty="0"/>
              </a:p>
              <a:p>
                <a:pPr lvl="0">
                  <a:lnSpc>
                    <a:spcPct val="110000"/>
                  </a:lnSpc>
                </a:pPr>
                <a:endParaRPr lang="it-IT" sz="1900" dirty="0"/>
              </a:p>
            </p:txBody>
          </p:sp>
        </mc:Choice>
        <mc:Fallback xmlns="">
          <p:sp>
            <p:nvSpPr>
              <p:cNvPr id="5" name="Segnaposto contenuto 2">
                <a:extLst>
                  <a:ext uri="{FF2B5EF4-FFF2-40B4-BE49-F238E27FC236}">
                    <a16:creationId xmlns:a16="http://schemas.microsoft.com/office/drawing/2014/main" id="{BD464422-580D-3CDD-0AB9-3E8A3C7FA1E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80" y="2633234"/>
                <a:ext cx="5737860" cy="3666981"/>
              </a:xfrm>
              <a:blipFill>
                <a:blip r:embed="rId3"/>
                <a:stretch>
                  <a:fillRect l="-425" t="-998" b="-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11">
            <a:extLst>
              <a:ext uri="{FF2B5EF4-FFF2-40B4-BE49-F238E27FC236}">
                <a16:creationId xmlns:a16="http://schemas.microsoft.com/office/drawing/2014/main" id="{F32C8394-2663-8B79-96F7-9656E874A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pic>
        <p:nvPicPr>
          <p:cNvPr id="6" name="Immagine 4">
            <a:extLst>
              <a:ext uri="{FF2B5EF4-FFF2-40B4-BE49-F238E27FC236}">
                <a16:creationId xmlns:a16="http://schemas.microsoft.com/office/drawing/2014/main" id="{8A25A3A0-DFA6-84CE-C423-C2EAA61EF8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0" y="1031004"/>
            <a:ext cx="5494016" cy="5480282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6">
            <a:extLst>
              <a:ext uri="{FF2B5EF4-FFF2-40B4-BE49-F238E27FC236}">
                <a16:creationId xmlns:a16="http://schemas.microsoft.com/office/drawing/2014/main" id="{D90661F3-5169-F132-5576-226FCE4CF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5781F44E-E62B-7DDC-80D2-114A278CD9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93144" y="1371600"/>
            <a:ext cx="5737860" cy="1097280"/>
          </a:xfrm>
        </p:spPr>
        <p:txBody>
          <a:bodyPr/>
          <a:lstStyle/>
          <a:p>
            <a:pPr lvl="0"/>
            <a:r>
              <a:rPr lang="it-IT"/>
              <a:t>Hardware di Test</a:t>
            </a: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990AC120-5871-FA03-4779-5764D82911E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793144" y="2633234"/>
            <a:ext cx="5737860" cy="3666981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it-IT" sz="1400" b="1" dirty="0"/>
              <a:t>Processore:</a:t>
            </a:r>
            <a:r>
              <a:rPr lang="it-IT" sz="1400" dirty="0"/>
              <a:t> AMD Ryzen 5 5500U (Architettura Zen 2 / Lucienne, x86_64)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Topologia Core:</a:t>
            </a:r>
            <a:r>
              <a:rPr lang="it-IT" sz="1400" dirty="0"/>
              <a:t> 6 Core Fisici / 12 Core Logici (Thread per core: 2, SMT abilitato)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Frequenza di Clock:</a:t>
            </a:r>
            <a:r>
              <a:rPr lang="it-IT" sz="1400" dirty="0"/>
              <a:t> Base 2.10 GHz / Max Boost 4.05 GHz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Sottosistema di Cache:</a:t>
            </a:r>
            <a:endParaRPr lang="it-IT" sz="1400" dirty="0"/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L1d:</a:t>
            </a:r>
            <a:r>
              <a:rPr lang="it-IT" sz="1400" dirty="0"/>
              <a:t> 192 </a:t>
            </a:r>
            <a:r>
              <a:rPr lang="it-IT" sz="1400" dirty="0" err="1"/>
              <a:t>KiB</a:t>
            </a:r>
            <a:r>
              <a:rPr lang="it-IT" sz="1400" dirty="0"/>
              <a:t> totali </a:t>
            </a:r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L2:</a:t>
            </a:r>
            <a:r>
              <a:rPr lang="it-IT" sz="1400" dirty="0"/>
              <a:t> 3 </a:t>
            </a:r>
            <a:r>
              <a:rPr lang="it-IT" sz="1400" dirty="0" err="1"/>
              <a:t>MiB</a:t>
            </a:r>
            <a:r>
              <a:rPr lang="it-IT" sz="1400" dirty="0"/>
              <a:t> totali </a:t>
            </a:r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L3:</a:t>
            </a:r>
            <a:r>
              <a:rPr lang="it-IT" sz="1400" dirty="0"/>
              <a:t> </a:t>
            </a:r>
            <a:r>
              <a:rPr lang="it-IT" sz="1400" b="1" dirty="0"/>
              <a:t>8 </a:t>
            </a:r>
            <a:r>
              <a:rPr lang="it-IT" sz="1400" b="1" dirty="0" err="1"/>
              <a:t>MiB</a:t>
            </a:r>
            <a:r>
              <a:rPr lang="it-IT" sz="1400" b="1" dirty="0"/>
              <a:t> totali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Memoria RAM:</a:t>
            </a:r>
            <a:r>
              <a:rPr lang="it-IT" sz="1400" dirty="0"/>
              <a:t> 8 GB DDR4 (Memoria disponibile a sistema: ~5.8 GB unificati)</a:t>
            </a:r>
          </a:p>
          <a:p>
            <a:pPr lvl="0">
              <a:lnSpc>
                <a:spcPct val="110000"/>
              </a:lnSpc>
            </a:pPr>
            <a:endParaRPr lang="it-IT" sz="1400" dirty="0"/>
          </a:p>
        </p:txBody>
      </p:sp>
      <p:pic>
        <p:nvPicPr>
          <p:cNvPr id="4" name="Immagine 3" descr="Laptop - Free computer icons">
            <a:extLst>
              <a:ext uri="{FF2B5EF4-FFF2-40B4-BE49-F238E27FC236}">
                <a16:creationId xmlns:a16="http://schemas.microsoft.com/office/drawing/2014/main" id="{EF55B225-28F9-7619-E718-3F8996620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56816"/>
            <a:ext cx="4343400" cy="4343400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5" name="Straight Connector 18">
            <a:extLst>
              <a:ext uri="{FF2B5EF4-FFF2-40B4-BE49-F238E27FC236}">
                <a16:creationId xmlns:a16="http://schemas.microsoft.com/office/drawing/2014/main" id="{ACDE3FF2-512B-7B1F-69B9-3C6656A83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5866296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>
            <a:extLst>
              <a:ext uri="{FF2B5EF4-FFF2-40B4-BE49-F238E27FC236}">
                <a16:creationId xmlns:a16="http://schemas.microsoft.com/office/drawing/2014/main" id="{944F8663-AD2B-71DE-BB24-E6DB91A29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CB916E8E-B538-4ECD-8787-31BCA5695B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5752097" cy="1097280"/>
          </a:xfrm>
        </p:spPr>
        <p:txBody>
          <a:bodyPr/>
          <a:lstStyle/>
          <a:p>
            <a:pPr lvl="0">
              <a:lnSpc>
                <a:spcPct val="90000"/>
              </a:lnSpc>
            </a:pPr>
            <a:r>
              <a:rPr lang="it-IT" sz="3400"/>
              <a:t>Codice Sequenziale – Inizializzazione </a:t>
            </a:r>
          </a:p>
        </p:txBody>
      </p:sp>
      <p:cxnSp>
        <p:nvCxnSpPr>
          <p:cNvPr id="4" name="Straight Connector 16">
            <a:extLst>
              <a:ext uri="{FF2B5EF4-FFF2-40B4-BE49-F238E27FC236}">
                <a16:creationId xmlns:a16="http://schemas.microsoft.com/office/drawing/2014/main" id="{4B4A4741-CD6F-F14C-2C75-2D89C8531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sp>
        <p:nvSpPr>
          <p:cNvPr id="5" name="CasellaDiTesto 9">
            <a:extLst>
              <a:ext uri="{FF2B5EF4-FFF2-40B4-BE49-F238E27FC236}">
                <a16:creationId xmlns:a16="http://schemas.microsoft.com/office/drawing/2014/main" id="{A4F720BC-BF1E-2762-F1AE-D8C4D0DD667A}"/>
              </a:ext>
            </a:extLst>
          </p:cNvPr>
          <p:cNvSpPr txBox="1"/>
          <p:nvPr/>
        </p:nvSpPr>
        <p:spPr>
          <a:xfrm>
            <a:off x="640070" y="2468880"/>
            <a:ext cx="5752097" cy="366171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 Per inizializzare la matrice, si avevano principalmente due scelte:</a:t>
            </a:r>
          </a:p>
          <a:p>
            <a:pPr marL="742950" marR="0" lvl="1" indent="-28575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1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Inizializzazione con Calloc multipla: </a:t>
            </a: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chiamare più volte la calloc, genera più sequenze di memorie contigue ma che, tra di loro, non lo sono, rischiando di avere un maggior numero di cache miss.</a:t>
            </a:r>
          </a:p>
          <a:p>
            <a:pPr marL="742950" marR="0" lvl="1" indent="-28575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1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Inizializzazione con Calloc singola: </a:t>
            </a: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utilizzare una singola calloc fa sì che otteniamo una sola sequenza di memoria contigua che siamo, però, costretti a gestire come una matrice attraverso l’aritmetica dei puntatori.</a:t>
            </a:r>
            <a:endParaRPr lang="it-IT" sz="1700" b="1" i="0" u="none" strike="noStrike" kern="1200" cap="none" spc="0" baseline="0">
              <a:solidFill>
                <a:srgbClr val="000000"/>
              </a:solidFill>
              <a:uFillTx/>
              <a:latin typeface="Grandview Display"/>
            </a:endParaRPr>
          </a:p>
        </p:txBody>
      </p:sp>
      <p:pic>
        <p:nvPicPr>
          <p:cNvPr id="6" name="Immagine 19">
            <a:extLst>
              <a:ext uri="{FF2B5EF4-FFF2-40B4-BE49-F238E27FC236}">
                <a16:creationId xmlns:a16="http://schemas.microsoft.com/office/drawing/2014/main" id="{713378E9-E6FF-EEDF-1950-B37DC265A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477" y="1752593"/>
            <a:ext cx="4929448" cy="192426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7" name="Immagine 21">
            <a:extLst>
              <a:ext uri="{FF2B5EF4-FFF2-40B4-BE49-F238E27FC236}">
                <a16:creationId xmlns:a16="http://schemas.microsoft.com/office/drawing/2014/main" id="{FF24AF6D-034E-8165-B5D2-996127182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57" t="26947" r="1930" b="20209"/>
          <a:stretch>
            <a:fillRect/>
          </a:stretch>
        </p:blipFill>
        <p:spPr>
          <a:xfrm>
            <a:off x="4057650" y="5914531"/>
            <a:ext cx="8134346" cy="428625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8" name="Connettore 2 23">
            <a:extLst>
              <a:ext uri="{FF2B5EF4-FFF2-40B4-BE49-F238E27FC236}">
                <a16:creationId xmlns:a16="http://schemas.microsoft.com/office/drawing/2014/main" id="{45D98BFC-4BC3-9717-AF1D-C0DEA6B5E8E0}"/>
              </a:ext>
            </a:extLst>
          </p:cNvPr>
          <p:cNvCxnSpPr/>
          <p:nvPr/>
        </p:nvCxnSpPr>
        <p:spPr>
          <a:xfrm>
            <a:off x="6053584" y="5399678"/>
            <a:ext cx="677168" cy="456706"/>
          </a:xfrm>
          <a:prstGeom prst="straightConnector1">
            <a:avLst/>
          </a:prstGeom>
          <a:noFill/>
          <a:ln w="6345" cap="flat">
            <a:solidFill>
              <a:srgbClr val="FD0505"/>
            </a:solidFill>
            <a:prstDash val="solid"/>
            <a:miter/>
            <a:tailEnd type="arrow"/>
          </a:ln>
        </p:spPr>
      </p:cxnSp>
      <p:cxnSp>
        <p:nvCxnSpPr>
          <p:cNvPr id="9" name="Connettore 2 25">
            <a:extLst>
              <a:ext uri="{FF2B5EF4-FFF2-40B4-BE49-F238E27FC236}">
                <a16:creationId xmlns:a16="http://schemas.microsoft.com/office/drawing/2014/main" id="{60CE1441-FF5F-E5CA-CD04-09FCE4A3AE57}"/>
              </a:ext>
            </a:extLst>
          </p:cNvPr>
          <p:cNvCxnSpPr/>
          <p:nvPr/>
        </p:nvCxnSpPr>
        <p:spPr>
          <a:xfrm flipV="1">
            <a:off x="6060496" y="3297362"/>
            <a:ext cx="561981" cy="485775"/>
          </a:xfrm>
          <a:prstGeom prst="straightConnector1">
            <a:avLst/>
          </a:prstGeom>
          <a:noFill/>
          <a:ln w="6345" cap="flat">
            <a:solidFill>
              <a:srgbClr val="FF0000"/>
            </a:solidFill>
            <a:prstDash val="solid"/>
            <a:miter/>
            <a:tailEnd type="arrow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26">
            <a:extLst>
              <a:ext uri="{FF2B5EF4-FFF2-40B4-BE49-F238E27FC236}">
                <a16:creationId xmlns:a16="http://schemas.microsoft.com/office/drawing/2014/main" id="{AD6A9582-B99B-9961-F23E-15048402B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sp>
        <p:nvSpPr>
          <p:cNvPr id="3" name="Rectangle 28">
            <a:extLst>
              <a:ext uri="{FF2B5EF4-FFF2-40B4-BE49-F238E27FC236}">
                <a16:creationId xmlns:a16="http://schemas.microsoft.com/office/drawing/2014/main" id="{EB4964EA-2F1C-8554-BB67-41F919357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D3B14F1A-AE47-96E9-46A8-1753BF636D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2572" y="1171145"/>
            <a:ext cx="10168109" cy="955511"/>
          </a:xfrm>
        </p:spPr>
        <p:txBody>
          <a:bodyPr anchorCtr="1"/>
          <a:lstStyle/>
          <a:p>
            <a:pPr lvl="0" algn="ctr"/>
            <a:r>
              <a:rPr lang="en-US" sz="4800"/>
              <a:t>Codice sequenziale – Inizializzazione</a:t>
            </a:r>
          </a:p>
        </p:txBody>
      </p:sp>
      <p:pic>
        <p:nvPicPr>
          <p:cNvPr id="7" name="Segnaposto contenuto 14">
            <a:extLst>
              <a:ext uri="{FF2B5EF4-FFF2-40B4-BE49-F238E27FC236}">
                <a16:creationId xmlns:a16="http://schemas.microsoft.com/office/drawing/2014/main" id="{0292EFF8-4FA1-70F6-F391-BA6B1279DD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3232" y="2829427"/>
            <a:ext cx="5497180" cy="1662900"/>
          </a:xfrm>
        </p:spPr>
      </p:pic>
      <p:cxnSp>
        <p:nvCxnSpPr>
          <p:cNvPr id="5" name="Straight Connector 30">
            <a:extLst>
              <a:ext uri="{FF2B5EF4-FFF2-40B4-BE49-F238E27FC236}">
                <a16:creationId xmlns:a16="http://schemas.microsoft.com/office/drawing/2014/main" id="{681B5981-0C85-F4D8-89AB-50AD2F3FBF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992572" y="914400"/>
            <a:ext cx="10208828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pic>
        <p:nvPicPr>
          <p:cNvPr id="6" name="Immagine 10">
            <a:extLst>
              <a:ext uri="{FF2B5EF4-FFF2-40B4-BE49-F238E27FC236}">
                <a16:creationId xmlns:a16="http://schemas.microsoft.com/office/drawing/2014/main" id="{79DF628D-778A-1C99-7016-8FF69650C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100" y="2842531"/>
            <a:ext cx="4504572" cy="32996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Immagine 16">
            <a:extLst>
              <a:ext uri="{FF2B5EF4-FFF2-40B4-BE49-F238E27FC236}">
                <a16:creationId xmlns:a16="http://schemas.microsoft.com/office/drawing/2014/main" id="{44074279-E68C-46AF-3B6F-C707D6413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4731343"/>
            <a:ext cx="5582128" cy="1038895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3">
            <a:extLst>
              <a:ext uri="{FF2B5EF4-FFF2-40B4-BE49-F238E27FC236}">
                <a16:creationId xmlns:a16="http://schemas.microsoft.com/office/drawing/2014/main" id="{1ECE44B2-0531-C49F-9642-A6D061DD6B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68C60361-B12E-7645-60B3-1E30E20431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914400"/>
            <a:ext cx="10847490" cy="1171072"/>
          </a:xfrm>
        </p:spPr>
        <p:txBody>
          <a:bodyPr/>
          <a:lstStyle/>
          <a:p>
            <a:pPr lvl="0"/>
            <a:r>
              <a:rPr lang="it-IT"/>
              <a:t>Codice sequenziale – Calcolo</a:t>
            </a:r>
          </a:p>
        </p:txBody>
      </p:sp>
      <p:sp>
        <p:nvSpPr>
          <p:cNvPr id="5" name="Segnaposto contenuto 6">
            <a:extLst>
              <a:ext uri="{FF2B5EF4-FFF2-40B4-BE49-F238E27FC236}">
                <a16:creationId xmlns:a16="http://schemas.microsoft.com/office/drawing/2014/main" id="{D5A1F5DD-D28A-D669-AE59-1485BE570D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915149" y="2256291"/>
            <a:ext cx="4563614" cy="3760460"/>
          </a:xfrm>
        </p:spPr>
        <p:txBody>
          <a:bodyPr/>
          <a:lstStyle/>
          <a:p>
            <a:pPr lvl="0"/>
            <a:r>
              <a:rPr lang="it-IT"/>
              <a:t>Il codice sequenziale, banalmente, ricalca alla perfezione quello che è lo pseudocodice visto precedentemente.</a:t>
            </a:r>
          </a:p>
        </p:txBody>
      </p:sp>
      <p:pic>
        <p:nvPicPr>
          <p:cNvPr id="4" name="Immagine 8">
            <a:extLst>
              <a:ext uri="{FF2B5EF4-FFF2-40B4-BE49-F238E27FC236}">
                <a16:creationId xmlns:a16="http://schemas.microsoft.com/office/drawing/2014/main" id="{F3FBECBC-2AE3-5176-B827-DE37CB5AE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207" y="1499936"/>
            <a:ext cx="6401943" cy="4657414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6" name="Straight Connector 25">
            <a:extLst>
              <a:ext uri="{FF2B5EF4-FFF2-40B4-BE49-F238E27FC236}">
                <a16:creationId xmlns:a16="http://schemas.microsoft.com/office/drawing/2014/main" id="{8A47BDFE-DFF4-5677-E6A3-FEE9244A4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672248" y="6272783"/>
            <a:ext cx="10847500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3C7B53-044B-5D21-F353-72BFB7AA585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pPr lvl="0"/>
            <a:r>
              <a:rPr lang="it-IT"/>
              <a:t>MPI– Topologia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C30C96-647A-C38B-E01A-D925D137F510}"/>
              </a:ext>
            </a:extLst>
          </p:cNvPr>
          <p:cNvSpPr txBox="1"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pPr lvl="0"/>
            <a:r>
              <a:rPr lang="it-IT" dirty="0"/>
              <a:t>La matrice viene divisa secondo un partizionamento orizzontale cercando di assegnare ad ogni processo un </a:t>
            </a:r>
            <a:r>
              <a:rPr lang="it-IT" b="1" dirty="0"/>
              <a:t>numero equo di righe da calcolare.</a:t>
            </a:r>
          </a:p>
          <a:p>
            <a:pPr lvl="0"/>
            <a:r>
              <a:rPr lang="it-IT" dirty="0"/>
              <a:t>Grazie all’uso di </a:t>
            </a:r>
            <a:r>
              <a:rPr lang="it-IT" b="1" dirty="0" err="1"/>
              <a:t>MPI_Cart_create</a:t>
            </a:r>
            <a:r>
              <a:rPr lang="it-IT" dirty="0"/>
              <a:t>, è possibile effettuare questo tipo di decomposizione molto facilmente gestendo facilmente l’identificazione e lo scambio di messaggi con i vicini tramite le </a:t>
            </a:r>
            <a:r>
              <a:rPr lang="it-IT" b="1" dirty="0"/>
              <a:t>righe di Halo</a:t>
            </a:r>
            <a:r>
              <a:rPr lang="it-IT" dirty="0"/>
              <a:t>.</a:t>
            </a:r>
          </a:p>
          <a:p>
            <a:pPr lvl="0"/>
            <a:endParaRPr lang="it-IT" dirty="0"/>
          </a:p>
        </p:txBody>
      </p:sp>
      <p:pic>
        <p:nvPicPr>
          <p:cNvPr id="4" name="Immagine 8">
            <a:extLst>
              <a:ext uri="{FF2B5EF4-FFF2-40B4-BE49-F238E27FC236}">
                <a16:creationId xmlns:a16="http://schemas.microsoft.com/office/drawing/2014/main" id="{09F0AFA6-40C3-1757-FE74-40DB197C90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560" y="1033272"/>
            <a:ext cx="5555224" cy="5166359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64FD68-6942-C5F8-5C45-CFE66A53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MPI – </a:t>
            </a:r>
            <a:r>
              <a:rPr lang="en-GB" dirty="0"/>
              <a:t>Latency Hiding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577971-0454-FBAB-EE60-E5DAFC74C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336533"/>
            <a:ext cx="4230303" cy="3794760"/>
          </a:xfrm>
        </p:spPr>
        <p:txBody>
          <a:bodyPr>
            <a:normAutofit fontScale="92500" lnSpcReduction="10000"/>
          </a:bodyPr>
          <a:lstStyle/>
          <a:p>
            <a:r>
              <a:rPr lang="it-IT" dirty="0"/>
              <a:t>Una volta identificati i vicini tramite la </a:t>
            </a:r>
            <a:r>
              <a:rPr lang="it-IT" b="1" dirty="0" err="1"/>
              <a:t>MPI_Cart_shift</a:t>
            </a:r>
            <a:r>
              <a:rPr lang="it-IT" dirty="0"/>
              <a:t>, la prima cosa che facciamo dentro il do-while è proprio quella di inviare e ricevere gli </a:t>
            </a:r>
            <a:r>
              <a:rPr lang="it-IT" b="1" dirty="0"/>
              <a:t>Halo</a:t>
            </a:r>
            <a:r>
              <a:rPr lang="it-IT" dirty="0"/>
              <a:t> tramite chiamate </a:t>
            </a:r>
            <a:r>
              <a:rPr lang="it-IT" b="1" dirty="0"/>
              <a:t>asincrone</a:t>
            </a:r>
            <a:r>
              <a:rPr lang="it-IT" dirty="0"/>
              <a:t>, così ché, in attesa del completamento dello scambio, cominciamo ad effettuare i calcoli necessari, di fatto, riducendo l’impatto che ha la comunicazione sull’intero codice.</a:t>
            </a:r>
          </a:p>
          <a:p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5F66DDA-677B-6F24-6BAE-504D29A3B1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262"/>
          <a:stretch>
            <a:fillRect/>
          </a:stretch>
        </p:blipFill>
        <p:spPr>
          <a:xfrm>
            <a:off x="4671933" y="4235548"/>
            <a:ext cx="7520067" cy="2060043"/>
          </a:xfrm>
          <a:prstGeom prst="rect">
            <a:avLst/>
          </a:prstGeom>
        </p:spPr>
      </p:pic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57A37A00-A936-EF65-DAA2-DE2500A61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0896" y="2468880"/>
            <a:ext cx="5245769" cy="134506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371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B3887D-27D9-4BFD-7A9F-B5D2558FA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– Calcolo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BD9FCC-B365-05EA-BD18-8662E0C3EDA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Il calcolo interno in questa versione viene fatto senza utilizzo di ulteriori Thread, lavorando esclusivamente in sequenziale. Tutte le righe vengono calcolate normalmente meno che la prima e l’ultima che verranno calcolate successivamente dopo che si è certi che si è ricevuto l’Halo dai vicini. 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7A9EA59F-F723-4884-F9E8-1945C1BA4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096" y="1785237"/>
            <a:ext cx="6592824" cy="306566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73955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55ABAD-810C-43FF-372A-A9B3826ED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8" y="1121343"/>
            <a:ext cx="10890924" cy="1097280"/>
          </a:xfrm>
        </p:spPr>
        <p:txBody>
          <a:bodyPr wrap="square" anchor="t">
            <a:normAutofit/>
          </a:bodyPr>
          <a:lstStyle/>
          <a:p>
            <a:r>
              <a:rPr lang="it-IT" noProof="0" dirty="0"/>
              <a:t>MPI – Calcolo – </a:t>
            </a:r>
            <a:r>
              <a:rPr lang="it-IT" noProof="0" dirty="0" err="1"/>
              <a:t>Waitall</a:t>
            </a:r>
            <a:r>
              <a:rPr lang="it-IT" noProof="0" dirty="0"/>
              <a:t> </a:t>
            </a:r>
          </a:p>
        </p:txBody>
      </p:sp>
      <p:pic>
        <p:nvPicPr>
          <p:cNvPr id="6" name="Segnaposto immagine 5">
            <a:extLst>
              <a:ext uri="{FF2B5EF4-FFF2-40B4-BE49-F238E27FC236}">
                <a16:creationId xmlns:a16="http://schemas.microsoft.com/office/drawing/2014/main" id="{B98DB1A3-BABB-9AB8-4B86-7179945BEB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-2" b="1196"/>
          <a:stretch>
            <a:fillRect/>
          </a:stretch>
        </p:blipFill>
        <p:spPr>
          <a:xfrm>
            <a:off x="0" y="1810005"/>
            <a:ext cx="6915752" cy="473183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D207C738-0CFB-1A4D-1C03-86076B30BC9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7151570" y="2633472"/>
            <a:ext cx="4379433" cy="3566160"/>
          </a:xfrm>
        </p:spPr>
        <p:txBody>
          <a:bodyPr wrap="square" anchor="t">
            <a:normAutofit/>
          </a:bodyPr>
          <a:lstStyle/>
          <a:p>
            <a:r>
              <a:rPr lang="it-IT" noProof="0" dirty="0"/>
              <a:t>A questo punto, una volta certi che abbiamo completato lo scambio con tutti i processi, possiamo calcolare le righe mancanti.</a:t>
            </a:r>
          </a:p>
        </p:txBody>
      </p:sp>
    </p:spTree>
    <p:extLst>
      <p:ext uri="{BB962C8B-B14F-4D97-AF65-F5344CB8AC3E}">
        <p14:creationId xmlns:p14="http://schemas.microsoft.com/office/powerpoint/2010/main" val="2826647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3F1517-D17F-8AED-3B69-4D2098BEF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+ </a:t>
            </a:r>
            <a:r>
              <a:rPr lang="it-IT" dirty="0" err="1"/>
              <a:t>OpenMP</a:t>
            </a:r>
            <a:endParaRPr lang="it-IT" dirty="0"/>
          </a:p>
        </p:txBody>
      </p:sp>
      <p:pic>
        <p:nvPicPr>
          <p:cNvPr id="6" name="Segnaposto contenuto 5">
            <a:extLst>
              <a:ext uri="{FF2B5EF4-FFF2-40B4-BE49-F238E27FC236}">
                <a16:creationId xmlns:a16="http://schemas.microsoft.com/office/drawing/2014/main" id="{3E85B865-F908-13A5-59CF-A5E925BC769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71"/>
          <a:stretch>
            <a:fillRect/>
          </a:stretch>
        </p:blipFill>
        <p:spPr>
          <a:xfrm>
            <a:off x="5973366" y="374650"/>
            <a:ext cx="5856081" cy="612534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D561801-8511-4BD4-CC81-45BB87F5A1A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0080" y="2972165"/>
            <a:ext cx="4819160" cy="2613823"/>
          </a:xfrm>
        </p:spPr>
        <p:txBody>
          <a:bodyPr wrap="square" anchor="t">
            <a:normAutofit/>
          </a:bodyPr>
          <a:lstStyle/>
          <a:p>
            <a:r>
              <a:rPr lang="it-IT" b="1" dirty="0"/>
              <a:t>Macro-partizionamento (MPI):</a:t>
            </a:r>
            <a:r>
              <a:rPr lang="it-IT" dirty="0"/>
              <a:t> Suddivide il dominio 2D in strisce orizzontali e gestisce lo scambio asincrono degli Halo (Ghost </a:t>
            </a:r>
            <a:r>
              <a:rPr lang="it-IT" dirty="0" err="1"/>
              <a:t>Cells</a:t>
            </a:r>
            <a:r>
              <a:rPr lang="it-IT" dirty="0"/>
              <a:t>) tra i nodi.</a:t>
            </a:r>
          </a:p>
          <a:p>
            <a:r>
              <a:rPr lang="it-IT" b="1" dirty="0"/>
              <a:t>Micro-partizionamento (</a:t>
            </a:r>
            <a:r>
              <a:rPr lang="it-IT" b="1" dirty="0" err="1"/>
              <a:t>OpenMP</a:t>
            </a:r>
            <a:r>
              <a:rPr lang="it-IT" b="1" dirty="0"/>
              <a:t>):</a:t>
            </a:r>
            <a:r>
              <a:rPr lang="it-IT" dirty="0"/>
              <a:t> </a:t>
            </a:r>
            <a:r>
              <a:rPr lang="it-IT" b="1" dirty="0"/>
              <a:t>Parallelizza i cicli annidati</a:t>
            </a:r>
            <a:r>
              <a:rPr lang="it-IT" dirty="0"/>
              <a:t> per il calcolo dello stencil a 5 punti sfruttando tutti i core all'interno del singolo nodo.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7515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1E138E-F846-CDE8-B528-35D5A3E7A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+ </a:t>
            </a:r>
            <a:r>
              <a:rPr lang="it-IT" dirty="0" err="1"/>
              <a:t>OpenMP</a:t>
            </a:r>
            <a:r>
              <a:rPr lang="it-IT" dirty="0"/>
              <a:t> – Inizializzazione </a:t>
            </a:r>
          </a:p>
        </p:txBody>
      </p:sp>
      <p:pic>
        <p:nvPicPr>
          <p:cNvPr id="6" name="Segnaposto immagine 5">
            <a:extLst>
              <a:ext uri="{FF2B5EF4-FFF2-40B4-BE49-F238E27FC236}">
                <a16:creationId xmlns:a16="http://schemas.microsoft.com/office/drawing/2014/main" id="{3915D1A8-EC41-0186-0CAA-B2A12A8A96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/>
        </p:blipFill>
        <p:spPr>
          <a:xfrm>
            <a:off x="4937125" y="2432904"/>
            <a:ext cx="6594475" cy="23620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C5D7A0D-6F05-5EFB-0052-1363DA115F1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b="1" dirty="0"/>
              <a:t>Ottimizzazione NUMA:</a:t>
            </a:r>
            <a:r>
              <a:rPr lang="it-IT" dirty="0"/>
              <a:t> Implementazione della politica </a:t>
            </a:r>
            <a:r>
              <a:rPr lang="it-IT" i="1" dirty="0"/>
              <a:t>First-Touch</a:t>
            </a:r>
            <a:r>
              <a:rPr lang="it-IT" dirty="0"/>
              <a:t> in fase di inizializzazione per garantire la località dei dati.</a:t>
            </a:r>
          </a:p>
          <a:p>
            <a:r>
              <a:rPr lang="it-IT" b="1" dirty="0"/>
              <a:t>Vantaggio:</a:t>
            </a:r>
            <a:r>
              <a:rPr lang="it-IT" dirty="0"/>
              <a:t> Previene il sovraccarico del bus di memoria, un problema tipico quando un singolo thread (master) pre-alloca l'intera struttura dati.</a:t>
            </a:r>
          </a:p>
        </p:txBody>
      </p:sp>
    </p:spTree>
    <p:extLst>
      <p:ext uri="{BB962C8B-B14F-4D97-AF65-F5344CB8AC3E}">
        <p14:creationId xmlns:p14="http://schemas.microsoft.com/office/powerpoint/2010/main" val="1235874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2B4C1B-262D-F31E-D03A-9888E390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noProof="0" dirty="0"/>
              <a:t>MPI + </a:t>
            </a:r>
            <a:r>
              <a:rPr lang="it-IT" noProof="0" dirty="0" err="1"/>
              <a:t>OpenMP</a:t>
            </a:r>
            <a:r>
              <a:rPr lang="it-IT" noProof="0" dirty="0"/>
              <a:t> - Calcolo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A25794F-11FF-B974-5911-B0DB7F93EA5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Il calcolo interno è parallelizzato tramite </a:t>
            </a:r>
            <a:r>
              <a:rPr lang="it-IT" dirty="0" err="1"/>
              <a:t>OpenMP</a:t>
            </a:r>
            <a:r>
              <a:rPr lang="it-IT" dirty="0"/>
              <a:t> </a:t>
            </a:r>
            <a:r>
              <a:rPr lang="it-IT" b="1" dirty="0"/>
              <a:t>(#pragma </a:t>
            </a:r>
            <a:r>
              <a:rPr lang="it-IT" b="1" dirty="0" err="1"/>
              <a:t>omp</a:t>
            </a:r>
            <a:r>
              <a:rPr lang="it-IT" b="1" dirty="0"/>
              <a:t> </a:t>
            </a:r>
            <a:r>
              <a:rPr lang="it-IT" b="1" dirty="0" err="1"/>
              <a:t>parallel</a:t>
            </a:r>
            <a:r>
              <a:rPr lang="it-IT" b="1" dirty="0"/>
              <a:t> for</a:t>
            </a:r>
            <a:r>
              <a:rPr lang="it-IT" dirty="0"/>
              <a:t>). Per evitare </a:t>
            </a:r>
            <a:r>
              <a:rPr lang="it-IT" i="1" dirty="0"/>
              <a:t>data race</a:t>
            </a:r>
            <a:r>
              <a:rPr lang="it-IT" dirty="0"/>
              <a:t> sulla variabile globale </a:t>
            </a:r>
            <a:r>
              <a:rPr lang="it-IT" b="1" dirty="0"/>
              <a:t>differenza</a:t>
            </a:r>
            <a:r>
              <a:rPr lang="it-IT" dirty="0"/>
              <a:t> – che causerebbe la perdita di aggiornamenti e corromperebbe la verifica di convergenza – è obbligatorio proteggere l'accumulo con la clausola </a:t>
            </a:r>
            <a:r>
              <a:rPr lang="it-IT" b="1" dirty="0" err="1"/>
              <a:t>reduction</a:t>
            </a:r>
            <a:r>
              <a:rPr lang="it-IT" b="1" dirty="0"/>
              <a:t>(+:differenza).</a:t>
            </a:r>
            <a:endParaRPr lang="it-IT" b="1" noProof="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D72504C-D3E4-58AB-A4AE-BE5766A10C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727"/>
          <a:stretch>
            <a:fillRect/>
          </a:stretch>
        </p:blipFill>
        <p:spPr>
          <a:xfrm>
            <a:off x="4499478" y="1048888"/>
            <a:ext cx="7692522" cy="56322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97529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7F418F-3F28-F809-A674-0DDACB1CE4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Analisi delle prestazioni</a:t>
            </a:r>
          </a:p>
        </p:txBody>
      </p:sp>
      <p:sp>
        <p:nvSpPr>
          <p:cNvPr id="6" name="Sottotitolo 5">
            <a:extLst>
              <a:ext uri="{FF2B5EF4-FFF2-40B4-BE49-F238E27FC236}">
                <a16:creationId xmlns:a16="http://schemas.microsoft.com/office/drawing/2014/main" id="{81EF2F74-1DFB-984C-38F7-F786F9D492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3137074"/>
            <a:ext cx="4474845" cy="2196926"/>
          </a:xfrm>
        </p:spPr>
        <p:txBody>
          <a:bodyPr>
            <a:normAutofit/>
          </a:bodyPr>
          <a:lstStyle/>
          <a:p>
            <a:r>
              <a:rPr lang="it-IT" dirty="0"/>
              <a:t>Strumenti utilizzati: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Perf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Clock_gettime</a:t>
            </a:r>
            <a:r>
              <a:rPr lang="it-IT" dirty="0"/>
              <a:t> 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E0670ED-A437-CC24-CC0B-AECFE35A9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7167" y="1023732"/>
            <a:ext cx="2743206" cy="2743206"/>
          </a:xfrm>
          <a:prstGeom prst="rect">
            <a:avLst/>
          </a:prstGeom>
        </p:spPr>
      </p:pic>
      <p:pic>
        <p:nvPicPr>
          <p:cNvPr id="7" name="Immagine 6" descr="Time symbol png Images - Free Download on Magnific (formerly Freepik)">
            <a:extLst>
              <a:ext uri="{FF2B5EF4-FFF2-40B4-BE49-F238E27FC236}">
                <a16:creationId xmlns:a16="http://schemas.microsoft.com/office/drawing/2014/main" id="{5A3187E4-C147-8CFC-7B24-78F9496CF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08" y="3605013"/>
            <a:ext cx="2951830" cy="2951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4226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E4177B-5BED-732D-416F-4A3E8F607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Metriche di Analisi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egnaposto contenuto 7">
                <a:extLst>
                  <a:ext uri="{FF2B5EF4-FFF2-40B4-BE49-F238E27FC236}">
                    <a16:creationId xmlns:a16="http://schemas.microsoft.com/office/drawing/2014/main" id="{A6E9697B-30F9-9129-BEAA-86E3543871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8933" y="2398490"/>
                <a:ext cx="11214133" cy="3981262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it-IT" sz="2300" dirty="0"/>
                  <a:t>Per analizzare le prestazioni del codice, sono state considerate:</a:t>
                </a:r>
              </a:p>
              <a:p>
                <a:pPr lvl="1"/>
                <a:r>
                  <a:rPr lang="en-US" sz="2300" b="1" noProof="0" dirty="0"/>
                  <a:t>Speedup</a:t>
                </a:r>
                <a:r>
                  <a:rPr lang="it-IT" sz="2300" b="1" dirty="0"/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  <m:r>
                      <a:rPr lang="it-IT" sz="23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</m:sSub>
                      </m:den>
                    </m:f>
                  </m:oMath>
                </a14:m>
                <a:endParaRPr lang="it-IT" sz="2300" b="1" dirty="0"/>
              </a:p>
              <a:p>
                <a:pPr lvl="1" algn="just"/>
                <a:r>
                  <a:rPr lang="it-IT" sz="2300" b="1" dirty="0"/>
                  <a:t>Efficienza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  <m:r>
                      <a:rPr lang="it-IT" sz="23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it-IT" sz="2300" b="1" i="1" smtClean="0">
                            <a:latin typeface="Cambria Math" panose="02040503050406030204" pitchFamily="18" charset="0"/>
                          </a:rPr>
                          <m:t>p</m:t>
                        </m:r>
                      </m:den>
                    </m:f>
                  </m:oMath>
                </a14:m>
                <a:endParaRPr lang="it-IT" sz="2300" b="1" dirty="0"/>
              </a:p>
              <a:p>
                <a:pPr marL="0" indent="0" algn="just">
                  <a:buNone/>
                </a:pPr>
                <a:br>
                  <a:rPr lang="it-IT" sz="1800" dirty="0"/>
                </a:br>
                <a:r>
                  <a:rPr lang="it-IT" sz="2300" dirty="0"/>
                  <a:t>Inoltre, sono stati considerati i seguenti setup per mettere a paragone MPI puro con la versione Ibrida</a:t>
                </a:r>
                <a:r>
                  <a:rPr lang="it-IT" sz="2300" b="1" dirty="0"/>
                  <a:t>:</a:t>
                </a:r>
              </a:p>
              <a:p>
                <a:pPr lvl="1"/>
                <a:r>
                  <a:rPr lang="it-IT" sz="2300" b="1" dirty="0"/>
                  <a:t>8 Processi x 1 Thread</a:t>
                </a:r>
              </a:p>
              <a:p>
                <a:pPr lvl="1"/>
                <a:r>
                  <a:rPr lang="it-IT" sz="2300" b="1" dirty="0"/>
                  <a:t>4 Processi x 2 Thread</a:t>
                </a:r>
              </a:p>
              <a:p>
                <a:pPr lvl="1"/>
                <a:r>
                  <a:rPr lang="it-IT" sz="2300" b="1" dirty="0"/>
                  <a:t>2 Processi x 4 Thread </a:t>
                </a:r>
              </a:p>
              <a:p>
                <a:pPr lvl="1"/>
                <a:r>
                  <a:rPr lang="it-IT" sz="2300" b="1" dirty="0"/>
                  <a:t>1 Processo x 8 Thread</a:t>
                </a:r>
                <a:br>
                  <a:rPr lang="it-IT" sz="2300" dirty="0"/>
                </a:br>
                <a:br>
                  <a:rPr lang="it-IT" sz="2300" dirty="0"/>
                </a:br>
                <a:endParaRPr lang="it-IT" sz="2300" dirty="0"/>
              </a:p>
              <a:p>
                <a:pPr marL="265176" lvl="1" indent="0" algn="just">
                  <a:buNone/>
                </a:pPr>
                <a:endParaRPr lang="it-IT" sz="1600" dirty="0"/>
              </a:p>
            </p:txBody>
          </p:sp>
        </mc:Choice>
        <mc:Fallback xmlns="">
          <p:sp>
            <p:nvSpPr>
              <p:cNvPr id="8" name="Segnaposto contenuto 7">
                <a:extLst>
                  <a:ext uri="{FF2B5EF4-FFF2-40B4-BE49-F238E27FC236}">
                    <a16:creationId xmlns:a16="http://schemas.microsoft.com/office/drawing/2014/main" id="{A6E9697B-30F9-9129-BEAA-86E3543871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8933" y="2398490"/>
                <a:ext cx="11214133" cy="3981262"/>
              </a:xfrm>
              <a:blipFill>
                <a:blip r:embed="rId3"/>
                <a:stretch>
                  <a:fillRect l="-435" t="-76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08598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F1B685-8655-DB8D-67D1-546733005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Sequenziale</a:t>
            </a:r>
          </a:p>
        </p:txBody>
      </p:sp>
      <p:graphicFrame>
        <p:nvGraphicFramePr>
          <p:cNvPr id="11" name="Segnaposto contenuto 10">
            <a:extLst>
              <a:ext uri="{FF2B5EF4-FFF2-40B4-BE49-F238E27FC236}">
                <a16:creationId xmlns:a16="http://schemas.microsoft.com/office/drawing/2014/main" id="{DAF6E4D3-37AC-94A8-0A29-3E72441C4D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63075499"/>
              </p:ext>
            </p:extLst>
          </p:nvPr>
        </p:nvGraphicFramePr>
        <p:xfrm>
          <a:off x="639764" y="2281383"/>
          <a:ext cx="10890924" cy="3917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363376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74DACE-A7A1-98C2-AB20-2627F434A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Sequenziale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C5ACEE4-ECEA-BB1B-25B2-6A587573F7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it-IT" dirty="0"/>
                  <a:t>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512 </m:t>
                    </m:r>
                  </m:oMath>
                </a14:m>
                <a:r>
                  <a:rPr lang="it-IT" dirty="0"/>
                  <a:t>il tempo reale ricalca fedelmente la curva teorica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</m:oMath>
                </a14:m>
                <a:r>
                  <a:rPr lang="it-IT" dirty="0"/>
                  <a:t>.</a:t>
                </a:r>
              </a:p>
              <a:p>
                <a:r>
                  <a:rPr lang="it-IT" dirty="0"/>
                  <a:t>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1024</m:t>
                    </m:r>
                  </m:oMath>
                </a14:m>
                <a:r>
                  <a:rPr lang="it-IT" dirty="0"/>
                  <a:t>, il tempo reale (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2537.81</m:t>
                    </m:r>
                  </m:oMath>
                </a14:m>
                <a:r>
                  <a:rPr lang="it-IT" dirty="0"/>
                  <a:t> s) devia nettamente verso l'alto rispetto alla proiezione asintotica (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1913.65</m:t>
                    </m:r>
                  </m:oMath>
                </a14:m>
                <a:r>
                  <a:rPr lang="it-IT" dirty="0"/>
                  <a:t> s). Perché?</a:t>
                </a:r>
              </a:p>
              <a:p>
                <a:r>
                  <a:rPr lang="it-IT" dirty="0"/>
                  <a:t>La </a:t>
                </a:r>
                <a:r>
                  <a:rPr lang="it-IT" b="1" dirty="0"/>
                  <a:t>cache L3 </a:t>
                </a:r>
                <a:r>
                  <a:rPr lang="it-IT" dirty="0"/>
                  <a:t>ha uno spazio totale di </a:t>
                </a:r>
                <a:r>
                  <a:rPr lang="it-IT" b="1" dirty="0"/>
                  <a:t>8MB </a:t>
                </a:r>
                <a:r>
                  <a:rPr lang="it-IT" dirty="0"/>
                  <a:t>mentre, invece, le due matrici occupano uno spazio di circa </a:t>
                </a:r>
                <a:r>
                  <a:rPr lang="it-IT" b="1" dirty="0"/>
                  <a:t>8 MB </a:t>
                </a:r>
                <a:r>
                  <a:rPr lang="it-IT" dirty="0"/>
                  <a:t>l’una, rendendo quindi il totale </a:t>
                </a:r>
                <a:r>
                  <a:rPr lang="it-IT" b="1" dirty="0"/>
                  <a:t>16 MB </a:t>
                </a:r>
                <a:r>
                  <a:rPr lang="it-IT" dirty="0"/>
                  <a:t>forzando dunque continui accessi alla RAM.</a:t>
                </a:r>
                <a:endParaRPr lang="it-IT" b="1" dirty="0"/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C5ACEE4-ECEA-BB1B-25B2-6A587573F7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36" t="-171" r="-8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6742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1FA6A8-D99B-67C9-9EA0-F517BD5D3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MPI 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B76F5DEC-0AB9-CFDB-2791-74570536B3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428235"/>
              </p:ext>
            </p:extLst>
          </p:nvPr>
        </p:nvGraphicFramePr>
        <p:xfrm>
          <a:off x="640080" y="2185988"/>
          <a:ext cx="10890924" cy="39195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4912299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BE67F2-AE56-2BCC-9C60-964D5A7B8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Strong Scaling – MPI 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89E2DBA0-6FEA-2ED1-9A6B-526AC1487A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4624043"/>
              </p:ext>
            </p:extLst>
          </p:nvPr>
        </p:nvGraphicFramePr>
        <p:xfrm>
          <a:off x="639763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Grafico 4">
            <a:extLst>
              <a:ext uri="{FF2B5EF4-FFF2-40B4-BE49-F238E27FC236}">
                <a16:creationId xmlns:a16="http://schemas.microsoft.com/office/drawing/2014/main" id="{3F16AD40-9051-5400-1525-BC8988DB62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97246930"/>
              </p:ext>
            </p:extLst>
          </p:nvPr>
        </p:nvGraphicFramePr>
        <p:xfrm>
          <a:off x="6252910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7776211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26640F-8D0E-644A-BB0D-A967EC741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Ibrido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E1C4C71E-76CE-4E3F-6E1D-D9B7D837F4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23123222"/>
              </p:ext>
            </p:extLst>
          </p:nvPr>
        </p:nvGraphicFramePr>
        <p:xfrm>
          <a:off x="639763" y="2633663"/>
          <a:ext cx="10891837" cy="3565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139053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453487-373E-170F-EE64-C39FA4EA6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Strong Scaling - Ibrido</a:t>
            </a:r>
          </a:p>
        </p:txBody>
      </p:sp>
      <p:graphicFrame>
        <p:nvGraphicFramePr>
          <p:cNvPr id="4" name="Segnaposto contenuto 5">
            <a:extLst>
              <a:ext uri="{FF2B5EF4-FFF2-40B4-BE49-F238E27FC236}">
                <a16:creationId xmlns:a16="http://schemas.microsoft.com/office/drawing/2014/main" id="{385B09B4-13B8-EDE7-059B-FA50E441B0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74167843"/>
              </p:ext>
            </p:extLst>
          </p:nvPr>
        </p:nvGraphicFramePr>
        <p:xfrm>
          <a:off x="639763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Grafico 5">
            <a:extLst>
              <a:ext uri="{FF2B5EF4-FFF2-40B4-BE49-F238E27FC236}">
                <a16:creationId xmlns:a16="http://schemas.microsoft.com/office/drawing/2014/main" id="{9E181B14-5F21-5B24-7D05-5CDDDA1BE4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0983735"/>
              </p:ext>
            </p:extLst>
          </p:nvPr>
        </p:nvGraphicFramePr>
        <p:xfrm>
          <a:off x="6458184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392066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034AD0-5801-DD07-C38E-75A121A8C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Analisi – Paragone tra MPI e Ibrido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587EA6D0-6DC4-0393-D19C-F0E25D15A4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6988899"/>
              </p:ext>
            </p:extLst>
          </p:nvPr>
        </p:nvGraphicFramePr>
        <p:xfrm>
          <a:off x="639763" y="2633663"/>
          <a:ext cx="10891837" cy="3565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646342104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TM04033923[[fn=Profondità]]</Template>
  <TotalTime>654</TotalTime>
  <Words>952</Words>
  <Application>Microsoft Office PowerPoint</Application>
  <PresentationFormat>Widescreen</PresentationFormat>
  <Paragraphs>82</Paragraphs>
  <Slides>24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24</vt:i4>
      </vt:variant>
    </vt:vector>
  </HeadingPairs>
  <TitlesOfParts>
    <vt:vector size="30" baseType="lpstr">
      <vt:lpstr>Aptos</vt:lpstr>
      <vt:lpstr>Arial</vt:lpstr>
      <vt:lpstr>Cambria Math</vt:lpstr>
      <vt:lpstr>Grandview Display</vt:lpstr>
      <vt:lpstr>Neue Haas Grotesk Text Pro</vt:lpstr>
      <vt:lpstr>DashVTI</vt:lpstr>
      <vt:lpstr>Simulazione della Diffusione del Calore 2D </vt:lpstr>
      <vt:lpstr>Equazione del Calore 2D  </vt:lpstr>
      <vt:lpstr>Equazione del calore 2D</vt:lpstr>
      <vt:lpstr>Equazione del calore 2D</vt:lpstr>
      <vt:lpstr>Hardware di Test</vt:lpstr>
      <vt:lpstr>Codice Sequenziale – Inizializzazione </vt:lpstr>
      <vt:lpstr>Codice sequenziale – Inizializzazione</vt:lpstr>
      <vt:lpstr>Codice sequenziale – Calcolo</vt:lpstr>
      <vt:lpstr>MPI– Topologia</vt:lpstr>
      <vt:lpstr>MPI – Latency Hiding</vt:lpstr>
      <vt:lpstr>MPI – Calcolo</vt:lpstr>
      <vt:lpstr>MPI – Calcolo – Waitall </vt:lpstr>
      <vt:lpstr>MPI + OpenMP</vt:lpstr>
      <vt:lpstr>MPI + OpenMP – Inizializzazione </vt:lpstr>
      <vt:lpstr>MPI + OpenMP - Calcolo</vt:lpstr>
      <vt:lpstr>Analisi delle prestazioni</vt:lpstr>
      <vt:lpstr>Metriche di Analisi</vt:lpstr>
      <vt:lpstr>Analisi – Tempo Sequenziale</vt:lpstr>
      <vt:lpstr>Analisi – Tempo Sequenziale</vt:lpstr>
      <vt:lpstr>Analisi – Tempo MPI </vt:lpstr>
      <vt:lpstr>Analisi – Strong Scaling – MPI </vt:lpstr>
      <vt:lpstr>Analisi – Tempo Ibrido</vt:lpstr>
      <vt:lpstr>Analisi – Strong Scaling - Ibrido</vt:lpstr>
      <vt:lpstr>Analisi – Paragone tra MPI e Ibrido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DAVIDE PETRONIO PETRONIO</dc:creator>
  <cp:lastModifiedBy>DAVIDE PETRONIO PETRONIO</cp:lastModifiedBy>
  <cp:revision>11</cp:revision>
  <dcterms:created xsi:type="dcterms:W3CDTF">2026-07-10T08:20:12Z</dcterms:created>
  <dcterms:modified xsi:type="dcterms:W3CDTF">2026-07-11T14:53:19Z</dcterms:modified>
</cp:coreProperties>
</file>