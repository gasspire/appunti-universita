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charts/chart1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ppt/charts/chart2.xml" ContentType="application/vnd.openxmlformats-officedocument.drawingml.chart+xml"/>
  <Override PartName="/ppt/charts/style2.xml" ContentType="application/vnd.ms-office.chartstyle+xml"/>
  <Override PartName="/ppt/charts/colors2.xml" ContentType="application/vnd.ms-office.chartcolorstyle+xml"/>
  <Override PartName="/ppt/charts/chart3.xml" ContentType="application/vnd.openxmlformats-officedocument.drawingml.chart+xml"/>
  <Override PartName="/ppt/charts/style3.xml" ContentType="application/vnd.ms-office.chartstyle+xml"/>
  <Override PartName="/ppt/charts/colors3.xml" ContentType="application/vnd.ms-office.chartcolorstyle+xml"/>
  <Override PartName="/ppt/charts/chart4.xml" ContentType="application/vnd.openxmlformats-officedocument.drawingml.chart+xml"/>
  <Override PartName="/ppt/charts/style4.xml" ContentType="application/vnd.ms-office.chartstyle+xml"/>
  <Override PartName="/ppt/charts/colors4.xml" ContentType="application/vnd.ms-office.chartcolorstyle+xml"/>
  <Override PartName="/ppt/notesSlides/notesSlide6.xml" ContentType="application/vnd.openxmlformats-officedocument.presentationml.notesSlide+xml"/>
  <Override PartName="/ppt/charts/chart5.xml" ContentType="application/vnd.openxmlformats-officedocument.drawingml.chart+xml"/>
  <Override PartName="/ppt/charts/style5.xml" ContentType="application/vnd.ms-office.chartstyle+xml"/>
  <Override PartName="/ppt/charts/colors5.xml" ContentType="application/vnd.ms-office.chartcolorstyle+xml"/>
  <Override PartName="/ppt/charts/chart6.xml" ContentType="application/vnd.openxmlformats-officedocument.drawingml.chart+xml"/>
  <Override PartName="/ppt/charts/style6.xml" ContentType="application/vnd.ms-office.chartstyle+xml"/>
  <Override PartName="/ppt/charts/colors6.xml" ContentType="application/vnd.ms-office.chartcolorstyle+xml"/>
  <Override PartName="/ppt/charts/chart7.xml" ContentType="application/vnd.openxmlformats-officedocument.drawingml.chart+xml"/>
  <Override PartName="/ppt/charts/style7.xml" ContentType="application/vnd.ms-office.chartstyle+xml"/>
  <Override PartName="/ppt/charts/colors7.xml" ContentType="application/vnd.ms-office.chartcolorstyle+xml"/>
  <Override PartName="/ppt/charts/chart8.xml" ContentType="application/vnd.openxmlformats-officedocument.drawingml.chart+xml"/>
  <Override PartName="/ppt/charts/style8.xml" ContentType="application/vnd.ms-office.chartstyle+xml"/>
  <Override PartName="/ppt/charts/colors8.xml" ContentType="application/vnd.ms-office.chartcolorstyle+xml"/>
  <Override PartName="/ppt/charts/chart9.xml" ContentType="application/vnd.openxmlformats-officedocument.drawingml.chart+xml"/>
  <Override PartName="/ppt/charts/style9.xml" ContentType="application/vnd.ms-office.chartstyle+xml"/>
  <Override PartName="/ppt/charts/colors9.xml" ContentType="application/vnd.ms-office.chartcolorstyle+xml"/>
  <Override PartName="/ppt/charts/chart10.xml" ContentType="application/vnd.openxmlformats-officedocument.drawingml.chart+xml"/>
  <Override PartName="/ppt/charts/style10.xml" ContentType="application/vnd.ms-office.chartstyle+xml"/>
  <Override PartName="/ppt/charts/colors10.xml" ContentType="application/vnd.ms-office.chartcolorstyle+xml"/>
  <Override PartName="/ppt/charts/chart11.xml" ContentType="application/vnd.openxmlformats-officedocument.drawingml.chart+xml"/>
  <Override PartName="/ppt/charts/style11.xml" ContentType="application/vnd.ms-office.chartstyle+xml"/>
  <Override PartName="/ppt/charts/colors11.xml" ContentType="application/vnd.ms-office.chartcolorstyle+xml"/>
  <Override PartName="/ppt/notesSlides/notesSlide7.xml" ContentType="application/vnd.openxmlformats-officedocument.presentationml.notesSlide+xml"/>
  <Override PartName="/ppt/charts/chart12.xml" ContentType="application/vnd.openxmlformats-officedocument.drawingml.chart+xml"/>
  <Override PartName="/ppt/charts/style12.xml" ContentType="application/vnd.ms-office.chartstyle+xml"/>
  <Override PartName="/ppt/charts/colors12.xml" ContentType="application/vnd.ms-office.chartcolorstyle+xml"/>
  <Override PartName="/ppt/charts/chart13.xml" ContentType="application/vnd.openxmlformats-officedocument.drawingml.chart+xml"/>
  <Override PartName="/ppt/charts/style13.xml" ContentType="application/vnd.ms-office.chartstyle+xml"/>
  <Override PartName="/ppt/charts/colors13.xml" ContentType="application/vnd.ms-office.chartcolorstyl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32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6" r:id="rId11"/>
    <p:sldId id="267" r:id="rId12"/>
    <p:sldId id="268" r:id="rId13"/>
    <p:sldId id="269" r:id="rId14"/>
    <p:sldId id="270" r:id="rId15"/>
    <p:sldId id="271" r:id="rId16"/>
    <p:sldId id="286" r:id="rId17"/>
    <p:sldId id="274" r:id="rId18"/>
    <p:sldId id="275" r:id="rId19"/>
    <p:sldId id="276" r:id="rId20"/>
    <p:sldId id="287" r:id="rId21"/>
    <p:sldId id="288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9" r:id="rId30"/>
    <p:sldId id="285" r:id="rId31"/>
  </p:sldIdLst>
  <p:sldSz cx="12192000" cy="6858000"/>
  <p:notesSz cx="6858000" cy="9144000"/>
  <p:defaultTextStyle>
    <a:defPPr>
      <a:defRPr lang="it-IT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ile medio 2 - Colore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777" autoAdjust="0"/>
    <p:restoredTop sz="94125" autoAdjust="0"/>
  </p:normalViewPr>
  <p:slideViewPr>
    <p:cSldViewPr snapToGrid="0">
      <p:cViewPr varScale="1">
        <p:scale>
          <a:sx n="105" d="100"/>
          <a:sy n="105" d="100"/>
        </p:scale>
        <p:origin x="786" y="1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theme" Target="theme/theme1.xml"/><Relationship Id="rId8" Type="http://schemas.openxmlformats.org/officeDocument/2006/relationships/slide" Target="slides/slide7.xml"/></Relationships>
</file>

<file path=ppt/charts/_rels/chart1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.xlsx"/><Relationship Id="rId2" Type="http://schemas.microsoft.com/office/2011/relationships/chartColorStyle" Target="colors1.xml"/><Relationship Id="rId1" Type="http://schemas.microsoft.com/office/2011/relationships/chartStyle" Target="style1.xml"/></Relationships>
</file>

<file path=ppt/charts/_rels/chart2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1.xlsx"/><Relationship Id="rId2" Type="http://schemas.microsoft.com/office/2011/relationships/chartColorStyle" Target="colors2.xml"/><Relationship Id="rId1" Type="http://schemas.microsoft.com/office/2011/relationships/chartStyle" Target="style2.xml"/></Relationships>
</file>

<file path=ppt/charts/_rels/chart3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2.xlsx"/><Relationship Id="rId2" Type="http://schemas.microsoft.com/office/2011/relationships/chartColorStyle" Target="colors3.xml"/><Relationship Id="rId1" Type="http://schemas.microsoft.com/office/2011/relationships/chartStyle" Target="style3.xml"/></Relationships>
</file>

<file path=ppt/charts/_rels/chart4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3.xlsx"/><Relationship Id="rId2" Type="http://schemas.microsoft.com/office/2011/relationships/chartColorStyle" Target="colors4.xml"/><Relationship Id="rId1" Type="http://schemas.microsoft.com/office/2011/relationships/chartStyle" Target="style4.xml"/></Relationships>
</file>

<file path=ppt/charts/_rels/chart5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4.xlsx"/><Relationship Id="rId2" Type="http://schemas.microsoft.com/office/2011/relationships/chartColorStyle" Target="colors5.xml"/><Relationship Id="rId1" Type="http://schemas.microsoft.com/office/2011/relationships/chartStyle" Target="style5.xml"/></Relationships>
</file>

<file path=ppt/charts/_rels/chart6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5.xlsx"/><Relationship Id="rId2" Type="http://schemas.microsoft.com/office/2011/relationships/chartColorStyle" Target="colors6.xml"/><Relationship Id="rId1" Type="http://schemas.microsoft.com/office/2011/relationships/chartStyle" Target="style6.xml"/></Relationships>
</file>

<file path=ppt/charts/_rels/chart7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6.xlsx"/><Relationship Id="rId2" Type="http://schemas.microsoft.com/office/2011/relationships/chartColorStyle" Target="colors7.xml"/><Relationship Id="rId1" Type="http://schemas.microsoft.com/office/2011/relationships/chartStyle" Target="style7.xml"/></Relationships>
</file>

<file path=ppt/charts/_rels/chart8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7.xlsx"/><Relationship Id="rId2" Type="http://schemas.microsoft.com/office/2011/relationships/chartColorStyle" Target="colors8.xml"/><Relationship Id="rId1" Type="http://schemas.microsoft.com/office/2011/relationships/chartStyle" Target="style8.xml"/></Relationships>
</file>

<file path=ppt/charts/_rels/chart9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8.xlsx"/><Relationship Id="rId2" Type="http://schemas.microsoft.com/office/2011/relationships/chartColorStyle" Target="colors9.xml"/><Relationship Id="rId1" Type="http://schemas.microsoft.com/office/2011/relationships/chartStyle" Target="style9.xml"/></Relationships>
</file>

<file path=ppt/charts/_rels/chart10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9.xlsx"/><Relationship Id="rId2" Type="http://schemas.microsoft.com/office/2011/relationships/chartColorStyle" Target="colors10.xml"/><Relationship Id="rId1" Type="http://schemas.microsoft.com/office/2011/relationships/chartStyle" Target="style10.xml"/></Relationships>
</file>

<file path=ppt/charts/_rels/chart11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10.xlsx"/><Relationship Id="rId2" Type="http://schemas.microsoft.com/office/2011/relationships/chartColorStyle" Target="colors11.xml"/><Relationship Id="rId1" Type="http://schemas.microsoft.com/office/2011/relationships/chartStyle" Target="style11.xml"/></Relationships>
</file>

<file path=ppt/charts/_rels/chart12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11.xlsx"/><Relationship Id="rId2" Type="http://schemas.microsoft.com/office/2011/relationships/chartColorStyle" Target="colors12.xml"/><Relationship Id="rId1" Type="http://schemas.microsoft.com/office/2011/relationships/chartStyle" Target="style12.xml"/></Relationships>
</file>

<file path=ppt/charts/_rels/chart13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12.xlsx"/><Relationship Id="rId2" Type="http://schemas.microsoft.com/office/2011/relationships/chartColorStyle" Target="colors13.xml"/><Relationship Id="rId1" Type="http://schemas.microsoft.com/office/2011/relationships/chartStyle" Target="style13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it-IT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0"/>
    <c:plotArea>
      <c:layout>
        <c:manualLayout>
          <c:layoutTarget val="inner"/>
          <c:xMode val="edge"/>
          <c:yMode val="edge"/>
          <c:x val="5.5416730896725684E-2"/>
          <c:y val="0.13950256852942694"/>
          <c:w val="0.92942512819462875"/>
          <c:h val="0.73158242138584706"/>
        </c:manualLayout>
      </c:layout>
      <c:lineChart>
        <c:grouping val="standard"/>
        <c:varyColors val="0"/>
        <c:ser>
          <c:idx val="0"/>
          <c:order val="0"/>
          <c:tx>
            <c:strRef>
              <c:f>Foglio1!$B$1</c:f>
              <c:strCache>
                <c:ptCount val="1"/>
                <c:pt idx="0">
                  <c:v>Sequenziale</c:v>
                </c:pt>
              </c:strCache>
            </c:strRef>
          </c:tx>
          <c:spPr>
            <a:ln w="22225" cap="rnd">
              <a:solidFill>
                <a:schemeClr val="accent1"/>
              </a:solidFill>
              <a:round/>
            </a:ln>
            <a:effectLst/>
          </c:spPr>
          <c:marker>
            <c:symbol val="diamond"/>
            <c:size val="6"/>
            <c:spPr>
              <a:solidFill>
                <a:schemeClr val="accent1"/>
              </a:solidFill>
              <a:ln w="9525">
                <a:solidFill>
                  <a:schemeClr val="accent1"/>
                </a:solidFill>
                <a:round/>
              </a:ln>
              <a:effectLst/>
            </c:spPr>
          </c:marker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50000"/>
                        <a:lumOff val="50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it-IT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</a:ln>
                    <a:effectLst/>
                  </c:spPr>
                </c15:leaderLines>
              </c:ext>
            </c:extLst>
          </c:dLbls>
          <c:cat>
            <c:strRef>
              <c:f>Foglio1!$A$2:$A$6</c:f>
              <c:strCache>
                <c:ptCount val="5"/>
                <c:pt idx="0">
                  <c:v>N 64</c:v>
                </c:pt>
                <c:pt idx="1">
                  <c:v>N 128</c:v>
                </c:pt>
                <c:pt idx="2">
                  <c:v>N 256</c:v>
                </c:pt>
                <c:pt idx="3">
                  <c:v>N 512</c:v>
                </c:pt>
                <c:pt idx="4">
                  <c:v>N 1024</c:v>
                </c:pt>
              </c:strCache>
            </c:strRef>
          </c:cat>
          <c:val>
            <c:numRef>
              <c:f>Foglio1!$B$2:$B$6</c:f>
              <c:numCache>
                <c:formatCode>General</c:formatCode>
                <c:ptCount val="5"/>
                <c:pt idx="0">
                  <c:v>2.92E-2</c:v>
                </c:pt>
                <c:pt idx="1">
                  <c:v>0.47149999999999997</c:v>
                </c:pt>
                <c:pt idx="2" formatCode="#,##0">
                  <c:v>7.1670999999999996</c:v>
                </c:pt>
                <c:pt idx="3">
                  <c:v>118.16200000000001</c:v>
                </c:pt>
                <c:pt idx="4" formatCode="#,##0">
                  <c:v>2537.8130000000001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4E9A-45BC-8682-668C40769E03}"/>
            </c:ext>
          </c:extLst>
        </c:ser>
        <c:ser>
          <c:idx val="1"/>
          <c:order val="1"/>
          <c:tx>
            <c:strRef>
              <c:f>Foglio1!$C$1</c:f>
              <c:strCache>
                <c:ptCount val="1"/>
                <c:pt idx="0">
                  <c:v>O(N^4)</c:v>
                </c:pt>
              </c:strCache>
            </c:strRef>
          </c:tx>
          <c:spPr>
            <a:ln w="22225" cap="rnd">
              <a:solidFill>
                <a:schemeClr val="accent2"/>
              </a:solidFill>
              <a:prstDash val="dash"/>
              <a:round/>
              <a:headEnd type="none"/>
            </a:ln>
            <a:effectLst/>
          </c:spPr>
          <c:marker>
            <c:symbol val="none"/>
          </c:marker>
          <c:dLbls>
            <c:delete val="1"/>
          </c:dLbls>
          <c:cat>
            <c:strRef>
              <c:f>Foglio1!$A$2:$A$6</c:f>
              <c:strCache>
                <c:ptCount val="5"/>
                <c:pt idx="0">
                  <c:v>N 64</c:v>
                </c:pt>
                <c:pt idx="1">
                  <c:v>N 128</c:v>
                </c:pt>
                <c:pt idx="2">
                  <c:v>N 256</c:v>
                </c:pt>
                <c:pt idx="3">
                  <c:v>N 512</c:v>
                </c:pt>
                <c:pt idx="4">
                  <c:v>N 1024</c:v>
                </c:pt>
              </c:strCache>
            </c:strRef>
          </c:cat>
          <c:val>
            <c:numRef>
              <c:f>Foglio1!$C$2:$C$6</c:f>
              <c:numCache>
                <c:formatCode>General</c:formatCode>
                <c:ptCount val="5"/>
                <c:pt idx="0">
                  <c:v>2.92E-2</c:v>
                </c:pt>
                <c:pt idx="1">
                  <c:v>0.4672</c:v>
                </c:pt>
                <c:pt idx="2">
                  <c:v>7.4752000000000001</c:v>
                </c:pt>
                <c:pt idx="3">
                  <c:v>119.6032</c:v>
                </c:pt>
                <c:pt idx="4">
                  <c:v>1913.6512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3-4E9A-45BC-8682-668C40769E03}"/>
            </c:ext>
          </c:extLst>
        </c:ser>
        <c:dLbls>
          <c:dLblPos val="t"/>
          <c:showLegendKey val="0"/>
          <c:showVal val="1"/>
          <c:showCatName val="0"/>
          <c:showSerName val="0"/>
          <c:showPercent val="0"/>
          <c:showBubbleSize val="0"/>
        </c:dLbls>
        <c:marker val="1"/>
        <c:smooth val="0"/>
        <c:axId val="148093072"/>
        <c:axId val="163322976"/>
      </c:lineChart>
      <c:catAx>
        <c:axId val="148093072"/>
        <c:scaling>
          <c:orientation val="minMax"/>
        </c:scaling>
        <c:delete val="0"/>
        <c:axPos val="b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064" b="0" i="0" u="none" strike="noStrike" kern="1200" cap="all" spc="120" normalizeH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it-IT"/>
          </a:p>
        </c:txPr>
        <c:crossAx val="163322976"/>
        <c:crossesAt val="1.0000000000000002E-2"/>
        <c:auto val="1"/>
        <c:lblAlgn val="ctr"/>
        <c:lblOffset val="100"/>
        <c:noMultiLvlLbl val="0"/>
      </c:catAx>
      <c:valAx>
        <c:axId val="163322976"/>
        <c:scaling>
          <c:orientation val="minMax"/>
        </c:scaling>
        <c:delete val="0"/>
        <c:axPos val="l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dk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it-IT"/>
          </a:p>
        </c:txPr>
        <c:crossAx val="148093072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it-IT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it-IT"/>
    </a:p>
  </c:txPr>
  <c:externalData r:id="rId3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it-IT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862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it-IT" dirty="0"/>
              <a:t>Tempi</a:t>
            </a: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862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it-IT"/>
        </a:p>
      </c:txPr>
    </c:title>
    <c:autoTitleDeleted val="0"/>
    <c:plotArea>
      <c:layout/>
      <c:lineChart>
        <c:grouping val="standard"/>
        <c:varyColors val="0"/>
        <c:ser>
          <c:idx val="0"/>
          <c:order val="0"/>
          <c:tx>
            <c:strRef>
              <c:f>Foglio1!$B$1</c:f>
              <c:strCache>
                <c:ptCount val="1"/>
                <c:pt idx="0">
                  <c:v>N 64</c:v>
                </c:pt>
              </c:strCache>
            </c:strRef>
          </c:tx>
          <c:spPr>
            <a:ln w="28575" cap="rnd">
              <a:solidFill>
                <a:schemeClr val="accent1"/>
              </a:solidFill>
              <a:round/>
            </a:ln>
            <a:effectLst/>
          </c:spPr>
          <c:marker>
            <c:symbol val="circle"/>
            <c:size val="5"/>
            <c:spPr>
              <a:solidFill>
                <a:schemeClr val="accent1"/>
              </a:solidFill>
              <a:ln w="9525">
                <a:solidFill>
                  <a:schemeClr val="accent1"/>
                </a:solidFill>
              </a:ln>
              <a:effectLst/>
            </c:spPr>
          </c:marker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it-IT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Foglio1!$A$2:$A$6</c:f>
              <c:strCache>
                <c:ptCount val="5"/>
                <c:pt idx="0">
                  <c:v>1T</c:v>
                </c:pt>
                <c:pt idx="1">
                  <c:v>2T</c:v>
                </c:pt>
                <c:pt idx="2">
                  <c:v>4T</c:v>
                </c:pt>
                <c:pt idx="3">
                  <c:v>6T</c:v>
                </c:pt>
                <c:pt idx="4">
                  <c:v>8T</c:v>
                </c:pt>
              </c:strCache>
            </c:strRef>
          </c:cat>
          <c:val>
            <c:numRef>
              <c:f>Foglio1!$B$2:$B$6</c:f>
              <c:numCache>
                <c:formatCode>0.0000</c:formatCode>
                <c:ptCount val="5"/>
                <c:pt idx="0">
                  <c:v>4.8399999999999999E-2</c:v>
                </c:pt>
                <c:pt idx="1">
                  <c:v>4.2999999999999997E-2</c:v>
                </c:pt>
                <c:pt idx="2">
                  <c:v>3.3700000000000001E-2</c:v>
                </c:pt>
                <c:pt idx="3">
                  <c:v>2.9899999999999999E-2</c:v>
                </c:pt>
                <c:pt idx="4">
                  <c:v>3.2800000000000003E-2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ADBB-4426-B408-B3D8B831F37D}"/>
            </c:ext>
          </c:extLst>
        </c:ser>
        <c:ser>
          <c:idx val="1"/>
          <c:order val="1"/>
          <c:tx>
            <c:strRef>
              <c:f>Foglio1!$C$1</c:f>
              <c:strCache>
                <c:ptCount val="1"/>
                <c:pt idx="0">
                  <c:v>N 128</c:v>
                </c:pt>
              </c:strCache>
            </c:strRef>
          </c:tx>
          <c:spPr>
            <a:ln w="28575" cap="rnd">
              <a:solidFill>
                <a:schemeClr val="accent2"/>
              </a:solidFill>
              <a:round/>
            </a:ln>
            <a:effectLst/>
          </c:spPr>
          <c:marker>
            <c:symbol val="circle"/>
            <c:size val="5"/>
            <c:spPr>
              <a:solidFill>
                <a:schemeClr val="accent2"/>
              </a:solidFill>
              <a:ln w="9525">
                <a:solidFill>
                  <a:schemeClr val="accent2"/>
                </a:solidFill>
              </a:ln>
              <a:effectLst/>
            </c:spPr>
          </c:marker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it-IT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Foglio1!$A$2:$A$6</c:f>
              <c:strCache>
                <c:ptCount val="5"/>
                <c:pt idx="0">
                  <c:v>1T</c:v>
                </c:pt>
                <c:pt idx="1">
                  <c:v>2T</c:v>
                </c:pt>
                <c:pt idx="2">
                  <c:v>4T</c:v>
                </c:pt>
                <c:pt idx="3">
                  <c:v>6T</c:v>
                </c:pt>
                <c:pt idx="4">
                  <c:v>8T</c:v>
                </c:pt>
              </c:strCache>
            </c:strRef>
          </c:cat>
          <c:val>
            <c:numRef>
              <c:f>Foglio1!$C$2:$C$6</c:f>
              <c:numCache>
                <c:formatCode>0.0000</c:formatCode>
                <c:ptCount val="5"/>
                <c:pt idx="0">
                  <c:v>0.71909999999999996</c:v>
                </c:pt>
                <c:pt idx="1">
                  <c:v>0.40239999999999998</c:v>
                </c:pt>
                <c:pt idx="2">
                  <c:v>0.26960000000000001</c:v>
                </c:pt>
                <c:pt idx="3">
                  <c:v>0.2475</c:v>
                </c:pt>
                <c:pt idx="4">
                  <c:v>0.30009999999999998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ADBB-4426-B408-B3D8B831F37D}"/>
            </c:ext>
          </c:extLst>
        </c:ser>
        <c:ser>
          <c:idx val="2"/>
          <c:order val="2"/>
          <c:tx>
            <c:strRef>
              <c:f>Foglio1!$D$1</c:f>
              <c:strCache>
                <c:ptCount val="1"/>
                <c:pt idx="0">
                  <c:v>N 256</c:v>
                </c:pt>
              </c:strCache>
            </c:strRef>
          </c:tx>
          <c:spPr>
            <a:ln w="28575" cap="rnd">
              <a:solidFill>
                <a:schemeClr val="accent3"/>
              </a:solidFill>
              <a:round/>
            </a:ln>
            <a:effectLst/>
          </c:spPr>
          <c:marker>
            <c:symbol val="circle"/>
            <c:size val="5"/>
            <c:spPr>
              <a:solidFill>
                <a:schemeClr val="accent3"/>
              </a:solidFill>
              <a:ln w="9525">
                <a:solidFill>
                  <a:schemeClr val="accent3"/>
                </a:solidFill>
              </a:ln>
              <a:effectLst/>
            </c:spPr>
          </c:marker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it-IT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Foglio1!$A$2:$A$6</c:f>
              <c:strCache>
                <c:ptCount val="5"/>
                <c:pt idx="0">
                  <c:v>1T</c:v>
                </c:pt>
                <c:pt idx="1">
                  <c:v>2T</c:v>
                </c:pt>
                <c:pt idx="2">
                  <c:v>4T</c:v>
                </c:pt>
                <c:pt idx="3">
                  <c:v>6T</c:v>
                </c:pt>
                <c:pt idx="4">
                  <c:v>8T</c:v>
                </c:pt>
              </c:strCache>
            </c:strRef>
          </c:cat>
          <c:val>
            <c:numRef>
              <c:f>Foglio1!$D$2:$D$6</c:f>
              <c:numCache>
                <c:formatCode>0.0000</c:formatCode>
                <c:ptCount val="5"/>
                <c:pt idx="0">
                  <c:v>11.094900000000001</c:v>
                </c:pt>
                <c:pt idx="1">
                  <c:v>5.8006000000000002</c:v>
                </c:pt>
                <c:pt idx="2">
                  <c:v>3.5347</c:v>
                </c:pt>
                <c:pt idx="3">
                  <c:v>2.8469000000000002</c:v>
                </c:pt>
                <c:pt idx="4">
                  <c:v>3.7553000000000001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ADBB-4426-B408-B3D8B831F37D}"/>
            </c:ext>
          </c:extLst>
        </c:ser>
        <c:ser>
          <c:idx val="3"/>
          <c:order val="3"/>
          <c:tx>
            <c:strRef>
              <c:f>Foglio1!$E$1</c:f>
              <c:strCache>
                <c:ptCount val="1"/>
                <c:pt idx="0">
                  <c:v>N 512</c:v>
                </c:pt>
              </c:strCache>
            </c:strRef>
          </c:tx>
          <c:spPr>
            <a:ln w="28575" cap="rnd">
              <a:solidFill>
                <a:schemeClr val="accent4"/>
              </a:solidFill>
              <a:round/>
            </a:ln>
            <a:effectLst/>
          </c:spPr>
          <c:marker>
            <c:symbol val="circle"/>
            <c:size val="5"/>
            <c:spPr>
              <a:solidFill>
                <a:schemeClr val="accent4"/>
              </a:solidFill>
              <a:ln w="9525">
                <a:solidFill>
                  <a:schemeClr val="accent4"/>
                </a:solidFill>
              </a:ln>
              <a:effectLst/>
            </c:spPr>
          </c:marker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it-IT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Foglio1!$A$2:$A$6</c:f>
              <c:strCache>
                <c:ptCount val="5"/>
                <c:pt idx="0">
                  <c:v>1T</c:v>
                </c:pt>
                <c:pt idx="1">
                  <c:v>2T</c:v>
                </c:pt>
                <c:pt idx="2">
                  <c:v>4T</c:v>
                </c:pt>
                <c:pt idx="3">
                  <c:v>6T</c:v>
                </c:pt>
                <c:pt idx="4">
                  <c:v>8T</c:v>
                </c:pt>
              </c:strCache>
            </c:strRef>
          </c:cat>
          <c:val>
            <c:numRef>
              <c:f>Foglio1!$E$2:$E$6</c:f>
              <c:numCache>
                <c:formatCode>0.0000</c:formatCode>
                <c:ptCount val="5"/>
                <c:pt idx="0">
                  <c:v>168.15639999999999</c:v>
                </c:pt>
                <c:pt idx="1">
                  <c:v>83.887</c:v>
                </c:pt>
                <c:pt idx="2">
                  <c:v>50.049500000000002</c:v>
                </c:pt>
                <c:pt idx="3">
                  <c:v>39.182299999999998</c:v>
                </c:pt>
                <c:pt idx="4">
                  <c:v>53.658900000000003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3-ADBB-4426-B408-B3D8B831F37D}"/>
            </c:ext>
          </c:extLst>
        </c:ser>
        <c:dLbls>
          <c:dLblPos val="t"/>
          <c:showLegendKey val="0"/>
          <c:showVal val="1"/>
          <c:showCatName val="0"/>
          <c:showSerName val="0"/>
          <c:showPercent val="0"/>
          <c:showBubbleSize val="0"/>
        </c:dLbls>
        <c:marker val="1"/>
        <c:smooth val="0"/>
        <c:axId val="352876720"/>
        <c:axId val="351642016"/>
      </c:lineChart>
      <c:catAx>
        <c:axId val="352876720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it-IT"/>
          </a:p>
        </c:txPr>
        <c:crossAx val="351642016"/>
        <c:crossesAt val="1.0000000000000002E-2"/>
        <c:auto val="1"/>
        <c:lblAlgn val="ctr"/>
        <c:lblOffset val="100"/>
        <c:noMultiLvlLbl val="0"/>
      </c:catAx>
      <c:valAx>
        <c:axId val="351642016"/>
        <c:scaling>
          <c:logBase val="10"/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title>
          <c:tx>
            <c:rich>
              <a:bodyPr rot="-5400000" spcFirstLastPara="1" vertOverflow="ellipsis" vert="horz" wrap="square" anchor="ctr" anchorCtr="1"/>
              <a:lstStyle/>
              <a:p>
                <a:pPr>
                  <a:defRPr sz="1330" b="0" i="0" u="none" strike="noStrike" kern="1200" baseline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r>
                  <a:rPr lang="it-IT" dirty="0"/>
                  <a:t>Secondi</a:t>
                </a:r>
              </a:p>
            </c:rich>
          </c:tx>
          <c:overlay val="0"/>
          <c:spPr>
            <a:noFill/>
            <a:ln>
              <a:noFill/>
            </a:ln>
            <a:effectLst/>
          </c:spPr>
          <c:txPr>
            <a:bodyPr rot="-5400000" spcFirstLastPara="1" vertOverflow="ellipsis" vert="horz" wrap="square" anchor="ctr" anchorCtr="1"/>
            <a:lstStyle/>
            <a:p>
              <a:pPr>
                <a:defRPr sz="1330" b="0" i="0" u="none" strike="noStrike" kern="1200" baseline="0">
                  <a:solidFill>
                    <a:schemeClr val="tx1">
                      <a:lumMod val="65000"/>
                      <a:lumOff val="3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it-IT"/>
            </a:p>
          </c:txPr>
        </c:title>
        <c:numFmt formatCode="0.0000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it-IT"/>
          </a:p>
        </c:txPr>
        <c:crossAx val="352876720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r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it-IT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it-IT"/>
    </a:p>
  </c:txPr>
  <c:externalData r:id="rId3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it-IT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862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it-IT" dirty="0"/>
              <a:t>Efficienza</a:t>
            </a: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862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it-IT"/>
        </a:p>
      </c:txPr>
    </c:title>
    <c:autoTitleDeleted val="0"/>
    <c:plotArea>
      <c:layout/>
      <c:lineChart>
        <c:grouping val="standard"/>
        <c:varyColors val="0"/>
        <c:ser>
          <c:idx val="0"/>
          <c:order val="0"/>
          <c:tx>
            <c:strRef>
              <c:f>Foglio1!$B$1</c:f>
              <c:strCache>
                <c:ptCount val="1"/>
                <c:pt idx="0">
                  <c:v>N 64</c:v>
                </c:pt>
              </c:strCache>
            </c:strRef>
          </c:tx>
          <c:spPr>
            <a:ln w="28575" cap="rnd">
              <a:solidFill>
                <a:schemeClr val="accent1"/>
              </a:solidFill>
              <a:round/>
            </a:ln>
            <a:effectLst/>
          </c:spPr>
          <c:marker>
            <c:symbol val="circle"/>
            <c:size val="5"/>
            <c:spPr>
              <a:solidFill>
                <a:schemeClr val="accent1"/>
              </a:solidFill>
              <a:ln w="9525">
                <a:solidFill>
                  <a:schemeClr val="accent1"/>
                </a:solidFill>
              </a:ln>
              <a:effectLst/>
            </c:spPr>
          </c:marker>
          <c:cat>
            <c:strRef>
              <c:f>Foglio1!$A$2:$A$6</c:f>
              <c:strCache>
                <c:ptCount val="5"/>
                <c:pt idx="0">
                  <c:v>1P</c:v>
                </c:pt>
                <c:pt idx="1">
                  <c:v>2P</c:v>
                </c:pt>
                <c:pt idx="2">
                  <c:v>4P</c:v>
                </c:pt>
                <c:pt idx="3">
                  <c:v>6P</c:v>
                </c:pt>
                <c:pt idx="4">
                  <c:v>8P</c:v>
                </c:pt>
              </c:strCache>
            </c:strRef>
          </c:cat>
          <c:val>
            <c:numRef>
              <c:f>Foglio1!$B$2:$B$6</c:f>
              <c:numCache>
                <c:formatCode>General</c:formatCode>
                <c:ptCount val="5"/>
                <c:pt idx="0">
                  <c:v>0.6</c:v>
                </c:pt>
                <c:pt idx="1">
                  <c:v>0.34</c:v>
                </c:pt>
                <c:pt idx="2">
                  <c:v>0.22</c:v>
                </c:pt>
                <c:pt idx="3">
                  <c:v>0.16</c:v>
                </c:pt>
                <c:pt idx="4">
                  <c:v>0.11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2BA5-4E58-A160-71641889E788}"/>
            </c:ext>
          </c:extLst>
        </c:ser>
        <c:ser>
          <c:idx val="1"/>
          <c:order val="1"/>
          <c:tx>
            <c:strRef>
              <c:f>Foglio1!$C$1</c:f>
              <c:strCache>
                <c:ptCount val="1"/>
                <c:pt idx="0">
                  <c:v>N 128 </c:v>
                </c:pt>
              </c:strCache>
            </c:strRef>
          </c:tx>
          <c:spPr>
            <a:ln w="28575" cap="rnd">
              <a:solidFill>
                <a:schemeClr val="accent2"/>
              </a:solidFill>
              <a:round/>
            </a:ln>
            <a:effectLst/>
          </c:spPr>
          <c:marker>
            <c:symbol val="circle"/>
            <c:size val="5"/>
            <c:spPr>
              <a:solidFill>
                <a:schemeClr val="accent2"/>
              </a:solidFill>
              <a:ln w="9525">
                <a:solidFill>
                  <a:schemeClr val="accent2"/>
                </a:solidFill>
              </a:ln>
              <a:effectLst/>
            </c:spPr>
          </c:marker>
          <c:cat>
            <c:strRef>
              <c:f>Foglio1!$A$2:$A$6</c:f>
              <c:strCache>
                <c:ptCount val="5"/>
                <c:pt idx="0">
                  <c:v>1P</c:v>
                </c:pt>
                <c:pt idx="1">
                  <c:v>2P</c:v>
                </c:pt>
                <c:pt idx="2">
                  <c:v>4P</c:v>
                </c:pt>
                <c:pt idx="3">
                  <c:v>6P</c:v>
                </c:pt>
                <c:pt idx="4">
                  <c:v>8P</c:v>
                </c:pt>
              </c:strCache>
            </c:strRef>
          </c:cat>
          <c:val>
            <c:numRef>
              <c:f>Foglio1!$C$2:$C$6</c:f>
              <c:numCache>
                <c:formatCode>General</c:formatCode>
                <c:ptCount val="5"/>
                <c:pt idx="0">
                  <c:v>0.68</c:v>
                </c:pt>
                <c:pt idx="1">
                  <c:v>0.61</c:v>
                </c:pt>
                <c:pt idx="2">
                  <c:v>0.45</c:v>
                </c:pt>
                <c:pt idx="3">
                  <c:v>0.33</c:v>
                </c:pt>
                <c:pt idx="4">
                  <c:v>0.2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2BA5-4E58-A160-71641889E788}"/>
            </c:ext>
          </c:extLst>
        </c:ser>
        <c:ser>
          <c:idx val="2"/>
          <c:order val="2"/>
          <c:tx>
            <c:strRef>
              <c:f>Foglio1!$D$1</c:f>
              <c:strCache>
                <c:ptCount val="1"/>
                <c:pt idx="0">
                  <c:v>N 256 </c:v>
                </c:pt>
              </c:strCache>
            </c:strRef>
          </c:tx>
          <c:spPr>
            <a:ln w="28575" cap="rnd">
              <a:solidFill>
                <a:schemeClr val="accent3"/>
              </a:solidFill>
              <a:round/>
            </a:ln>
            <a:effectLst/>
          </c:spPr>
          <c:marker>
            <c:symbol val="circle"/>
            <c:size val="5"/>
            <c:spPr>
              <a:solidFill>
                <a:schemeClr val="accent3"/>
              </a:solidFill>
              <a:ln w="9525">
                <a:solidFill>
                  <a:schemeClr val="accent3"/>
                </a:solidFill>
              </a:ln>
              <a:effectLst/>
            </c:spPr>
          </c:marker>
          <c:cat>
            <c:strRef>
              <c:f>Foglio1!$A$2:$A$6</c:f>
              <c:strCache>
                <c:ptCount val="5"/>
                <c:pt idx="0">
                  <c:v>1P</c:v>
                </c:pt>
                <c:pt idx="1">
                  <c:v>2P</c:v>
                </c:pt>
                <c:pt idx="2">
                  <c:v>4P</c:v>
                </c:pt>
                <c:pt idx="3">
                  <c:v>6P</c:v>
                </c:pt>
                <c:pt idx="4">
                  <c:v>8P</c:v>
                </c:pt>
              </c:strCache>
            </c:strRef>
          </c:cat>
          <c:val>
            <c:numRef>
              <c:f>Foglio1!$D$2:$D$6</c:f>
              <c:numCache>
                <c:formatCode>General</c:formatCode>
                <c:ptCount val="5"/>
                <c:pt idx="0">
                  <c:v>0.63</c:v>
                </c:pt>
                <c:pt idx="1">
                  <c:v>0.6</c:v>
                </c:pt>
                <c:pt idx="2">
                  <c:v>0.5</c:v>
                </c:pt>
                <c:pt idx="3">
                  <c:v>0.41</c:v>
                </c:pt>
                <c:pt idx="4">
                  <c:v>0.23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2BA5-4E58-A160-71641889E788}"/>
            </c:ext>
          </c:extLst>
        </c:ser>
        <c:ser>
          <c:idx val="3"/>
          <c:order val="3"/>
          <c:tx>
            <c:strRef>
              <c:f>Foglio1!$E$1</c:f>
              <c:strCache>
                <c:ptCount val="1"/>
                <c:pt idx="0">
                  <c:v>N 512</c:v>
                </c:pt>
              </c:strCache>
            </c:strRef>
          </c:tx>
          <c:spPr>
            <a:ln w="28575" cap="rnd">
              <a:solidFill>
                <a:schemeClr val="accent4"/>
              </a:solidFill>
              <a:round/>
            </a:ln>
            <a:effectLst/>
          </c:spPr>
          <c:marker>
            <c:symbol val="circle"/>
            <c:size val="5"/>
            <c:spPr>
              <a:solidFill>
                <a:schemeClr val="accent4"/>
              </a:solidFill>
              <a:ln w="9525">
                <a:solidFill>
                  <a:schemeClr val="accent4"/>
                </a:solidFill>
              </a:ln>
              <a:effectLst/>
            </c:spPr>
          </c:marker>
          <c:cat>
            <c:strRef>
              <c:f>Foglio1!$A$2:$A$6</c:f>
              <c:strCache>
                <c:ptCount val="5"/>
                <c:pt idx="0">
                  <c:v>1P</c:v>
                </c:pt>
                <c:pt idx="1">
                  <c:v>2P</c:v>
                </c:pt>
                <c:pt idx="2">
                  <c:v>4P</c:v>
                </c:pt>
                <c:pt idx="3">
                  <c:v>6P</c:v>
                </c:pt>
                <c:pt idx="4">
                  <c:v>8P</c:v>
                </c:pt>
              </c:strCache>
            </c:strRef>
          </c:cat>
          <c:val>
            <c:numRef>
              <c:f>Foglio1!$E$2:$E$6</c:f>
              <c:numCache>
                <c:formatCode>General</c:formatCode>
                <c:ptCount val="5"/>
                <c:pt idx="0">
                  <c:v>0.71</c:v>
                </c:pt>
                <c:pt idx="1">
                  <c:v>0.71</c:v>
                </c:pt>
                <c:pt idx="2">
                  <c:v>0.59</c:v>
                </c:pt>
                <c:pt idx="3">
                  <c:v>0.5</c:v>
                </c:pt>
                <c:pt idx="4">
                  <c:v>0.28000000000000003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3-2BA5-4E58-A160-71641889E788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18111376"/>
        <c:axId val="2099601759"/>
      </c:lineChart>
      <c:catAx>
        <c:axId val="18111376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it-IT"/>
          </a:p>
        </c:txPr>
        <c:crossAx val="2099601759"/>
        <c:crosses val="autoZero"/>
        <c:auto val="1"/>
        <c:lblAlgn val="ctr"/>
        <c:lblOffset val="100"/>
        <c:noMultiLvlLbl val="0"/>
      </c:catAx>
      <c:valAx>
        <c:axId val="2099601759"/>
        <c:scaling>
          <c:orientation val="minMax"/>
          <c:max val="1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it-IT"/>
          </a:p>
        </c:txPr>
        <c:crossAx val="18111376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it-IT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it-IT"/>
    </a:p>
  </c:txPr>
  <c:externalData r:id="rId3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it-IT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862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it-IT" dirty="0" err="1"/>
              <a:t>Speedup</a:t>
            </a:r>
            <a:endParaRPr lang="it-IT" dirty="0"/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862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it-IT"/>
        </a:p>
      </c:txPr>
    </c:title>
    <c:autoTitleDeleted val="0"/>
    <c:plotArea>
      <c:layout/>
      <c:lineChart>
        <c:grouping val="standard"/>
        <c:varyColors val="0"/>
        <c:ser>
          <c:idx val="0"/>
          <c:order val="0"/>
          <c:tx>
            <c:strRef>
              <c:f>Foglio1!$B$1</c:f>
              <c:strCache>
                <c:ptCount val="1"/>
                <c:pt idx="0">
                  <c:v>N 64</c:v>
                </c:pt>
              </c:strCache>
            </c:strRef>
          </c:tx>
          <c:spPr>
            <a:ln w="28575" cap="rnd">
              <a:solidFill>
                <a:schemeClr val="accent1"/>
              </a:solidFill>
              <a:round/>
            </a:ln>
            <a:effectLst/>
          </c:spPr>
          <c:marker>
            <c:symbol val="circle"/>
            <c:size val="5"/>
            <c:spPr>
              <a:solidFill>
                <a:schemeClr val="accent1"/>
              </a:solidFill>
              <a:ln w="9525">
                <a:solidFill>
                  <a:schemeClr val="accent1"/>
                </a:solidFill>
              </a:ln>
              <a:effectLst/>
            </c:spPr>
          </c:marker>
          <c:cat>
            <c:strRef>
              <c:f>Foglio1!$A$2:$A$6</c:f>
              <c:strCache>
                <c:ptCount val="5"/>
                <c:pt idx="0">
                  <c:v>1T</c:v>
                </c:pt>
                <c:pt idx="1">
                  <c:v>2T</c:v>
                </c:pt>
                <c:pt idx="2">
                  <c:v>4T</c:v>
                </c:pt>
                <c:pt idx="3">
                  <c:v>6T</c:v>
                </c:pt>
                <c:pt idx="4">
                  <c:v>8T</c:v>
                </c:pt>
              </c:strCache>
            </c:strRef>
          </c:cat>
          <c:val>
            <c:numRef>
              <c:f>Foglio1!$B$2:$B$6</c:f>
              <c:numCache>
                <c:formatCode>General</c:formatCode>
                <c:ptCount val="5"/>
                <c:pt idx="0">
                  <c:v>0.6</c:v>
                </c:pt>
                <c:pt idx="1">
                  <c:v>0.67</c:v>
                </c:pt>
                <c:pt idx="2">
                  <c:v>0.86</c:v>
                </c:pt>
                <c:pt idx="3">
                  <c:v>0.97</c:v>
                </c:pt>
                <c:pt idx="4">
                  <c:v>0.88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812F-4CF3-907B-D9E54270F91A}"/>
            </c:ext>
          </c:extLst>
        </c:ser>
        <c:ser>
          <c:idx val="1"/>
          <c:order val="1"/>
          <c:tx>
            <c:strRef>
              <c:f>Foglio1!$C$1</c:f>
              <c:strCache>
                <c:ptCount val="1"/>
                <c:pt idx="0">
                  <c:v>N 128</c:v>
                </c:pt>
              </c:strCache>
            </c:strRef>
          </c:tx>
          <c:spPr>
            <a:ln w="28575" cap="rnd">
              <a:solidFill>
                <a:schemeClr val="accent2"/>
              </a:solidFill>
              <a:round/>
            </a:ln>
            <a:effectLst/>
          </c:spPr>
          <c:marker>
            <c:symbol val="circle"/>
            <c:size val="5"/>
            <c:spPr>
              <a:solidFill>
                <a:schemeClr val="accent2"/>
              </a:solidFill>
              <a:ln w="9525">
                <a:solidFill>
                  <a:schemeClr val="accent2"/>
                </a:solidFill>
              </a:ln>
              <a:effectLst/>
            </c:spPr>
          </c:marker>
          <c:cat>
            <c:strRef>
              <c:f>Foglio1!$A$2:$A$6</c:f>
              <c:strCache>
                <c:ptCount val="5"/>
                <c:pt idx="0">
                  <c:v>1T</c:v>
                </c:pt>
                <c:pt idx="1">
                  <c:v>2T</c:v>
                </c:pt>
                <c:pt idx="2">
                  <c:v>4T</c:v>
                </c:pt>
                <c:pt idx="3">
                  <c:v>6T</c:v>
                </c:pt>
                <c:pt idx="4">
                  <c:v>8T</c:v>
                </c:pt>
              </c:strCache>
            </c:strRef>
          </c:cat>
          <c:val>
            <c:numRef>
              <c:f>Foglio1!$C$2:$C$6</c:f>
              <c:numCache>
                <c:formatCode>General</c:formatCode>
                <c:ptCount val="5"/>
                <c:pt idx="0">
                  <c:v>0.68</c:v>
                </c:pt>
                <c:pt idx="1">
                  <c:v>1.21</c:v>
                </c:pt>
                <c:pt idx="2">
                  <c:v>1.81</c:v>
                </c:pt>
                <c:pt idx="3">
                  <c:v>1.97</c:v>
                </c:pt>
                <c:pt idx="4">
                  <c:v>1.64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812F-4CF3-907B-D9E54270F91A}"/>
            </c:ext>
          </c:extLst>
        </c:ser>
        <c:ser>
          <c:idx val="2"/>
          <c:order val="2"/>
          <c:tx>
            <c:strRef>
              <c:f>Foglio1!$D$1</c:f>
              <c:strCache>
                <c:ptCount val="1"/>
                <c:pt idx="0">
                  <c:v>N 256</c:v>
                </c:pt>
              </c:strCache>
            </c:strRef>
          </c:tx>
          <c:spPr>
            <a:ln w="28575" cap="rnd">
              <a:solidFill>
                <a:schemeClr val="accent3"/>
              </a:solidFill>
              <a:round/>
            </a:ln>
            <a:effectLst/>
          </c:spPr>
          <c:marker>
            <c:symbol val="circle"/>
            <c:size val="5"/>
            <c:spPr>
              <a:solidFill>
                <a:schemeClr val="accent3"/>
              </a:solidFill>
              <a:ln w="9525">
                <a:solidFill>
                  <a:schemeClr val="accent3"/>
                </a:solidFill>
              </a:ln>
              <a:effectLst/>
            </c:spPr>
          </c:marker>
          <c:cat>
            <c:strRef>
              <c:f>Foglio1!$A$2:$A$6</c:f>
              <c:strCache>
                <c:ptCount val="5"/>
                <c:pt idx="0">
                  <c:v>1T</c:v>
                </c:pt>
                <c:pt idx="1">
                  <c:v>2T</c:v>
                </c:pt>
                <c:pt idx="2">
                  <c:v>4T</c:v>
                </c:pt>
                <c:pt idx="3">
                  <c:v>6T</c:v>
                </c:pt>
                <c:pt idx="4">
                  <c:v>8T</c:v>
                </c:pt>
              </c:strCache>
            </c:strRef>
          </c:cat>
          <c:val>
            <c:numRef>
              <c:f>Foglio1!$D$2:$D$6</c:f>
              <c:numCache>
                <c:formatCode>General</c:formatCode>
                <c:ptCount val="5"/>
                <c:pt idx="0">
                  <c:v>0.63</c:v>
                </c:pt>
                <c:pt idx="1">
                  <c:v>1.21</c:v>
                </c:pt>
                <c:pt idx="2">
                  <c:v>1.99</c:v>
                </c:pt>
                <c:pt idx="3">
                  <c:v>2.46</c:v>
                </c:pt>
                <c:pt idx="4">
                  <c:v>1.87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812F-4CF3-907B-D9E54270F91A}"/>
            </c:ext>
          </c:extLst>
        </c:ser>
        <c:ser>
          <c:idx val="3"/>
          <c:order val="3"/>
          <c:tx>
            <c:strRef>
              <c:f>Foglio1!$E$1</c:f>
              <c:strCache>
                <c:ptCount val="1"/>
                <c:pt idx="0">
                  <c:v>N 512</c:v>
                </c:pt>
              </c:strCache>
            </c:strRef>
          </c:tx>
          <c:spPr>
            <a:ln w="28575" cap="rnd">
              <a:solidFill>
                <a:schemeClr val="accent4"/>
              </a:solidFill>
              <a:round/>
            </a:ln>
            <a:effectLst/>
          </c:spPr>
          <c:marker>
            <c:symbol val="circle"/>
            <c:size val="5"/>
            <c:spPr>
              <a:solidFill>
                <a:schemeClr val="accent4"/>
              </a:solidFill>
              <a:ln w="9525">
                <a:solidFill>
                  <a:schemeClr val="accent4"/>
                </a:solidFill>
              </a:ln>
              <a:effectLst/>
            </c:spPr>
          </c:marker>
          <c:cat>
            <c:strRef>
              <c:f>Foglio1!$A$2:$A$6</c:f>
              <c:strCache>
                <c:ptCount val="5"/>
                <c:pt idx="0">
                  <c:v>1T</c:v>
                </c:pt>
                <c:pt idx="1">
                  <c:v>2T</c:v>
                </c:pt>
                <c:pt idx="2">
                  <c:v>4T</c:v>
                </c:pt>
                <c:pt idx="3">
                  <c:v>6T</c:v>
                </c:pt>
                <c:pt idx="4">
                  <c:v>8T</c:v>
                </c:pt>
              </c:strCache>
            </c:strRef>
          </c:cat>
          <c:val>
            <c:numRef>
              <c:f>Foglio1!$E$2:$E$6</c:f>
              <c:numCache>
                <c:formatCode>General</c:formatCode>
                <c:ptCount val="5"/>
                <c:pt idx="0">
                  <c:v>0.71</c:v>
                </c:pt>
                <c:pt idx="1">
                  <c:v>1.41</c:v>
                </c:pt>
                <c:pt idx="2">
                  <c:v>2.37</c:v>
                </c:pt>
                <c:pt idx="3">
                  <c:v>3.03</c:v>
                </c:pt>
                <c:pt idx="4">
                  <c:v>2.21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3-812F-4CF3-907B-D9E54270F91A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18111376"/>
        <c:axId val="2099601759"/>
      </c:lineChart>
      <c:catAx>
        <c:axId val="18111376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it-IT"/>
          </a:p>
        </c:txPr>
        <c:crossAx val="2099601759"/>
        <c:crosses val="autoZero"/>
        <c:auto val="1"/>
        <c:lblAlgn val="ctr"/>
        <c:lblOffset val="100"/>
        <c:noMultiLvlLbl val="0"/>
      </c:catAx>
      <c:valAx>
        <c:axId val="2099601759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it-IT"/>
          </a:p>
        </c:txPr>
        <c:crossAx val="18111376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it-IT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it-IT"/>
    </a:p>
  </c:txPr>
  <c:externalData r:id="rId3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it-IT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862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it-IT" dirty="0"/>
              <a:t>Tempi</a:t>
            </a: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862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it-IT"/>
        </a:p>
      </c:txPr>
    </c:title>
    <c:autoTitleDeleted val="0"/>
    <c:plotArea>
      <c:layout/>
      <c:lineChart>
        <c:grouping val="standard"/>
        <c:varyColors val="0"/>
        <c:ser>
          <c:idx val="0"/>
          <c:order val="0"/>
          <c:tx>
            <c:strRef>
              <c:f>Foglio1!$B$1</c:f>
              <c:strCache>
                <c:ptCount val="1"/>
                <c:pt idx="0">
                  <c:v>N 64</c:v>
                </c:pt>
              </c:strCache>
            </c:strRef>
          </c:tx>
          <c:spPr>
            <a:ln w="28575" cap="rnd">
              <a:solidFill>
                <a:schemeClr val="accent1"/>
              </a:solidFill>
              <a:round/>
            </a:ln>
            <a:effectLst/>
          </c:spPr>
          <c:marker>
            <c:symbol val="circle"/>
            <c:size val="5"/>
            <c:spPr>
              <a:solidFill>
                <a:schemeClr val="accent1"/>
              </a:solidFill>
              <a:ln w="9525">
                <a:solidFill>
                  <a:schemeClr val="accent1"/>
                </a:solidFill>
              </a:ln>
              <a:effectLst/>
            </c:spPr>
          </c:marker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it-IT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Foglio1!$A$2:$A$6</c:f>
              <c:strCache>
                <c:ptCount val="5"/>
                <c:pt idx="0">
                  <c:v>1P</c:v>
                </c:pt>
                <c:pt idx="1">
                  <c:v>2P</c:v>
                </c:pt>
                <c:pt idx="2">
                  <c:v>4P</c:v>
                </c:pt>
                <c:pt idx="3">
                  <c:v>6P</c:v>
                </c:pt>
                <c:pt idx="4">
                  <c:v>8P</c:v>
                </c:pt>
              </c:strCache>
            </c:strRef>
          </c:cat>
          <c:val>
            <c:numRef>
              <c:f>Foglio1!$B$2:$B$6</c:f>
              <c:numCache>
                <c:formatCode>General</c:formatCode>
                <c:ptCount val="5"/>
                <c:pt idx="0">
                  <c:v>3.2399999999999998E-2</c:v>
                </c:pt>
                <c:pt idx="1">
                  <c:v>2.3E-2</c:v>
                </c:pt>
                <c:pt idx="2">
                  <c:v>2.7400000000000001E-2</c:v>
                </c:pt>
                <c:pt idx="3">
                  <c:v>3.6700000000000003E-2</c:v>
                </c:pt>
                <c:pt idx="4">
                  <c:v>4.3499999999999997E-2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E126-4A07-9811-EC39CEB3B034}"/>
            </c:ext>
          </c:extLst>
        </c:ser>
        <c:ser>
          <c:idx val="1"/>
          <c:order val="1"/>
          <c:tx>
            <c:strRef>
              <c:f>Foglio1!$C$1</c:f>
              <c:strCache>
                <c:ptCount val="1"/>
                <c:pt idx="0">
                  <c:v>N 128</c:v>
                </c:pt>
              </c:strCache>
            </c:strRef>
          </c:tx>
          <c:spPr>
            <a:ln w="28575" cap="rnd">
              <a:solidFill>
                <a:schemeClr val="accent2"/>
              </a:solidFill>
              <a:round/>
            </a:ln>
            <a:effectLst/>
          </c:spPr>
          <c:marker>
            <c:symbol val="circle"/>
            <c:size val="5"/>
            <c:spPr>
              <a:solidFill>
                <a:schemeClr val="accent2"/>
              </a:solidFill>
              <a:ln w="9525">
                <a:solidFill>
                  <a:schemeClr val="accent2"/>
                </a:solidFill>
              </a:ln>
              <a:effectLst/>
            </c:spPr>
          </c:marker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it-IT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Foglio1!$A$2:$A$6</c:f>
              <c:strCache>
                <c:ptCount val="5"/>
                <c:pt idx="0">
                  <c:v>1P</c:v>
                </c:pt>
                <c:pt idx="1">
                  <c:v>2P</c:v>
                </c:pt>
                <c:pt idx="2">
                  <c:v>4P</c:v>
                </c:pt>
                <c:pt idx="3">
                  <c:v>6P</c:v>
                </c:pt>
                <c:pt idx="4">
                  <c:v>8P</c:v>
                </c:pt>
              </c:strCache>
            </c:strRef>
          </c:cat>
          <c:val>
            <c:numRef>
              <c:f>Foglio1!$C$2:$C$6</c:f>
              <c:numCache>
                <c:formatCode>General</c:formatCode>
                <c:ptCount val="5"/>
                <c:pt idx="0">
                  <c:v>0.46789999999999998</c:v>
                </c:pt>
                <c:pt idx="1">
                  <c:v>0.26119999999999999</c:v>
                </c:pt>
                <c:pt idx="2">
                  <c:v>0.20019999999999999</c:v>
                </c:pt>
                <c:pt idx="3">
                  <c:v>0.19070000000000001</c:v>
                </c:pt>
                <c:pt idx="4">
                  <c:v>0.26939999999999997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3-E126-4A07-9811-EC39CEB3B034}"/>
            </c:ext>
          </c:extLst>
        </c:ser>
        <c:ser>
          <c:idx val="2"/>
          <c:order val="2"/>
          <c:tx>
            <c:strRef>
              <c:f>Foglio1!$D$1</c:f>
              <c:strCache>
                <c:ptCount val="1"/>
                <c:pt idx="0">
                  <c:v>N 256</c:v>
                </c:pt>
              </c:strCache>
            </c:strRef>
          </c:tx>
          <c:spPr>
            <a:ln w="28575" cap="rnd">
              <a:solidFill>
                <a:schemeClr val="accent3"/>
              </a:solidFill>
              <a:round/>
            </a:ln>
            <a:effectLst/>
          </c:spPr>
          <c:marker>
            <c:symbol val="circle"/>
            <c:size val="5"/>
            <c:spPr>
              <a:solidFill>
                <a:schemeClr val="accent3"/>
              </a:solidFill>
              <a:ln w="9525">
                <a:solidFill>
                  <a:schemeClr val="accent3"/>
                </a:solidFill>
              </a:ln>
              <a:effectLst/>
            </c:spPr>
          </c:marker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it-IT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Foglio1!$A$2:$A$6</c:f>
              <c:strCache>
                <c:ptCount val="5"/>
                <c:pt idx="0">
                  <c:v>1P</c:v>
                </c:pt>
                <c:pt idx="1">
                  <c:v>2P</c:v>
                </c:pt>
                <c:pt idx="2">
                  <c:v>4P</c:v>
                </c:pt>
                <c:pt idx="3">
                  <c:v>6P</c:v>
                </c:pt>
                <c:pt idx="4">
                  <c:v>8P</c:v>
                </c:pt>
              </c:strCache>
            </c:strRef>
          </c:cat>
          <c:val>
            <c:numRef>
              <c:f>Foglio1!$D$2:$D$6</c:f>
              <c:numCache>
                <c:formatCode>#,##0</c:formatCode>
                <c:ptCount val="5"/>
                <c:pt idx="0">
                  <c:v>7.1218000000000004</c:v>
                </c:pt>
                <c:pt idx="1">
                  <c:v>3.8228</c:v>
                </c:pt>
                <c:pt idx="2" formatCode="General">
                  <c:v>2.4794999999999998</c:v>
                </c:pt>
                <c:pt idx="3" formatCode="General">
                  <c:v>2.0785999999999998</c:v>
                </c:pt>
                <c:pt idx="4">
                  <c:v>2.9129999999999998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4-E126-4A07-9811-EC39CEB3B034}"/>
            </c:ext>
          </c:extLst>
        </c:ser>
        <c:ser>
          <c:idx val="3"/>
          <c:order val="3"/>
          <c:tx>
            <c:strRef>
              <c:f>Foglio1!$E$1</c:f>
              <c:strCache>
                <c:ptCount val="1"/>
                <c:pt idx="0">
                  <c:v>N 512</c:v>
                </c:pt>
              </c:strCache>
            </c:strRef>
          </c:tx>
          <c:spPr>
            <a:ln w="28575" cap="rnd">
              <a:solidFill>
                <a:schemeClr val="accent4"/>
              </a:solidFill>
              <a:round/>
            </a:ln>
            <a:effectLst/>
          </c:spPr>
          <c:marker>
            <c:symbol val="circle"/>
            <c:size val="5"/>
            <c:spPr>
              <a:solidFill>
                <a:schemeClr val="accent4"/>
              </a:solidFill>
              <a:ln w="9525">
                <a:solidFill>
                  <a:schemeClr val="accent4"/>
                </a:solidFill>
              </a:ln>
              <a:effectLst/>
            </c:spPr>
          </c:marker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it-IT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Foglio1!$A$2:$A$6</c:f>
              <c:strCache>
                <c:ptCount val="5"/>
                <c:pt idx="0">
                  <c:v>1P</c:v>
                </c:pt>
                <c:pt idx="1">
                  <c:v>2P</c:v>
                </c:pt>
                <c:pt idx="2">
                  <c:v>4P</c:v>
                </c:pt>
                <c:pt idx="3">
                  <c:v>6P</c:v>
                </c:pt>
                <c:pt idx="4">
                  <c:v>8P</c:v>
                </c:pt>
              </c:strCache>
            </c:strRef>
          </c:cat>
          <c:val>
            <c:numRef>
              <c:f>Foglio1!$E$2:$E$6</c:f>
              <c:numCache>
                <c:formatCode>General</c:formatCode>
                <c:ptCount val="5"/>
                <c:pt idx="0">
                  <c:v>122.0479</c:v>
                </c:pt>
                <c:pt idx="1">
                  <c:v>63.9861</c:v>
                </c:pt>
                <c:pt idx="2" formatCode="#,##0">
                  <c:v>37.343000000000004</c:v>
                </c:pt>
                <c:pt idx="3" formatCode="#,##0">
                  <c:v>30.943200000000001</c:v>
                </c:pt>
                <c:pt idx="4">
                  <c:v>44.939799999999998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5-E126-4A07-9811-EC39CEB3B034}"/>
            </c:ext>
          </c:extLst>
        </c:ser>
        <c:dLbls>
          <c:dLblPos val="t"/>
          <c:showLegendKey val="0"/>
          <c:showVal val="1"/>
          <c:showCatName val="0"/>
          <c:showSerName val="0"/>
          <c:showPercent val="0"/>
          <c:showBubbleSize val="0"/>
        </c:dLbls>
        <c:marker val="1"/>
        <c:smooth val="0"/>
        <c:axId val="352876720"/>
        <c:axId val="351642016"/>
      </c:lineChart>
      <c:catAx>
        <c:axId val="352876720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it-IT"/>
          </a:p>
        </c:txPr>
        <c:crossAx val="351642016"/>
        <c:crossesAt val="1.0000000000000002E-2"/>
        <c:auto val="1"/>
        <c:lblAlgn val="ctr"/>
        <c:lblOffset val="100"/>
        <c:noMultiLvlLbl val="0"/>
      </c:catAx>
      <c:valAx>
        <c:axId val="351642016"/>
        <c:scaling>
          <c:logBase val="10"/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title>
          <c:tx>
            <c:rich>
              <a:bodyPr rot="-5400000" spcFirstLastPara="1" vertOverflow="ellipsis" vert="horz" wrap="square" anchor="ctr" anchorCtr="1"/>
              <a:lstStyle/>
              <a:p>
                <a:pPr>
                  <a:defRPr sz="1330" b="0" i="0" u="none" strike="noStrike" kern="1200" baseline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r>
                  <a:rPr lang="it-IT" dirty="0"/>
                  <a:t>Secondi</a:t>
                </a:r>
              </a:p>
            </c:rich>
          </c:tx>
          <c:overlay val="0"/>
          <c:spPr>
            <a:noFill/>
            <a:ln>
              <a:noFill/>
            </a:ln>
            <a:effectLst/>
          </c:spPr>
          <c:txPr>
            <a:bodyPr rot="-5400000" spcFirstLastPara="1" vertOverflow="ellipsis" vert="horz" wrap="square" anchor="ctr" anchorCtr="1"/>
            <a:lstStyle/>
            <a:p>
              <a:pPr>
                <a:defRPr sz="1330" b="0" i="0" u="none" strike="noStrike" kern="1200" baseline="0">
                  <a:solidFill>
                    <a:schemeClr val="tx1">
                      <a:lumMod val="65000"/>
                      <a:lumOff val="3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it-IT"/>
            </a:p>
          </c:txPr>
        </c:title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it-IT"/>
          </a:p>
        </c:txPr>
        <c:crossAx val="352876720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r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it-IT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it-IT"/>
    </a:p>
  </c:txPr>
  <c:externalData r:id="rId3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it-IT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862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en-US" noProof="0" dirty="0"/>
              <a:t>Speed</a:t>
            </a:r>
            <a:r>
              <a:rPr lang="en-US" baseline="0" noProof="0" dirty="0"/>
              <a:t>up</a:t>
            </a: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862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it-IT"/>
        </a:p>
      </c:txPr>
    </c:title>
    <c:autoTitleDeleted val="0"/>
    <c:plotArea>
      <c:layout/>
      <c:lineChart>
        <c:grouping val="standard"/>
        <c:varyColors val="0"/>
        <c:ser>
          <c:idx val="0"/>
          <c:order val="0"/>
          <c:tx>
            <c:strRef>
              <c:f>Foglio1!$B$1</c:f>
              <c:strCache>
                <c:ptCount val="1"/>
                <c:pt idx="0">
                  <c:v>N 64</c:v>
                </c:pt>
              </c:strCache>
            </c:strRef>
          </c:tx>
          <c:spPr>
            <a:ln w="28575" cap="rnd">
              <a:solidFill>
                <a:schemeClr val="accent1"/>
              </a:solidFill>
              <a:round/>
            </a:ln>
            <a:effectLst/>
          </c:spPr>
          <c:marker>
            <c:symbol val="circle"/>
            <c:size val="5"/>
            <c:spPr>
              <a:solidFill>
                <a:schemeClr val="accent1"/>
              </a:solidFill>
              <a:ln w="9525">
                <a:solidFill>
                  <a:schemeClr val="accent1"/>
                </a:solidFill>
              </a:ln>
              <a:effectLst/>
            </c:spPr>
          </c:marker>
          <c:cat>
            <c:strRef>
              <c:f>Foglio1!$A$2:$A$6</c:f>
              <c:strCache>
                <c:ptCount val="5"/>
                <c:pt idx="0">
                  <c:v>1P</c:v>
                </c:pt>
                <c:pt idx="1">
                  <c:v>2P</c:v>
                </c:pt>
                <c:pt idx="2">
                  <c:v>4P</c:v>
                </c:pt>
                <c:pt idx="3">
                  <c:v>6P</c:v>
                </c:pt>
                <c:pt idx="4">
                  <c:v>8P</c:v>
                </c:pt>
              </c:strCache>
            </c:strRef>
          </c:cat>
          <c:val>
            <c:numRef>
              <c:f>Foglio1!$B$2:$B$6</c:f>
              <c:numCache>
                <c:formatCode>General</c:formatCode>
                <c:ptCount val="5"/>
                <c:pt idx="0">
                  <c:v>0.9</c:v>
                </c:pt>
                <c:pt idx="1">
                  <c:v>1.26</c:v>
                </c:pt>
                <c:pt idx="2">
                  <c:v>1.06</c:v>
                </c:pt>
                <c:pt idx="3">
                  <c:v>0.79</c:v>
                </c:pt>
                <c:pt idx="4">
                  <c:v>0.67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125B-4236-80F3-41BCFC5D0C76}"/>
            </c:ext>
          </c:extLst>
        </c:ser>
        <c:ser>
          <c:idx val="1"/>
          <c:order val="1"/>
          <c:tx>
            <c:strRef>
              <c:f>Foglio1!$C$1</c:f>
              <c:strCache>
                <c:ptCount val="1"/>
                <c:pt idx="0">
                  <c:v>N 128</c:v>
                </c:pt>
              </c:strCache>
            </c:strRef>
          </c:tx>
          <c:spPr>
            <a:ln w="28575" cap="rnd">
              <a:solidFill>
                <a:schemeClr val="accent2"/>
              </a:solidFill>
              <a:round/>
            </a:ln>
            <a:effectLst/>
          </c:spPr>
          <c:marker>
            <c:symbol val="circle"/>
            <c:size val="5"/>
            <c:spPr>
              <a:solidFill>
                <a:schemeClr val="accent2"/>
              </a:solidFill>
              <a:ln w="9525">
                <a:solidFill>
                  <a:schemeClr val="accent2"/>
                </a:solidFill>
              </a:ln>
              <a:effectLst/>
            </c:spPr>
          </c:marker>
          <c:cat>
            <c:strRef>
              <c:f>Foglio1!$A$2:$A$6</c:f>
              <c:strCache>
                <c:ptCount val="5"/>
                <c:pt idx="0">
                  <c:v>1P</c:v>
                </c:pt>
                <c:pt idx="1">
                  <c:v>2P</c:v>
                </c:pt>
                <c:pt idx="2">
                  <c:v>4P</c:v>
                </c:pt>
                <c:pt idx="3">
                  <c:v>6P</c:v>
                </c:pt>
                <c:pt idx="4">
                  <c:v>8P</c:v>
                </c:pt>
              </c:strCache>
            </c:strRef>
          </c:cat>
          <c:val>
            <c:numRef>
              <c:f>Foglio1!$C$2:$C$6</c:f>
              <c:numCache>
                <c:formatCode>General</c:formatCode>
                <c:ptCount val="5"/>
                <c:pt idx="0">
                  <c:v>1</c:v>
                </c:pt>
                <c:pt idx="1">
                  <c:v>1.87</c:v>
                </c:pt>
                <c:pt idx="2">
                  <c:v>2.44</c:v>
                </c:pt>
                <c:pt idx="3">
                  <c:v>2.56</c:v>
                </c:pt>
                <c:pt idx="4">
                  <c:v>1.81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125B-4236-80F3-41BCFC5D0C76}"/>
            </c:ext>
          </c:extLst>
        </c:ser>
        <c:ser>
          <c:idx val="2"/>
          <c:order val="2"/>
          <c:tx>
            <c:strRef>
              <c:f>Foglio1!$D$1</c:f>
              <c:strCache>
                <c:ptCount val="1"/>
                <c:pt idx="0">
                  <c:v>N 256</c:v>
                </c:pt>
              </c:strCache>
            </c:strRef>
          </c:tx>
          <c:spPr>
            <a:ln w="28575" cap="rnd">
              <a:solidFill>
                <a:schemeClr val="accent3"/>
              </a:solidFill>
              <a:round/>
            </a:ln>
            <a:effectLst/>
          </c:spPr>
          <c:marker>
            <c:symbol val="circle"/>
            <c:size val="5"/>
            <c:spPr>
              <a:solidFill>
                <a:schemeClr val="accent3"/>
              </a:solidFill>
              <a:ln w="9525">
                <a:solidFill>
                  <a:schemeClr val="accent3"/>
                </a:solidFill>
              </a:ln>
              <a:effectLst/>
            </c:spPr>
          </c:marker>
          <c:cat>
            <c:strRef>
              <c:f>Foglio1!$A$2:$A$6</c:f>
              <c:strCache>
                <c:ptCount val="5"/>
                <c:pt idx="0">
                  <c:v>1P</c:v>
                </c:pt>
                <c:pt idx="1">
                  <c:v>2P</c:v>
                </c:pt>
                <c:pt idx="2">
                  <c:v>4P</c:v>
                </c:pt>
                <c:pt idx="3">
                  <c:v>6P</c:v>
                </c:pt>
                <c:pt idx="4">
                  <c:v>8P</c:v>
                </c:pt>
              </c:strCache>
            </c:strRef>
          </c:cat>
          <c:val>
            <c:numRef>
              <c:f>Foglio1!$D$2:$D$6</c:f>
              <c:numCache>
                <c:formatCode>General</c:formatCode>
                <c:ptCount val="5"/>
                <c:pt idx="0">
                  <c:v>0.99</c:v>
                </c:pt>
                <c:pt idx="1">
                  <c:v>1.84</c:v>
                </c:pt>
                <c:pt idx="2">
                  <c:v>2.83</c:v>
                </c:pt>
                <c:pt idx="3">
                  <c:v>3.38</c:v>
                </c:pt>
                <c:pt idx="4">
                  <c:v>2.41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125B-4236-80F3-41BCFC5D0C76}"/>
            </c:ext>
          </c:extLst>
        </c:ser>
        <c:ser>
          <c:idx val="3"/>
          <c:order val="3"/>
          <c:tx>
            <c:strRef>
              <c:f>Foglio1!$E$1</c:f>
              <c:strCache>
                <c:ptCount val="1"/>
                <c:pt idx="0">
                  <c:v>N 512</c:v>
                </c:pt>
              </c:strCache>
            </c:strRef>
          </c:tx>
          <c:spPr>
            <a:ln w="28575" cap="rnd">
              <a:solidFill>
                <a:schemeClr val="accent4"/>
              </a:solidFill>
              <a:round/>
            </a:ln>
            <a:effectLst/>
          </c:spPr>
          <c:marker>
            <c:symbol val="circle"/>
            <c:size val="5"/>
            <c:spPr>
              <a:solidFill>
                <a:schemeClr val="accent4"/>
              </a:solidFill>
              <a:ln w="9525">
                <a:solidFill>
                  <a:schemeClr val="accent4"/>
                </a:solidFill>
              </a:ln>
              <a:effectLst/>
            </c:spPr>
          </c:marker>
          <c:cat>
            <c:strRef>
              <c:f>Foglio1!$A$2:$A$6</c:f>
              <c:strCache>
                <c:ptCount val="5"/>
                <c:pt idx="0">
                  <c:v>1P</c:v>
                </c:pt>
                <c:pt idx="1">
                  <c:v>2P</c:v>
                </c:pt>
                <c:pt idx="2">
                  <c:v>4P</c:v>
                </c:pt>
                <c:pt idx="3">
                  <c:v>6P</c:v>
                </c:pt>
                <c:pt idx="4">
                  <c:v>8P</c:v>
                </c:pt>
              </c:strCache>
            </c:strRef>
          </c:cat>
          <c:val>
            <c:numRef>
              <c:f>Foglio1!$E$2:$E$6</c:f>
              <c:numCache>
                <c:formatCode>General</c:formatCode>
                <c:ptCount val="5"/>
                <c:pt idx="0">
                  <c:v>0.97</c:v>
                </c:pt>
                <c:pt idx="1">
                  <c:v>1.85</c:v>
                </c:pt>
                <c:pt idx="2">
                  <c:v>3.18</c:v>
                </c:pt>
                <c:pt idx="3">
                  <c:v>3.83</c:v>
                </c:pt>
                <c:pt idx="4">
                  <c:v>2.64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3-125B-4236-80F3-41BCFC5D0C76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455103296"/>
        <c:axId val="351644896"/>
      </c:lineChart>
      <c:catAx>
        <c:axId val="455103296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it-IT"/>
          </a:p>
        </c:txPr>
        <c:crossAx val="351644896"/>
        <c:crosses val="autoZero"/>
        <c:auto val="1"/>
        <c:lblAlgn val="ctr"/>
        <c:lblOffset val="100"/>
        <c:noMultiLvlLbl val="0"/>
      </c:catAx>
      <c:valAx>
        <c:axId val="351644896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it-IT"/>
          </a:p>
        </c:txPr>
        <c:crossAx val="455103296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it-IT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it-IT"/>
    </a:p>
  </c:txPr>
  <c:externalData r:id="rId3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it-IT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862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it-IT" dirty="0"/>
              <a:t>Efficienza</a:t>
            </a: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862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it-IT"/>
        </a:p>
      </c:txPr>
    </c:title>
    <c:autoTitleDeleted val="0"/>
    <c:plotArea>
      <c:layout/>
      <c:lineChart>
        <c:grouping val="standard"/>
        <c:varyColors val="0"/>
        <c:ser>
          <c:idx val="0"/>
          <c:order val="0"/>
          <c:tx>
            <c:strRef>
              <c:f>Foglio1!$B$1</c:f>
              <c:strCache>
                <c:ptCount val="1"/>
                <c:pt idx="0">
                  <c:v>N 64</c:v>
                </c:pt>
              </c:strCache>
            </c:strRef>
          </c:tx>
          <c:spPr>
            <a:ln w="28575" cap="rnd">
              <a:solidFill>
                <a:schemeClr val="accent1"/>
              </a:solidFill>
              <a:round/>
            </a:ln>
            <a:effectLst/>
          </c:spPr>
          <c:marker>
            <c:symbol val="circle"/>
            <c:size val="5"/>
            <c:spPr>
              <a:solidFill>
                <a:schemeClr val="accent1"/>
              </a:solidFill>
              <a:ln w="9525">
                <a:solidFill>
                  <a:schemeClr val="accent1"/>
                </a:solidFill>
              </a:ln>
              <a:effectLst/>
            </c:spPr>
          </c:marker>
          <c:cat>
            <c:strRef>
              <c:f>Foglio1!$A$2:$A$6</c:f>
              <c:strCache>
                <c:ptCount val="5"/>
                <c:pt idx="0">
                  <c:v>1P</c:v>
                </c:pt>
                <c:pt idx="1">
                  <c:v>2P</c:v>
                </c:pt>
                <c:pt idx="2">
                  <c:v>4P</c:v>
                </c:pt>
                <c:pt idx="3">
                  <c:v>6P</c:v>
                </c:pt>
                <c:pt idx="4">
                  <c:v>8P</c:v>
                </c:pt>
              </c:strCache>
            </c:strRef>
          </c:cat>
          <c:val>
            <c:numRef>
              <c:f>Foglio1!$B$2:$B$6</c:f>
              <c:numCache>
                <c:formatCode>General</c:formatCode>
                <c:ptCount val="5"/>
                <c:pt idx="0">
                  <c:v>0.9</c:v>
                </c:pt>
                <c:pt idx="1">
                  <c:v>0.63</c:v>
                </c:pt>
                <c:pt idx="2">
                  <c:v>0.26</c:v>
                </c:pt>
                <c:pt idx="3">
                  <c:v>0.13</c:v>
                </c:pt>
                <c:pt idx="4">
                  <c:v>0.08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6165-4582-A19D-E8195E3B2AAB}"/>
            </c:ext>
          </c:extLst>
        </c:ser>
        <c:ser>
          <c:idx val="1"/>
          <c:order val="1"/>
          <c:tx>
            <c:strRef>
              <c:f>Foglio1!$C$1</c:f>
              <c:strCache>
                <c:ptCount val="1"/>
                <c:pt idx="0">
                  <c:v>N 128 </c:v>
                </c:pt>
              </c:strCache>
            </c:strRef>
          </c:tx>
          <c:spPr>
            <a:ln w="28575" cap="rnd">
              <a:solidFill>
                <a:schemeClr val="accent2"/>
              </a:solidFill>
              <a:round/>
            </a:ln>
            <a:effectLst/>
          </c:spPr>
          <c:marker>
            <c:symbol val="circle"/>
            <c:size val="5"/>
            <c:spPr>
              <a:solidFill>
                <a:schemeClr val="accent2"/>
              </a:solidFill>
              <a:ln w="9525">
                <a:solidFill>
                  <a:schemeClr val="accent2"/>
                </a:solidFill>
              </a:ln>
              <a:effectLst/>
            </c:spPr>
          </c:marker>
          <c:cat>
            <c:strRef>
              <c:f>Foglio1!$A$2:$A$6</c:f>
              <c:strCache>
                <c:ptCount val="5"/>
                <c:pt idx="0">
                  <c:v>1P</c:v>
                </c:pt>
                <c:pt idx="1">
                  <c:v>2P</c:v>
                </c:pt>
                <c:pt idx="2">
                  <c:v>4P</c:v>
                </c:pt>
                <c:pt idx="3">
                  <c:v>6P</c:v>
                </c:pt>
                <c:pt idx="4">
                  <c:v>8P</c:v>
                </c:pt>
              </c:strCache>
            </c:strRef>
          </c:cat>
          <c:val>
            <c:numRef>
              <c:f>Foglio1!$C$2:$C$6</c:f>
              <c:numCache>
                <c:formatCode>General</c:formatCode>
                <c:ptCount val="5"/>
                <c:pt idx="0">
                  <c:v>1</c:v>
                </c:pt>
                <c:pt idx="1">
                  <c:v>0.94</c:v>
                </c:pt>
                <c:pt idx="2">
                  <c:v>0.61</c:v>
                </c:pt>
                <c:pt idx="3">
                  <c:v>0.43</c:v>
                </c:pt>
                <c:pt idx="4">
                  <c:v>0.23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6165-4582-A19D-E8195E3B2AAB}"/>
            </c:ext>
          </c:extLst>
        </c:ser>
        <c:ser>
          <c:idx val="2"/>
          <c:order val="2"/>
          <c:tx>
            <c:strRef>
              <c:f>Foglio1!$D$1</c:f>
              <c:strCache>
                <c:ptCount val="1"/>
                <c:pt idx="0">
                  <c:v>N 256 </c:v>
                </c:pt>
              </c:strCache>
            </c:strRef>
          </c:tx>
          <c:spPr>
            <a:ln w="28575" cap="rnd">
              <a:solidFill>
                <a:schemeClr val="accent3"/>
              </a:solidFill>
              <a:round/>
            </a:ln>
            <a:effectLst/>
          </c:spPr>
          <c:marker>
            <c:symbol val="circle"/>
            <c:size val="5"/>
            <c:spPr>
              <a:solidFill>
                <a:schemeClr val="accent3"/>
              </a:solidFill>
              <a:ln w="9525">
                <a:solidFill>
                  <a:schemeClr val="accent3"/>
                </a:solidFill>
              </a:ln>
              <a:effectLst/>
            </c:spPr>
          </c:marker>
          <c:cat>
            <c:strRef>
              <c:f>Foglio1!$A$2:$A$6</c:f>
              <c:strCache>
                <c:ptCount val="5"/>
                <c:pt idx="0">
                  <c:v>1P</c:v>
                </c:pt>
                <c:pt idx="1">
                  <c:v>2P</c:v>
                </c:pt>
                <c:pt idx="2">
                  <c:v>4P</c:v>
                </c:pt>
                <c:pt idx="3">
                  <c:v>6P</c:v>
                </c:pt>
                <c:pt idx="4">
                  <c:v>8P</c:v>
                </c:pt>
              </c:strCache>
            </c:strRef>
          </c:cat>
          <c:val>
            <c:numRef>
              <c:f>Foglio1!$D$2:$D$6</c:f>
              <c:numCache>
                <c:formatCode>General</c:formatCode>
                <c:ptCount val="5"/>
                <c:pt idx="0">
                  <c:v>0.99</c:v>
                </c:pt>
                <c:pt idx="1">
                  <c:v>0.92</c:v>
                </c:pt>
                <c:pt idx="2">
                  <c:v>0.71</c:v>
                </c:pt>
                <c:pt idx="3">
                  <c:v>0.56000000000000005</c:v>
                </c:pt>
                <c:pt idx="4">
                  <c:v>0.3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6165-4582-A19D-E8195E3B2AAB}"/>
            </c:ext>
          </c:extLst>
        </c:ser>
        <c:ser>
          <c:idx val="3"/>
          <c:order val="3"/>
          <c:tx>
            <c:strRef>
              <c:f>Foglio1!$E$1</c:f>
              <c:strCache>
                <c:ptCount val="1"/>
                <c:pt idx="0">
                  <c:v>N 512</c:v>
                </c:pt>
              </c:strCache>
            </c:strRef>
          </c:tx>
          <c:spPr>
            <a:ln w="28575" cap="rnd">
              <a:solidFill>
                <a:schemeClr val="accent4"/>
              </a:solidFill>
              <a:round/>
            </a:ln>
            <a:effectLst/>
          </c:spPr>
          <c:marker>
            <c:symbol val="circle"/>
            <c:size val="5"/>
            <c:spPr>
              <a:solidFill>
                <a:schemeClr val="accent4"/>
              </a:solidFill>
              <a:ln w="9525">
                <a:solidFill>
                  <a:schemeClr val="accent4"/>
                </a:solidFill>
              </a:ln>
              <a:effectLst/>
            </c:spPr>
          </c:marker>
          <c:cat>
            <c:strRef>
              <c:f>Foglio1!$A$2:$A$6</c:f>
              <c:strCache>
                <c:ptCount val="5"/>
                <c:pt idx="0">
                  <c:v>1P</c:v>
                </c:pt>
                <c:pt idx="1">
                  <c:v>2P</c:v>
                </c:pt>
                <c:pt idx="2">
                  <c:v>4P</c:v>
                </c:pt>
                <c:pt idx="3">
                  <c:v>6P</c:v>
                </c:pt>
                <c:pt idx="4">
                  <c:v>8P</c:v>
                </c:pt>
              </c:strCache>
            </c:strRef>
          </c:cat>
          <c:val>
            <c:numRef>
              <c:f>Foglio1!$E$2:$E$6</c:f>
              <c:numCache>
                <c:formatCode>General</c:formatCode>
                <c:ptCount val="5"/>
                <c:pt idx="0">
                  <c:v>0.97</c:v>
                </c:pt>
                <c:pt idx="1">
                  <c:v>0.93</c:v>
                </c:pt>
                <c:pt idx="2">
                  <c:v>0.79</c:v>
                </c:pt>
                <c:pt idx="3">
                  <c:v>0.64</c:v>
                </c:pt>
                <c:pt idx="4">
                  <c:v>0.33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3-6165-4582-A19D-E8195E3B2AAB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18111376"/>
        <c:axId val="2099601759"/>
      </c:lineChart>
      <c:catAx>
        <c:axId val="18111376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it-IT"/>
          </a:p>
        </c:txPr>
        <c:crossAx val="2099601759"/>
        <c:crosses val="autoZero"/>
        <c:auto val="1"/>
        <c:lblAlgn val="ctr"/>
        <c:lblOffset val="100"/>
        <c:noMultiLvlLbl val="0"/>
      </c:catAx>
      <c:valAx>
        <c:axId val="2099601759"/>
        <c:scaling>
          <c:orientation val="minMax"/>
          <c:max val="1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it-IT"/>
          </a:p>
        </c:txPr>
        <c:crossAx val="18111376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it-IT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it-IT"/>
    </a:p>
  </c:txPr>
  <c:externalData r:id="rId3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it-IT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862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it-IT" dirty="0"/>
              <a:t>MPI</a:t>
            </a:r>
            <a:r>
              <a:rPr lang="it-IT" baseline="0" dirty="0"/>
              <a:t> + </a:t>
            </a:r>
            <a:r>
              <a:rPr lang="it-IT" baseline="0" dirty="0" err="1"/>
              <a:t>OpenMP</a:t>
            </a:r>
            <a:endParaRPr lang="it-IT" baseline="0" dirty="0"/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862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it-IT"/>
        </a:p>
      </c:txPr>
    </c:title>
    <c:autoTitleDeleted val="0"/>
    <c:plotArea>
      <c:layout/>
      <c:lineChart>
        <c:grouping val="standard"/>
        <c:varyColors val="0"/>
        <c:ser>
          <c:idx val="0"/>
          <c:order val="0"/>
          <c:tx>
            <c:strRef>
              <c:f>Foglio1!$B$1</c:f>
              <c:strCache>
                <c:ptCount val="1"/>
                <c:pt idx="0">
                  <c:v>N 64</c:v>
                </c:pt>
              </c:strCache>
            </c:strRef>
          </c:tx>
          <c:spPr>
            <a:ln w="28575" cap="rnd">
              <a:solidFill>
                <a:schemeClr val="accent1"/>
              </a:solidFill>
              <a:round/>
            </a:ln>
            <a:effectLst/>
          </c:spPr>
          <c:marker>
            <c:symbol val="circle"/>
            <c:size val="5"/>
            <c:spPr>
              <a:solidFill>
                <a:schemeClr val="accent1"/>
              </a:solidFill>
              <a:ln w="9525">
                <a:solidFill>
                  <a:schemeClr val="accent1"/>
                </a:solidFill>
              </a:ln>
              <a:effectLst/>
            </c:spPr>
          </c:marker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it-IT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Foglio1!$A$2:$A$6</c:f>
              <c:strCache>
                <c:ptCount val="5"/>
                <c:pt idx="0">
                  <c:v>1P X 2T</c:v>
                </c:pt>
                <c:pt idx="1">
                  <c:v>2P X 2T</c:v>
                </c:pt>
                <c:pt idx="2">
                  <c:v>2P X 3T</c:v>
                </c:pt>
                <c:pt idx="3">
                  <c:v>3P X 2T</c:v>
                </c:pt>
                <c:pt idx="4">
                  <c:v>4P X 2T</c:v>
                </c:pt>
              </c:strCache>
            </c:strRef>
          </c:cat>
          <c:val>
            <c:numRef>
              <c:f>Foglio1!$B$2:$B$6</c:f>
              <c:numCache>
                <c:formatCode>General</c:formatCode>
                <c:ptCount val="5"/>
                <c:pt idx="0">
                  <c:v>5.11E-2</c:v>
                </c:pt>
                <c:pt idx="1">
                  <c:v>3.4799999999999998E-2</c:v>
                </c:pt>
                <c:pt idx="2">
                  <c:v>0.28889999999999999</c:v>
                </c:pt>
                <c:pt idx="3">
                  <c:v>4.6899999999999997E-2</c:v>
                </c:pt>
                <c:pt idx="4">
                  <c:v>5.4699999999999999E-2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57FF-4268-907E-D80889D5D4F0}"/>
            </c:ext>
          </c:extLst>
        </c:ser>
        <c:ser>
          <c:idx val="1"/>
          <c:order val="1"/>
          <c:tx>
            <c:strRef>
              <c:f>Foglio1!$C$1</c:f>
              <c:strCache>
                <c:ptCount val="1"/>
                <c:pt idx="0">
                  <c:v>N 128</c:v>
                </c:pt>
              </c:strCache>
            </c:strRef>
          </c:tx>
          <c:spPr>
            <a:ln w="28575" cap="rnd">
              <a:solidFill>
                <a:schemeClr val="accent2"/>
              </a:solidFill>
              <a:round/>
            </a:ln>
            <a:effectLst/>
          </c:spPr>
          <c:marker>
            <c:symbol val="circle"/>
            <c:size val="5"/>
            <c:spPr>
              <a:solidFill>
                <a:schemeClr val="accent2"/>
              </a:solidFill>
              <a:ln w="9525">
                <a:solidFill>
                  <a:schemeClr val="accent2"/>
                </a:solidFill>
              </a:ln>
              <a:effectLst/>
            </c:spPr>
          </c:marker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it-IT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Foglio1!$A$2:$A$6</c:f>
              <c:strCache>
                <c:ptCount val="5"/>
                <c:pt idx="0">
                  <c:v>1P X 2T</c:v>
                </c:pt>
                <c:pt idx="1">
                  <c:v>2P X 2T</c:v>
                </c:pt>
                <c:pt idx="2">
                  <c:v>2P X 3T</c:v>
                </c:pt>
                <c:pt idx="3">
                  <c:v>3P X 2T</c:v>
                </c:pt>
                <c:pt idx="4">
                  <c:v>4P X 2T</c:v>
                </c:pt>
              </c:strCache>
            </c:strRef>
          </c:cat>
          <c:val>
            <c:numRef>
              <c:f>Foglio1!$C$2:$C$6</c:f>
              <c:numCache>
                <c:formatCode>General</c:formatCode>
                <c:ptCount val="5"/>
                <c:pt idx="0">
                  <c:v>0.48149999999999998</c:v>
                </c:pt>
                <c:pt idx="1">
                  <c:v>0.29759999999999998</c:v>
                </c:pt>
                <c:pt idx="2">
                  <c:v>1.2470000000000001</c:v>
                </c:pt>
                <c:pt idx="3">
                  <c:v>0.26750000000000002</c:v>
                </c:pt>
                <c:pt idx="4">
                  <c:v>0.36620000000000003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57FF-4268-907E-D80889D5D4F0}"/>
            </c:ext>
          </c:extLst>
        </c:ser>
        <c:ser>
          <c:idx val="2"/>
          <c:order val="2"/>
          <c:tx>
            <c:strRef>
              <c:f>Foglio1!$D$1</c:f>
              <c:strCache>
                <c:ptCount val="1"/>
                <c:pt idx="0">
                  <c:v>N 256</c:v>
                </c:pt>
              </c:strCache>
            </c:strRef>
          </c:tx>
          <c:spPr>
            <a:ln w="28575" cap="rnd">
              <a:solidFill>
                <a:schemeClr val="accent3"/>
              </a:solidFill>
              <a:round/>
            </a:ln>
            <a:effectLst/>
          </c:spPr>
          <c:marker>
            <c:symbol val="circle"/>
            <c:size val="5"/>
            <c:spPr>
              <a:solidFill>
                <a:schemeClr val="accent3"/>
              </a:solidFill>
              <a:ln w="9525">
                <a:solidFill>
                  <a:schemeClr val="accent3"/>
                </a:solidFill>
              </a:ln>
              <a:effectLst/>
            </c:spPr>
          </c:marker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it-IT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Foglio1!$A$2:$A$6</c:f>
              <c:strCache>
                <c:ptCount val="5"/>
                <c:pt idx="0">
                  <c:v>1P X 2T</c:v>
                </c:pt>
                <c:pt idx="1">
                  <c:v>2P X 2T</c:v>
                </c:pt>
                <c:pt idx="2">
                  <c:v>2P X 3T</c:v>
                </c:pt>
                <c:pt idx="3">
                  <c:v>3P X 2T</c:v>
                </c:pt>
                <c:pt idx="4">
                  <c:v>4P X 2T</c:v>
                </c:pt>
              </c:strCache>
            </c:strRef>
          </c:cat>
          <c:val>
            <c:numRef>
              <c:f>Foglio1!$D$2:$D$6</c:f>
              <c:numCache>
                <c:formatCode>General</c:formatCode>
                <c:ptCount val="5"/>
                <c:pt idx="0">
                  <c:v>6.9762000000000004</c:v>
                </c:pt>
                <c:pt idx="1">
                  <c:v>3.9447000000000001</c:v>
                </c:pt>
                <c:pt idx="2">
                  <c:v>7.8125</c:v>
                </c:pt>
                <c:pt idx="3">
                  <c:v>2.4386000000000001</c:v>
                </c:pt>
                <c:pt idx="4">
                  <c:v>3.1823999999999999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57FF-4268-907E-D80889D5D4F0}"/>
            </c:ext>
          </c:extLst>
        </c:ser>
        <c:ser>
          <c:idx val="3"/>
          <c:order val="3"/>
          <c:tx>
            <c:strRef>
              <c:f>Foglio1!$E$1</c:f>
              <c:strCache>
                <c:ptCount val="1"/>
                <c:pt idx="0">
                  <c:v>N 512</c:v>
                </c:pt>
              </c:strCache>
            </c:strRef>
          </c:tx>
          <c:spPr>
            <a:ln w="28575" cap="rnd">
              <a:solidFill>
                <a:schemeClr val="accent4"/>
              </a:solidFill>
              <a:round/>
            </a:ln>
            <a:effectLst/>
          </c:spPr>
          <c:marker>
            <c:symbol val="circle"/>
            <c:size val="5"/>
            <c:spPr>
              <a:solidFill>
                <a:schemeClr val="accent4"/>
              </a:solidFill>
              <a:ln w="9525">
                <a:solidFill>
                  <a:schemeClr val="accent4"/>
                </a:solidFill>
              </a:ln>
              <a:effectLst/>
            </c:spPr>
          </c:marker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it-IT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Foglio1!$A$2:$A$6</c:f>
              <c:strCache>
                <c:ptCount val="5"/>
                <c:pt idx="0">
                  <c:v>1P X 2T</c:v>
                </c:pt>
                <c:pt idx="1">
                  <c:v>2P X 2T</c:v>
                </c:pt>
                <c:pt idx="2">
                  <c:v>2P X 3T</c:v>
                </c:pt>
                <c:pt idx="3">
                  <c:v>3P X 2T</c:v>
                </c:pt>
                <c:pt idx="4">
                  <c:v>4P X 2T</c:v>
                </c:pt>
              </c:strCache>
            </c:strRef>
          </c:cat>
          <c:val>
            <c:numRef>
              <c:f>Foglio1!$E$2:$E$6</c:f>
              <c:numCache>
                <c:formatCode>General</c:formatCode>
                <c:ptCount val="5"/>
                <c:pt idx="0">
                  <c:v>106.91</c:v>
                </c:pt>
                <c:pt idx="1">
                  <c:v>62.448</c:v>
                </c:pt>
                <c:pt idx="2">
                  <c:v>85.797499999999999</c:v>
                </c:pt>
                <c:pt idx="3">
                  <c:v>31.348700000000001</c:v>
                </c:pt>
                <c:pt idx="4">
                  <c:v>42.302900000000001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3-57FF-4268-907E-D80889D5D4F0}"/>
            </c:ext>
          </c:extLst>
        </c:ser>
        <c:dLbls>
          <c:dLblPos val="t"/>
          <c:showLegendKey val="0"/>
          <c:showVal val="1"/>
          <c:showCatName val="0"/>
          <c:showSerName val="0"/>
          <c:showPercent val="0"/>
          <c:showBubbleSize val="0"/>
        </c:dLbls>
        <c:marker val="1"/>
        <c:smooth val="0"/>
        <c:axId val="1919494976"/>
        <c:axId val="2099607039"/>
      </c:lineChart>
      <c:catAx>
        <c:axId val="1919494976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it-IT"/>
          </a:p>
        </c:txPr>
        <c:crossAx val="2099607039"/>
        <c:crossesAt val="1.0000000000000002E-2"/>
        <c:auto val="1"/>
        <c:lblAlgn val="ctr"/>
        <c:lblOffset val="100"/>
        <c:noMultiLvlLbl val="0"/>
      </c:catAx>
      <c:valAx>
        <c:axId val="2099607039"/>
        <c:scaling>
          <c:logBase val="10"/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it-IT"/>
          </a:p>
        </c:txPr>
        <c:crossAx val="1919494976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it-IT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it-IT"/>
    </a:p>
  </c:txPr>
  <c:externalData r:id="rId3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it-IT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862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en-US" noProof="0" dirty="0"/>
              <a:t>Speed</a:t>
            </a:r>
            <a:r>
              <a:rPr lang="en-US" baseline="0" noProof="0" dirty="0"/>
              <a:t>up</a:t>
            </a: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862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it-IT"/>
        </a:p>
      </c:txPr>
    </c:title>
    <c:autoTitleDeleted val="0"/>
    <c:plotArea>
      <c:layout/>
      <c:lineChart>
        <c:grouping val="standard"/>
        <c:varyColors val="0"/>
        <c:ser>
          <c:idx val="0"/>
          <c:order val="0"/>
          <c:tx>
            <c:strRef>
              <c:f>Foglio1!$B$1</c:f>
              <c:strCache>
                <c:ptCount val="1"/>
                <c:pt idx="0">
                  <c:v>N 64</c:v>
                </c:pt>
              </c:strCache>
            </c:strRef>
          </c:tx>
          <c:spPr>
            <a:ln w="28575" cap="rnd">
              <a:solidFill>
                <a:schemeClr val="accent1"/>
              </a:solidFill>
              <a:round/>
            </a:ln>
            <a:effectLst/>
          </c:spPr>
          <c:marker>
            <c:symbol val="circle"/>
            <c:size val="5"/>
            <c:spPr>
              <a:solidFill>
                <a:schemeClr val="accent1"/>
              </a:solidFill>
              <a:ln w="9525">
                <a:solidFill>
                  <a:schemeClr val="accent1"/>
                </a:solidFill>
              </a:ln>
              <a:effectLst/>
            </c:spPr>
          </c:marker>
          <c:cat>
            <c:strRef>
              <c:f>Foglio1!$A$2:$A$6</c:f>
              <c:strCache>
                <c:ptCount val="5"/>
                <c:pt idx="0">
                  <c:v>1P X 2T</c:v>
                </c:pt>
                <c:pt idx="1">
                  <c:v>2P X 2T</c:v>
                </c:pt>
                <c:pt idx="2">
                  <c:v>3P X 2T</c:v>
                </c:pt>
                <c:pt idx="3">
                  <c:v>2P X 3T</c:v>
                </c:pt>
                <c:pt idx="4">
                  <c:v>4P X 2T</c:v>
                </c:pt>
              </c:strCache>
            </c:strRef>
          </c:cat>
          <c:val>
            <c:numRef>
              <c:f>Foglio1!$B$2:$B$6</c:f>
              <c:numCache>
                <c:formatCode>General</c:formatCode>
                <c:ptCount val="5"/>
                <c:pt idx="0">
                  <c:v>0.56999999999999995</c:v>
                </c:pt>
                <c:pt idx="1">
                  <c:v>0.83</c:v>
                </c:pt>
                <c:pt idx="2">
                  <c:v>0.62</c:v>
                </c:pt>
                <c:pt idx="3">
                  <c:v>0.1</c:v>
                </c:pt>
                <c:pt idx="4">
                  <c:v>0.53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B4F8-4D7E-BB29-1BF3D0F2D383}"/>
            </c:ext>
          </c:extLst>
        </c:ser>
        <c:ser>
          <c:idx val="1"/>
          <c:order val="1"/>
          <c:tx>
            <c:strRef>
              <c:f>Foglio1!$C$1</c:f>
              <c:strCache>
                <c:ptCount val="1"/>
                <c:pt idx="0">
                  <c:v>N 128</c:v>
                </c:pt>
              </c:strCache>
            </c:strRef>
          </c:tx>
          <c:spPr>
            <a:ln w="28575" cap="rnd">
              <a:solidFill>
                <a:schemeClr val="accent2"/>
              </a:solidFill>
              <a:round/>
            </a:ln>
            <a:effectLst/>
          </c:spPr>
          <c:marker>
            <c:symbol val="circle"/>
            <c:size val="5"/>
            <c:spPr>
              <a:solidFill>
                <a:schemeClr val="accent2"/>
              </a:solidFill>
              <a:ln w="9525">
                <a:solidFill>
                  <a:schemeClr val="accent2"/>
                </a:solidFill>
              </a:ln>
              <a:effectLst/>
            </c:spPr>
          </c:marker>
          <c:cat>
            <c:strRef>
              <c:f>Foglio1!$A$2:$A$6</c:f>
              <c:strCache>
                <c:ptCount val="5"/>
                <c:pt idx="0">
                  <c:v>1P X 2T</c:v>
                </c:pt>
                <c:pt idx="1">
                  <c:v>2P X 2T</c:v>
                </c:pt>
                <c:pt idx="2">
                  <c:v>3P X 2T</c:v>
                </c:pt>
                <c:pt idx="3">
                  <c:v>2P X 3T</c:v>
                </c:pt>
                <c:pt idx="4">
                  <c:v>4P X 2T</c:v>
                </c:pt>
              </c:strCache>
            </c:strRef>
          </c:cat>
          <c:val>
            <c:numRef>
              <c:f>Foglio1!$C$2:$C$6</c:f>
              <c:numCache>
                <c:formatCode>General</c:formatCode>
                <c:ptCount val="5"/>
                <c:pt idx="0">
                  <c:v>1.01</c:v>
                </c:pt>
                <c:pt idx="1">
                  <c:v>1.64</c:v>
                </c:pt>
                <c:pt idx="2">
                  <c:v>1.83</c:v>
                </c:pt>
                <c:pt idx="3">
                  <c:v>0.39</c:v>
                </c:pt>
                <c:pt idx="4">
                  <c:v>1.33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B4F8-4D7E-BB29-1BF3D0F2D383}"/>
            </c:ext>
          </c:extLst>
        </c:ser>
        <c:ser>
          <c:idx val="2"/>
          <c:order val="2"/>
          <c:tx>
            <c:strRef>
              <c:f>Foglio1!$D$1</c:f>
              <c:strCache>
                <c:ptCount val="1"/>
                <c:pt idx="0">
                  <c:v>N 256</c:v>
                </c:pt>
              </c:strCache>
            </c:strRef>
          </c:tx>
          <c:spPr>
            <a:ln w="28575" cap="rnd">
              <a:solidFill>
                <a:schemeClr val="accent3"/>
              </a:solidFill>
              <a:round/>
            </a:ln>
            <a:effectLst/>
          </c:spPr>
          <c:marker>
            <c:symbol val="circle"/>
            <c:size val="5"/>
            <c:spPr>
              <a:solidFill>
                <a:schemeClr val="accent3"/>
              </a:solidFill>
              <a:ln w="9525">
                <a:solidFill>
                  <a:schemeClr val="accent3"/>
                </a:solidFill>
              </a:ln>
              <a:effectLst/>
            </c:spPr>
          </c:marker>
          <c:cat>
            <c:strRef>
              <c:f>Foglio1!$A$2:$A$6</c:f>
              <c:strCache>
                <c:ptCount val="5"/>
                <c:pt idx="0">
                  <c:v>1P X 2T</c:v>
                </c:pt>
                <c:pt idx="1">
                  <c:v>2P X 2T</c:v>
                </c:pt>
                <c:pt idx="2">
                  <c:v>3P X 2T</c:v>
                </c:pt>
                <c:pt idx="3">
                  <c:v>2P X 3T</c:v>
                </c:pt>
                <c:pt idx="4">
                  <c:v>4P X 2T</c:v>
                </c:pt>
              </c:strCache>
            </c:strRef>
          </c:cat>
          <c:val>
            <c:numRef>
              <c:f>Foglio1!$D$2:$D$6</c:f>
              <c:numCache>
                <c:formatCode>General</c:formatCode>
                <c:ptCount val="5"/>
                <c:pt idx="0">
                  <c:v>1.01</c:v>
                </c:pt>
                <c:pt idx="1">
                  <c:v>1.78</c:v>
                </c:pt>
                <c:pt idx="2">
                  <c:v>2.88</c:v>
                </c:pt>
                <c:pt idx="3">
                  <c:v>0.9</c:v>
                </c:pt>
                <c:pt idx="4">
                  <c:v>2.2000000000000002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B4F8-4D7E-BB29-1BF3D0F2D383}"/>
            </c:ext>
          </c:extLst>
        </c:ser>
        <c:ser>
          <c:idx val="3"/>
          <c:order val="3"/>
          <c:tx>
            <c:strRef>
              <c:f>Foglio1!$E$1</c:f>
              <c:strCache>
                <c:ptCount val="1"/>
                <c:pt idx="0">
                  <c:v>N 512</c:v>
                </c:pt>
              </c:strCache>
            </c:strRef>
          </c:tx>
          <c:spPr>
            <a:ln w="28575" cap="rnd">
              <a:solidFill>
                <a:schemeClr val="accent4"/>
              </a:solidFill>
              <a:round/>
            </a:ln>
            <a:effectLst/>
          </c:spPr>
          <c:marker>
            <c:symbol val="circle"/>
            <c:size val="5"/>
            <c:spPr>
              <a:solidFill>
                <a:schemeClr val="accent4"/>
              </a:solidFill>
              <a:ln w="9525">
                <a:solidFill>
                  <a:schemeClr val="accent4"/>
                </a:solidFill>
              </a:ln>
              <a:effectLst/>
            </c:spPr>
          </c:marker>
          <c:cat>
            <c:strRef>
              <c:f>Foglio1!$A$2:$A$6</c:f>
              <c:strCache>
                <c:ptCount val="5"/>
                <c:pt idx="0">
                  <c:v>1P X 2T</c:v>
                </c:pt>
                <c:pt idx="1">
                  <c:v>2P X 2T</c:v>
                </c:pt>
                <c:pt idx="2">
                  <c:v>3P X 2T</c:v>
                </c:pt>
                <c:pt idx="3">
                  <c:v>2P X 3T</c:v>
                </c:pt>
                <c:pt idx="4">
                  <c:v>4P X 2T</c:v>
                </c:pt>
              </c:strCache>
            </c:strRef>
          </c:cat>
          <c:val>
            <c:numRef>
              <c:f>Foglio1!$E$2:$E$6</c:f>
              <c:numCache>
                <c:formatCode>General</c:formatCode>
                <c:ptCount val="5"/>
                <c:pt idx="0">
                  <c:v>1.1100000000000001</c:v>
                </c:pt>
                <c:pt idx="1">
                  <c:v>1.9</c:v>
                </c:pt>
                <c:pt idx="2">
                  <c:v>3.78</c:v>
                </c:pt>
                <c:pt idx="3">
                  <c:v>1.38</c:v>
                </c:pt>
                <c:pt idx="4">
                  <c:v>2.8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3-B4F8-4D7E-BB29-1BF3D0F2D38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455103296"/>
        <c:axId val="351644896"/>
      </c:lineChart>
      <c:catAx>
        <c:axId val="455103296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it-IT"/>
          </a:p>
        </c:txPr>
        <c:crossAx val="351644896"/>
        <c:crosses val="autoZero"/>
        <c:auto val="1"/>
        <c:lblAlgn val="ctr"/>
        <c:lblOffset val="100"/>
        <c:noMultiLvlLbl val="0"/>
      </c:catAx>
      <c:valAx>
        <c:axId val="351644896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it-IT"/>
          </a:p>
        </c:txPr>
        <c:crossAx val="455103296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it-IT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it-IT"/>
    </a:p>
  </c:txPr>
  <c:externalData r:id="rId3">
    <c:autoUpdate val="0"/>
  </c:externalData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it-IT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862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it-IT" dirty="0"/>
              <a:t>Efficienza</a:t>
            </a: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862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it-IT"/>
        </a:p>
      </c:txPr>
    </c:title>
    <c:autoTitleDeleted val="0"/>
    <c:plotArea>
      <c:layout/>
      <c:lineChart>
        <c:grouping val="standard"/>
        <c:varyColors val="0"/>
        <c:ser>
          <c:idx val="0"/>
          <c:order val="0"/>
          <c:tx>
            <c:strRef>
              <c:f>Foglio1!$B$1</c:f>
              <c:strCache>
                <c:ptCount val="1"/>
                <c:pt idx="0">
                  <c:v>N 64</c:v>
                </c:pt>
              </c:strCache>
            </c:strRef>
          </c:tx>
          <c:spPr>
            <a:ln w="28575" cap="rnd">
              <a:solidFill>
                <a:schemeClr val="accent1"/>
              </a:solidFill>
              <a:round/>
            </a:ln>
            <a:effectLst/>
          </c:spPr>
          <c:marker>
            <c:symbol val="circle"/>
            <c:size val="5"/>
            <c:spPr>
              <a:solidFill>
                <a:schemeClr val="accent1"/>
              </a:solidFill>
              <a:ln w="9525">
                <a:solidFill>
                  <a:schemeClr val="accent1"/>
                </a:solidFill>
              </a:ln>
              <a:effectLst/>
            </c:spPr>
          </c:marker>
          <c:cat>
            <c:strRef>
              <c:f>Foglio1!$A$2:$A$6</c:f>
              <c:strCache>
                <c:ptCount val="5"/>
                <c:pt idx="0">
                  <c:v>1P X 2T</c:v>
                </c:pt>
                <c:pt idx="1">
                  <c:v>2P X 2T</c:v>
                </c:pt>
                <c:pt idx="2">
                  <c:v>3P X 2T</c:v>
                </c:pt>
                <c:pt idx="3">
                  <c:v>2P X 3T</c:v>
                </c:pt>
                <c:pt idx="4">
                  <c:v>4P X 2T</c:v>
                </c:pt>
              </c:strCache>
            </c:strRef>
          </c:cat>
          <c:val>
            <c:numRef>
              <c:f>Foglio1!$B$2:$B$6</c:f>
              <c:numCache>
                <c:formatCode>General</c:formatCode>
                <c:ptCount val="5"/>
                <c:pt idx="0">
                  <c:v>0.28000000000000003</c:v>
                </c:pt>
                <c:pt idx="1">
                  <c:v>0.21</c:v>
                </c:pt>
                <c:pt idx="2">
                  <c:v>0.1</c:v>
                </c:pt>
                <c:pt idx="3">
                  <c:v>0.02</c:v>
                </c:pt>
                <c:pt idx="4">
                  <c:v>7.0000000000000007E-2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D161-4319-A33F-5AD92247EC23}"/>
            </c:ext>
          </c:extLst>
        </c:ser>
        <c:ser>
          <c:idx val="1"/>
          <c:order val="1"/>
          <c:tx>
            <c:strRef>
              <c:f>Foglio1!$C$1</c:f>
              <c:strCache>
                <c:ptCount val="1"/>
                <c:pt idx="0">
                  <c:v>N 128 </c:v>
                </c:pt>
              </c:strCache>
            </c:strRef>
          </c:tx>
          <c:spPr>
            <a:ln w="28575" cap="rnd">
              <a:solidFill>
                <a:schemeClr val="accent2"/>
              </a:solidFill>
              <a:round/>
            </a:ln>
            <a:effectLst/>
          </c:spPr>
          <c:marker>
            <c:symbol val="circle"/>
            <c:size val="5"/>
            <c:spPr>
              <a:solidFill>
                <a:schemeClr val="accent2"/>
              </a:solidFill>
              <a:ln w="9525">
                <a:solidFill>
                  <a:schemeClr val="accent2"/>
                </a:solidFill>
              </a:ln>
              <a:effectLst/>
            </c:spPr>
          </c:marker>
          <c:cat>
            <c:strRef>
              <c:f>Foglio1!$A$2:$A$6</c:f>
              <c:strCache>
                <c:ptCount val="5"/>
                <c:pt idx="0">
                  <c:v>1P X 2T</c:v>
                </c:pt>
                <c:pt idx="1">
                  <c:v>2P X 2T</c:v>
                </c:pt>
                <c:pt idx="2">
                  <c:v>3P X 2T</c:v>
                </c:pt>
                <c:pt idx="3">
                  <c:v>2P X 3T</c:v>
                </c:pt>
                <c:pt idx="4">
                  <c:v>4P X 2T</c:v>
                </c:pt>
              </c:strCache>
            </c:strRef>
          </c:cat>
          <c:val>
            <c:numRef>
              <c:f>Foglio1!$C$2:$C$6</c:f>
              <c:numCache>
                <c:formatCode>General</c:formatCode>
                <c:ptCount val="5"/>
                <c:pt idx="0">
                  <c:v>0.51</c:v>
                </c:pt>
                <c:pt idx="1">
                  <c:v>0.41</c:v>
                </c:pt>
                <c:pt idx="2">
                  <c:v>0.3</c:v>
                </c:pt>
                <c:pt idx="3">
                  <c:v>7.0000000000000007E-2</c:v>
                </c:pt>
                <c:pt idx="4">
                  <c:v>0.17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D161-4319-A33F-5AD92247EC23}"/>
            </c:ext>
          </c:extLst>
        </c:ser>
        <c:ser>
          <c:idx val="2"/>
          <c:order val="2"/>
          <c:tx>
            <c:strRef>
              <c:f>Foglio1!$D$1</c:f>
              <c:strCache>
                <c:ptCount val="1"/>
                <c:pt idx="0">
                  <c:v>N 256 </c:v>
                </c:pt>
              </c:strCache>
            </c:strRef>
          </c:tx>
          <c:spPr>
            <a:ln w="28575" cap="rnd">
              <a:solidFill>
                <a:schemeClr val="accent3"/>
              </a:solidFill>
              <a:round/>
            </a:ln>
            <a:effectLst/>
          </c:spPr>
          <c:marker>
            <c:symbol val="circle"/>
            <c:size val="5"/>
            <c:spPr>
              <a:solidFill>
                <a:schemeClr val="accent3"/>
              </a:solidFill>
              <a:ln w="9525">
                <a:solidFill>
                  <a:schemeClr val="accent3"/>
                </a:solidFill>
              </a:ln>
              <a:effectLst/>
            </c:spPr>
          </c:marker>
          <c:cat>
            <c:strRef>
              <c:f>Foglio1!$A$2:$A$6</c:f>
              <c:strCache>
                <c:ptCount val="5"/>
                <c:pt idx="0">
                  <c:v>1P X 2T</c:v>
                </c:pt>
                <c:pt idx="1">
                  <c:v>2P X 2T</c:v>
                </c:pt>
                <c:pt idx="2">
                  <c:v>3P X 2T</c:v>
                </c:pt>
                <c:pt idx="3">
                  <c:v>2P X 3T</c:v>
                </c:pt>
                <c:pt idx="4">
                  <c:v>4P X 2T</c:v>
                </c:pt>
              </c:strCache>
            </c:strRef>
          </c:cat>
          <c:val>
            <c:numRef>
              <c:f>Foglio1!$D$2:$D$6</c:f>
              <c:numCache>
                <c:formatCode>General</c:formatCode>
                <c:ptCount val="5"/>
                <c:pt idx="0">
                  <c:v>0.5</c:v>
                </c:pt>
                <c:pt idx="1">
                  <c:v>0.44</c:v>
                </c:pt>
                <c:pt idx="2">
                  <c:v>0.48</c:v>
                </c:pt>
                <c:pt idx="3">
                  <c:v>0.15</c:v>
                </c:pt>
                <c:pt idx="4">
                  <c:v>0.28000000000000003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D161-4319-A33F-5AD92247EC23}"/>
            </c:ext>
          </c:extLst>
        </c:ser>
        <c:ser>
          <c:idx val="3"/>
          <c:order val="3"/>
          <c:tx>
            <c:strRef>
              <c:f>Foglio1!$E$1</c:f>
              <c:strCache>
                <c:ptCount val="1"/>
                <c:pt idx="0">
                  <c:v>N 512</c:v>
                </c:pt>
              </c:strCache>
            </c:strRef>
          </c:tx>
          <c:spPr>
            <a:ln w="28575" cap="rnd">
              <a:solidFill>
                <a:schemeClr val="accent4"/>
              </a:solidFill>
              <a:round/>
            </a:ln>
            <a:effectLst/>
          </c:spPr>
          <c:marker>
            <c:symbol val="circle"/>
            <c:size val="5"/>
            <c:spPr>
              <a:solidFill>
                <a:schemeClr val="accent4"/>
              </a:solidFill>
              <a:ln w="9525">
                <a:solidFill>
                  <a:schemeClr val="accent4"/>
                </a:solidFill>
              </a:ln>
              <a:effectLst/>
            </c:spPr>
          </c:marker>
          <c:cat>
            <c:strRef>
              <c:f>Foglio1!$A$2:$A$6</c:f>
              <c:strCache>
                <c:ptCount val="5"/>
                <c:pt idx="0">
                  <c:v>1P X 2T</c:v>
                </c:pt>
                <c:pt idx="1">
                  <c:v>2P X 2T</c:v>
                </c:pt>
                <c:pt idx="2">
                  <c:v>3P X 2T</c:v>
                </c:pt>
                <c:pt idx="3">
                  <c:v>2P X 3T</c:v>
                </c:pt>
                <c:pt idx="4">
                  <c:v>4P X 2T</c:v>
                </c:pt>
              </c:strCache>
            </c:strRef>
          </c:cat>
          <c:val>
            <c:numRef>
              <c:f>Foglio1!$E$2:$E$6</c:f>
              <c:numCache>
                <c:formatCode>General</c:formatCode>
                <c:ptCount val="5"/>
                <c:pt idx="0">
                  <c:v>0.55000000000000004</c:v>
                </c:pt>
                <c:pt idx="1">
                  <c:v>0.47</c:v>
                </c:pt>
                <c:pt idx="2">
                  <c:v>0.63</c:v>
                </c:pt>
                <c:pt idx="3">
                  <c:v>0.23</c:v>
                </c:pt>
                <c:pt idx="4">
                  <c:v>0.35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3-D161-4319-A33F-5AD92247EC2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18111376"/>
        <c:axId val="2099601759"/>
      </c:lineChart>
      <c:catAx>
        <c:axId val="18111376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it-IT"/>
          </a:p>
        </c:txPr>
        <c:crossAx val="2099601759"/>
        <c:crosses val="autoZero"/>
        <c:auto val="1"/>
        <c:lblAlgn val="ctr"/>
        <c:lblOffset val="100"/>
        <c:noMultiLvlLbl val="0"/>
      </c:catAx>
      <c:valAx>
        <c:axId val="2099601759"/>
        <c:scaling>
          <c:orientation val="minMax"/>
          <c:max val="1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it-IT"/>
          </a:p>
        </c:txPr>
        <c:crossAx val="18111376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it-IT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it-IT"/>
    </a:p>
  </c:txPr>
  <c:externalData r:id="rId3">
    <c:autoUpdate val="0"/>
  </c:externalData>
</c:chartSpace>
</file>

<file path=ppt/charts/chart1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it-IT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Foglio1!$B$1</c:f>
              <c:strCache>
                <c:ptCount val="1"/>
                <c:pt idx="0">
                  <c:v>64</c:v>
                </c:pt>
              </c:strCache>
            </c:strRef>
          </c:tx>
          <c:spPr>
            <a:ln w="28575" cap="rnd">
              <a:solidFill>
                <a:schemeClr val="accent1"/>
              </a:solidFill>
              <a:round/>
            </a:ln>
            <a:effectLst/>
          </c:spPr>
          <c:marker>
            <c:symbol val="none"/>
          </c:marker>
          <c:cat>
            <c:strRef>
              <c:f>Foglio1!$A$2:$A$7</c:f>
              <c:strCache>
                <c:ptCount val="6"/>
                <c:pt idx="0">
                  <c:v>6P MPI puro</c:v>
                </c:pt>
                <c:pt idx="1">
                  <c:v>6P x 1T</c:v>
                </c:pt>
                <c:pt idx="2">
                  <c:v>3P x 2T</c:v>
                </c:pt>
                <c:pt idx="3">
                  <c:v>2P x 3T</c:v>
                </c:pt>
                <c:pt idx="4">
                  <c:v>1P x 6T</c:v>
                </c:pt>
                <c:pt idx="5">
                  <c:v>6T OMP puro</c:v>
                </c:pt>
              </c:strCache>
            </c:strRef>
          </c:cat>
          <c:val>
            <c:numRef>
              <c:f>Foglio1!$B$2:$B$7</c:f>
              <c:numCache>
                <c:formatCode>General</c:formatCode>
                <c:ptCount val="6"/>
                <c:pt idx="0">
                  <c:v>3.3599999999999998E-2</c:v>
                </c:pt>
                <c:pt idx="1">
                  <c:v>4.7300000000000002E-2</c:v>
                </c:pt>
                <c:pt idx="2">
                  <c:v>5.3499999999999999E-2</c:v>
                </c:pt>
                <c:pt idx="3">
                  <c:v>0.29549999999999998</c:v>
                </c:pt>
                <c:pt idx="4">
                  <c:v>0.55220000000000002</c:v>
                </c:pt>
                <c:pt idx="5">
                  <c:v>2.9899999999999999E-2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C5C-4F59-8F9D-B7EBE93834AE}"/>
            </c:ext>
          </c:extLst>
        </c:ser>
        <c:ser>
          <c:idx val="1"/>
          <c:order val="1"/>
          <c:tx>
            <c:strRef>
              <c:f>Foglio1!$C$1</c:f>
              <c:strCache>
                <c:ptCount val="1"/>
                <c:pt idx="0">
                  <c:v>128</c:v>
                </c:pt>
              </c:strCache>
            </c:strRef>
          </c:tx>
          <c:spPr>
            <a:ln w="28575" cap="rnd">
              <a:solidFill>
                <a:schemeClr val="accent2"/>
              </a:solidFill>
              <a:round/>
            </a:ln>
            <a:effectLst/>
          </c:spPr>
          <c:marker>
            <c:symbol val="none"/>
          </c:marker>
          <c:cat>
            <c:strRef>
              <c:f>Foglio1!$A$2:$A$7</c:f>
              <c:strCache>
                <c:ptCount val="6"/>
                <c:pt idx="0">
                  <c:v>6P MPI puro</c:v>
                </c:pt>
                <c:pt idx="1">
                  <c:v>6P x 1T</c:v>
                </c:pt>
                <c:pt idx="2">
                  <c:v>3P x 2T</c:v>
                </c:pt>
                <c:pt idx="3">
                  <c:v>2P x 3T</c:v>
                </c:pt>
                <c:pt idx="4">
                  <c:v>1P x 6T</c:v>
                </c:pt>
                <c:pt idx="5">
                  <c:v>6T OMP puro</c:v>
                </c:pt>
              </c:strCache>
            </c:strRef>
          </c:cat>
          <c:val>
            <c:numRef>
              <c:f>Foglio1!$C$2:$C$7</c:f>
              <c:numCache>
                <c:formatCode>General</c:formatCode>
                <c:ptCount val="6"/>
                <c:pt idx="0">
                  <c:v>0.28449999999999998</c:v>
                </c:pt>
                <c:pt idx="1">
                  <c:v>0.40510000000000002</c:v>
                </c:pt>
                <c:pt idx="2">
                  <c:v>0.33850000000000002</c:v>
                </c:pt>
                <c:pt idx="3">
                  <c:v>1.4044000000000001</c:v>
                </c:pt>
                <c:pt idx="4">
                  <c:v>2.4253</c:v>
                </c:pt>
                <c:pt idx="5">
                  <c:v>0.2475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5-7C5C-4F59-8F9D-B7EBE93834AE}"/>
            </c:ext>
          </c:extLst>
        </c:ser>
        <c:ser>
          <c:idx val="2"/>
          <c:order val="2"/>
          <c:tx>
            <c:strRef>
              <c:f>Foglio1!$D$1</c:f>
              <c:strCache>
                <c:ptCount val="1"/>
                <c:pt idx="0">
                  <c:v>256</c:v>
                </c:pt>
              </c:strCache>
            </c:strRef>
          </c:tx>
          <c:spPr>
            <a:ln w="28575" cap="rnd">
              <a:solidFill>
                <a:schemeClr val="accent3"/>
              </a:solidFill>
              <a:round/>
            </a:ln>
            <a:effectLst/>
          </c:spPr>
          <c:marker>
            <c:symbol val="none"/>
          </c:marker>
          <c:cat>
            <c:strRef>
              <c:f>Foglio1!$A$2:$A$7</c:f>
              <c:strCache>
                <c:ptCount val="6"/>
                <c:pt idx="0">
                  <c:v>6P MPI puro</c:v>
                </c:pt>
                <c:pt idx="1">
                  <c:v>6P x 1T</c:v>
                </c:pt>
                <c:pt idx="2">
                  <c:v>3P x 2T</c:v>
                </c:pt>
                <c:pt idx="3">
                  <c:v>2P x 3T</c:v>
                </c:pt>
                <c:pt idx="4">
                  <c:v>1P x 6T</c:v>
                </c:pt>
                <c:pt idx="5">
                  <c:v>6T OMP puro</c:v>
                </c:pt>
              </c:strCache>
            </c:strRef>
          </c:cat>
          <c:val>
            <c:numRef>
              <c:f>Foglio1!$D$2:$D$7</c:f>
              <c:numCache>
                <c:formatCode>General</c:formatCode>
                <c:ptCount val="6"/>
                <c:pt idx="0">
                  <c:v>1.8154999999999999</c:v>
                </c:pt>
                <c:pt idx="1">
                  <c:v>2.129</c:v>
                </c:pt>
                <c:pt idx="2">
                  <c:v>2.2488000000000001</c:v>
                </c:pt>
                <c:pt idx="3">
                  <c:v>7.7030000000000003</c:v>
                </c:pt>
                <c:pt idx="4">
                  <c:v>14.042299999999999</c:v>
                </c:pt>
                <c:pt idx="5">
                  <c:v>2.8469000000000002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6-7C5C-4F59-8F9D-B7EBE93834AE}"/>
            </c:ext>
          </c:extLst>
        </c:ser>
        <c:ser>
          <c:idx val="3"/>
          <c:order val="3"/>
          <c:tx>
            <c:strRef>
              <c:f>Foglio1!$E$1</c:f>
              <c:strCache>
                <c:ptCount val="1"/>
                <c:pt idx="0">
                  <c:v>512</c:v>
                </c:pt>
              </c:strCache>
            </c:strRef>
          </c:tx>
          <c:spPr>
            <a:ln w="28575" cap="rnd">
              <a:solidFill>
                <a:schemeClr val="accent4"/>
              </a:solidFill>
              <a:round/>
            </a:ln>
            <a:effectLst/>
          </c:spPr>
          <c:marker>
            <c:symbol val="none"/>
          </c:marker>
          <c:cat>
            <c:strRef>
              <c:f>Foglio1!$A$2:$A$7</c:f>
              <c:strCache>
                <c:ptCount val="6"/>
                <c:pt idx="0">
                  <c:v>6P MPI puro</c:v>
                </c:pt>
                <c:pt idx="1">
                  <c:v>6P x 1T</c:v>
                </c:pt>
                <c:pt idx="2">
                  <c:v>3P x 2T</c:v>
                </c:pt>
                <c:pt idx="3">
                  <c:v>2P x 3T</c:v>
                </c:pt>
                <c:pt idx="4">
                  <c:v>1P x 6T</c:v>
                </c:pt>
                <c:pt idx="5">
                  <c:v>6T OMP puro</c:v>
                </c:pt>
              </c:strCache>
            </c:strRef>
          </c:cat>
          <c:val>
            <c:numRef>
              <c:f>Foglio1!$E$2:$E$7</c:f>
              <c:numCache>
                <c:formatCode>General</c:formatCode>
                <c:ptCount val="6"/>
                <c:pt idx="0">
                  <c:v>30.383600000000001</c:v>
                </c:pt>
                <c:pt idx="1">
                  <c:v>33.0548</c:v>
                </c:pt>
                <c:pt idx="2">
                  <c:v>32.059199999999997</c:v>
                </c:pt>
                <c:pt idx="3">
                  <c:v>84.501400000000004</c:v>
                </c:pt>
                <c:pt idx="4">
                  <c:v>135.08580000000001</c:v>
                </c:pt>
                <c:pt idx="5">
                  <c:v>39.182299999999998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7-7C5C-4F59-8F9D-B7EBE93834AE}"/>
            </c:ext>
          </c:extLst>
        </c:ser>
        <c:ser>
          <c:idx val="4"/>
          <c:order val="4"/>
          <c:tx>
            <c:strRef>
              <c:f>Foglio1!$F$1</c:f>
              <c:strCache>
                <c:ptCount val="1"/>
                <c:pt idx="0">
                  <c:v>1024</c:v>
                </c:pt>
              </c:strCache>
            </c:strRef>
          </c:tx>
          <c:spPr>
            <a:ln w="28575" cap="rnd">
              <a:solidFill>
                <a:schemeClr val="accent5"/>
              </a:solidFill>
              <a:round/>
            </a:ln>
            <a:effectLst/>
          </c:spPr>
          <c:marker>
            <c:symbol val="none"/>
          </c:marker>
          <c:cat>
            <c:strRef>
              <c:f>Foglio1!$A$2:$A$7</c:f>
              <c:strCache>
                <c:ptCount val="6"/>
                <c:pt idx="0">
                  <c:v>6P MPI puro</c:v>
                </c:pt>
                <c:pt idx="1">
                  <c:v>6P x 1T</c:v>
                </c:pt>
                <c:pt idx="2">
                  <c:v>3P x 2T</c:v>
                </c:pt>
                <c:pt idx="3">
                  <c:v>2P x 3T</c:v>
                </c:pt>
                <c:pt idx="4">
                  <c:v>1P x 6T</c:v>
                </c:pt>
                <c:pt idx="5">
                  <c:v>6T OMP puro</c:v>
                </c:pt>
              </c:strCache>
            </c:strRef>
          </c:cat>
          <c:val>
            <c:numRef>
              <c:f>Foglio1!$F$2:$F$7</c:f>
              <c:numCache>
                <c:formatCode>General</c:formatCode>
                <c:ptCount val="6"/>
                <c:pt idx="0">
                  <c:v>1889.0450000000001</c:v>
                </c:pt>
                <c:pt idx="1">
                  <c:v>1809.7681</c:v>
                </c:pt>
                <c:pt idx="2">
                  <c:v>1826.2143000000001</c:v>
                </c:pt>
                <c:pt idx="3">
                  <c:v>2052.5263</c:v>
                </c:pt>
                <c:pt idx="4">
                  <c:v>2210.7053999999998</c:v>
                </c:pt>
                <c:pt idx="5">
                  <c:v>1812.14552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8-7C5C-4F59-8F9D-B7EBE93834AE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smooth val="0"/>
        <c:axId val="819733263"/>
        <c:axId val="881292863"/>
      </c:lineChart>
      <c:catAx>
        <c:axId val="819733263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it-IT"/>
          </a:p>
        </c:txPr>
        <c:crossAx val="881292863"/>
        <c:crossesAt val="1.0000000000000002E-2"/>
        <c:auto val="1"/>
        <c:lblAlgn val="ctr"/>
        <c:lblOffset val="100"/>
        <c:noMultiLvlLbl val="0"/>
      </c:catAx>
      <c:valAx>
        <c:axId val="881292863"/>
        <c:scaling>
          <c:logBase val="10"/>
          <c:orientation val="minMax"/>
          <c:min val="1.0000000000000002E-3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it-IT"/>
          </a:p>
        </c:txPr>
        <c:crossAx val="819733263"/>
        <c:crosses val="autoZero"/>
        <c:crossBetween val="between"/>
      </c:valAx>
      <c:dTable>
        <c:showHorzBorder val="1"/>
        <c:showVertBorder val="1"/>
        <c:showOutline val="1"/>
        <c:showKeys val="1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0" spcFirstLastPara="1" vertOverflow="ellipsis" vert="horz" wrap="square" anchor="ctr" anchorCtr="1"/>
          <a:lstStyle/>
          <a:p>
            <a:pPr rtl="0"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it-IT"/>
          </a:p>
        </c:txPr>
      </c:dTable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it-IT"/>
    </a:p>
  </c:txPr>
  <c:externalData r:id="rId3">
    <c:autoUpdate val="0"/>
  </c:externalData>
</c:chartSpace>
</file>

<file path=ppt/charts/chart1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it-IT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862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en-US" noProof="0" dirty="0"/>
              <a:t>Speed</a:t>
            </a:r>
            <a:r>
              <a:rPr lang="en-US" baseline="0" noProof="0" dirty="0"/>
              <a:t>up</a:t>
            </a: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862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it-IT"/>
        </a:p>
      </c:txPr>
    </c:title>
    <c:autoTitleDeleted val="0"/>
    <c:plotArea>
      <c:layout/>
      <c:lineChart>
        <c:grouping val="standard"/>
        <c:varyColors val="0"/>
        <c:ser>
          <c:idx val="0"/>
          <c:order val="0"/>
          <c:tx>
            <c:strRef>
              <c:f>Foglio1!$B$1</c:f>
              <c:strCache>
                <c:ptCount val="1"/>
                <c:pt idx="0">
                  <c:v>N 64</c:v>
                </c:pt>
              </c:strCache>
            </c:strRef>
          </c:tx>
          <c:spPr>
            <a:ln w="28575" cap="rnd">
              <a:solidFill>
                <a:schemeClr val="accent1"/>
              </a:solidFill>
              <a:round/>
            </a:ln>
            <a:effectLst/>
          </c:spPr>
          <c:marker>
            <c:symbol val="circle"/>
            <c:size val="5"/>
            <c:spPr>
              <a:solidFill>
                <a:schemeClr val="accent1"/>
              </a:solidFill>
              <a:ln w="9525">
                <a:solidFill>
                  <a:schemeClr val="accent1"/>
                </a:solidFill>
              </a:ln>
              <a:effectLst/>
            </c:spPr>
          </c:marker>
          <c:cat>
            <c:strRef>
              <c:f>Foglio1!$A$2:$A$7</c:f>
              <c:strCache>
                <c:ptCount val="6"/>
                <c:pt idx="0">
                  <c:v>6P MPI </c:v>
                </c:pt>
                <c:pt idx="1">
                  <c:v>6P x 1T</c:v>
                </c:pt>
                <c:pt idx="2">
                  <c:v>3P x 2T</c:v>
                </c:pt>
                <c:pt idx="3">
                  <c:v>2P x 3T</c:v>
                </c:pt>
                <c:pt idx="4">
                  <c:v>1P x 6T</c:v>
                </c:pt>
                <c:pt idx="5">
                  <c:v>6T OMP puro</c:v>
                </c:pt>
              </c:strCache>
            </c:strRef>
          </c:cat>
          <c:val>
            <c:numRef>
              <c:f>Foglio1!$B$2:$B$7</c:f>
              <c:numCache>
                <c:formatCode>General</c:formatCode>
                <c:ptCount val="6"/>
                <c:pt idx="0">
                  <c:v>0.87</c:v>
                </c:pt>
                <c:pt idx="1">
                  <c:v>0.62</c:v>
                </c:pt>
                <c:pt idx="2">
                  <c:v>0.55000000000000004</c:v>
                </c:pt>
                <c:pt idx="3">
                  <c:v>0.1</c:v>
                </c:pt>
                <c:pt idx="4">
                  <c:v>0.05</c:v>
                </c:pt>
                <c:pt idx="5">
                  <c:v>0.97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CAA-4FDC-A671-650319787E07}"/>
            </c:ext>
          </c:extLst>
        </c:ser>
        <c:ser>
          <c:idx val="1"/>
          <c:order val="1"/>
          <c:tx>
            <c:strRef>
              <c:f>Foglio1!$C$1</c:f>
              <c:strCache>
                <c:ptCount val="1"/>
                <c:pt idx="0">
                  <c:v>N 128</c:v>
                </c:pt>
              </c:strCache>
            </c:strRef>
          </c:tx>
          <c:spPr>
            <a:ln w="28575" cap="rnd">
              <a:solidFill>
                <a:schemeClr val="accent2"/>
              </a:solidFill>
              <a:round/>
            </a:ln>
            <a:effectLst/>
          </c:spPr>
          <c:marker>
            <c:symbol val="circle"/>
            <c:size val="5"/>
            <c:spPr>
              <a:solidFill>
                <a:schemeClr val="accent2"/>
              </a:solidFill>
              <a:ln w="9525">
                <a:solidFill>
                  <a:schemeClr val="accent2"/>
                </a:solidFill>
              </a:ln>
              <a:effectLst/>
            </c:spPr>
          </c:marker>
          <c:cat>
            <c:strRef>
              <c:f>Foglio1!$A$2:$A$7</c:f>
              <c:strCache>
                <c:ptCount val="6"/>
                <c:pt idx="0">
                  <c:v>6P MPI </c:v>
                </c:pt>
                <c:pt idx="1">
                  <c:v>6P x 1T</c:v>
                </c:pt>
                <c:pt idx="2">
                  <c:v>3P x 2T</c:v>
                </c:pt>
                <c:pt idx="3">
                  <c:v>2P x 3T</c:v>
                </c:pt>
                <c:pt idx="4">
                  <c:v>1P x 6T</c:v>
                </c:pt>
                <c:pt idx="5">
                  <c:v>6T OMP puro</c:v>
                </c:pt>
              </c:strCache>
            </c:strRef>
          </c:cat>
          <c:val>
            <c:numRef>
              <c:f>Foglio1!$C$2:$C$7</c:f>
              <c:numCache>
                <c:formatCode>General</c:formatCode>
                <c:ptCount val="6"/>
                <c:pt idx="0">
                  <c:v>1.59</c:v>
                </c:pt>
                <c:pt idx="1">
                  <c:v>1.1200000000000001</c:v>
                </c:pt>
                <c:pt idx="2">
                  <c:v>1.34</c:v>
                </c:pt>
                <c:pt idx="3">
                  <c:v>0.32</c:v>
                </c:pt>
                <c:pt idx="4">
                  <c:v>0.19</c:v>
                </c:pt>
                <c:pt idx="5">
                  <c:v>1.97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7CAA-4FDC-A671-650319787E07}"/>
            </c:ext>
          </c:extLst>
        </c:ser>
        <c:ser>
          <c:idx val="2"/>
          <c:order val="2"/>
          <c:tx>
            <c:strRef>
              <c:f>Foglio1!$D$1</c:f>
              <c:strCache>
                <c:ptCount val="1"/>
                <c:pt idx="0">
                  <c:v>N 256</c:v>
                </c:pt>
              </c:strCache>
            </c:strRef>
          </c:tx>
          <c:spPr>
            <a:ln w="28575" cap="rnd">
              <a:solidFill>
                <a:schemeClr val="accent3"/>
              </a:solidFill>
              <a:round/>
            </a:ln>
            <a:effectLst/>
          </c:spPr>
          <c:marker>
            <c:symbol val="circle"/>
            <c:size val="5"/>
            <c:spPr>
              <a:solidFill>
                <a:schemeClr val="accent3"/>
              </a:solidFill>
              <a:ln w="9525">
                <a:solidFill>
                  <a:schemeClr val="accent3"/>
                </a:solidFill>
              </a:ln>
              <a:effectLst/>
            </c:spPr>
          </c:marker>
          <c:cat>
            <c:strRef>
              <c:f>Foglio1!$A$2:$A$7</c:f>
              <c:strCache>
                <c:ptCount val="6"/>
                <c:pt idx="0">
                  <c:v>6P MPI </c:v>
                </c:pt>
                <c:pt idx="1">
                  <c:v>6P x 1T</c:v>
                </c:pt>
                <c:pt idx="2">
                  <c:v>3P x 2T</c:v>
                </c:pt>
                <c:pt idx="3">
                  <c:v>2P x 3T</c:v>
                </c:pt>
                <c:pt idx="4">
                  <c:v>1P x 6T</c:v>
                </c:pt>
                <c:pt idx="5">
                  <c:v>6T OMP puro</c:v>
                </c:pt>
              </c:strCache>
            </c:strRef>
          </c:cat>
          <c:val>
            <c:numRef>
              <c:f>Foglio1!$D$2:$D$7</c:f>
              <c:numCache>
                <c:formatCode>General</c:formatCode>
                <c:ptCount val="6"/>
                <c:pt idx="0">
                  <c:v>3.89</c:v>
                </c:pt>
                <c:pt idx="1">
                  <c:v>3.32</c:v>
                </c:pt>
                <c:pt idx="2">
                  <c:v>3.14</c:v>
                </c:pt>
                <c:pt idx="3">
                  <c:v>0.92</c:v>
                </c:pt>
                <c:pt idx="4">
                  <c:v>0.5</c:v>
                </c:pt>
                <c:pt idx="5">
                  <c:v>2.46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7CAA-4FDC-A671-650319787E07}"/>
            </c:ext>
          </c:extLst>
        </c:ser>
        <c:ser>
          <c:idx val="3"/>
          <c:order val="3"/>
          <c:tx>
            <c:strRef>
              <c:f>Foglio1!$E$1</c:f>
              <c:strCache>
                <c:ptCount val="1"/>
                <c:pt idx="0">
                  <c:v>N 512</c:v>
                </c:pt>
              </c:strCache>
            </c:strRef>
          </c:tx>
          <c:spPr>
            <a:ln w="28575" cap="rnd">
              <a:solidFill>
                <a:schemeClr val="accent4"/>
              </a:solidFill>
              <a:round/>
            </a:ln>
            <a:effectLst/>
          </c:spPr>
          <c:marker>
            <c:symbol val="circle"/>
            <c:size val="5"/>
            <c:spPr>
              <a:solidFill>
                <a:schemeClr val="accent4"/>
              </a:solidFill>
              <a:ln w="9525">
                <a:solidFill>
                  <a:schemeClr val="accent4"/>
                </a:solidFill>
              </a:ln>
              <a:effectLst/>
            </c:spPr>
          </c:marker>
          <c:cat>
            <c:strRef>
              <c:f>Foglio1!$A$2:$A$7</c:f>
              <c:strCache>
                <c:ptCount val="6"/>
                <c:pt idx="0">
                  <c:v>6P MPI </c:v>
                </c:pt>
                <c:pt idx="1">
                  <c:v>6P x 1T</c:v>
                </c:pt>
                <c:pt idx="2">
                  <c:v>3P x 2T</c:v>
                </c:pt>
                <c:pt idx="3">
                  <c:v>2P x 3T</c:v>
                </c:pt>
                <c:pt idx="4">
                  <c:v>1P x 6T</c:v>
                </c:pt>
                <c:pt idx="5">
                  <c:v>6T OMP puro</c:v>
                </c:pt>
              </c:strCache>
            </c:strRef>
          </c:cat>
          <c:val>
            <c:numRef>
              <c:f>Foglio1!$E$2:$E$7</c:f>
              <c:numCache>
                <c:formatCode>General</c:formatCode>
                <c:ptCount val="6"/>
                <c:pt idx="0">
                  <c:v>3.81</c:v>
                </c:pt>
                <c:pt idx="1">
                  <c:v>3.5</c:v>
                </c:pt>
                <c:pt idx="2">
                  <c:v>3.61</c:v>
                </c:pt>
                <c:pt idx="3">
                  <c:v>1.37</c:v>
                </c:pt>
                <c:pt idx="4">
                  <c:v>0.86</c:v>
                </c:pt>
                <c:pt idx="5">
                  <c:v>3.03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3-7CAA-4FDC-A671-650319787E07}"/>
            </c:ext>
          </c:extLst>
        </c:ser>
        <c:ser>
          <c:idx val="4"/>
          <c:order val="4"/>
          <c:tx>
            <c:strRef>
              <c:f>Foglio1!$F$1</c:f>
              <c:strCache>
                <c:ptCount val="1"/>
                <c:pt idx="0">
                  <c:v>N 1024</c:v>
                </c:pt>
              </c:strCache>
            </c:strRef>
          </c:tx>
          <c:spPr>
            <a:ln w="28575" cap="rnd">
              <a:solidFill>
                <a:schemeClr val="accent5"/>
              </a:solidFill>
              <a:round/>
            </a:ln>
            <a:effectLst/>
          </c:spPr>
          <c:marker>
            <c:symbol val="circle"/>
            <c:size val="5"/>
            <c:spPr>
              <a:solidFill>
                <a:schemeClr val="accent5"/>
              </a:solidFill>
              <a:ln w="9525">
                <a:solidFill>
                  <a:schemeClr val="accent5"/>
                </a:solidFill>
              </a:ln>
              <a:effectLst/>
            </c:spPr>
          </c:marker>
          <c:cat>
            <c:strRef>
              <c:f>Foglio1!$A$2:$A$7</c:f>
              <c:strCache>
                <c:ptCount val="6"/>
                <c:pt idx="0">
                  <c:v>6P MPI </c:v>
                </c:pt>
                <c:pt idx="1">
                  <c:v>6P x 1T</c:v>
                </c:pt>
                <c:pt idx="2">
                  <c:v>3P x 2T</c:v>
                </c:pt>
                <c:pt idx="3">
                  <c:v>2P x 3T</c:v>
                </c:pt>
                <c:pt idx="4">
                  <c:v>1P x 6T</c:v>
                </c:pt>
                <c:pt idx="5">
                  <c:v>6T OMP puro</c:v>
                </c:pt>
              </c:strCache>
            </c:strRef>
          </c:cat>
          <c:val>
            <c:numRef>
              <c:f>Foglio1!$F$2:$F$7</c:f>
              <c:numCache>
                <c:formatCode>General</c:formatCode>
                <c:ptCount val="6"/>
                <c:pt idx="0">
                  <c:v>1.34</c:v>
                </c:pt>
                <c:pt idx="1">
                  <c:v>1.4</c:v>
                </c:pt>
                <c:pt idx="2">
                  <c:v>1.39</c:v>
                </c:pt>
                <c:pt idx="3">
                  <c:v>1.23</c:v>
                </c:pt>
                <c:pt idx="4">
                  <c:v>1.1399999999999999</c:v>
                </c:pt>
                <c:pt idx="5">
                  <c:v>1.4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3DA8-47B9-A211-EFBD2DF4B6E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455103296"/>
        <c:axId val="351644896"/>
      </c:lineChart>
      <c:catAx>
        <c:axId val="455103296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it-IT"/>
          </a:p>
        </c:txPr>
        <c:crossAx val="351644896"/>
        <c:crosses val="autoZero"/>
        <c:auto val="1"/>
        <c:lblAlgn val="ctr"/>
        <c:lblOffset val="100"/>
        <c:noMultiLvlLbl val="0"/>
      </c:catAx>
      <c:valAx>
        <c:axId val="351644896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it-IT"/>
          </a:p>
        </c:txPr>
        <c:crossAx val="455103296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it-IT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it-IT"/>
    </a:p>
  </c:txPr>
  <c:externalData r:id="rId3">
    <c:autoUpdate val="0"/>
  </c:externalData>
</c:chartSpace>
</file>

<file path=ppt/charts/chart1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it-IT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862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it-IT" dirty="0"/>
              <a:t>Efficienza</a:t>
            </a: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862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it-IT"/>
        </a:p>
      </c:txPr>
    </c:title>
    <c:autoTitleDeleted val="0"/>
    <c:plotArea>
      <c:layout/>
      <c:lineChart>
        <c:grouping val="standard"/>
        <c:varyColors val="0"/>
        <c:ser>
          <c:idx val="0"/>
          <c:order val="0"/>
          <c:tx>
            <c:strRef>
              <c:f>Foglio1!$B$1</c:f>
              <c:strCache>
                <c:ptCount val="1"/>
                <c:pt idx="0">
                  <c:v>N 64</c:v>
                </c:pt>
              </c:strCache>
            </c:strRef>
          </c:tx>
          <c:spPr>
            <a:ln w="28575" cap="rnd">
              <a:solidFill>
                <a:schemeClr val="accent1"/>
              </a:solidFill>
              <a:round/>
            </a:ln>
            <a:effectLst/>
          </c:spPr>
          <c:marker>
            <c:symbol val="circle"/>
            <c:size val="5"/>
            <c:spPr>
              <a:solidFill>
                <a:schemeClr val="accent1"/>
              </a:solidFill>
              <a:ln w="9525">
                <a:solidFill>
                  <a:schemeClr val="accent1"/>
                </a:solidFill>
              </a:ln>
              <a:effectLst/>
            </c:spPr>
          </c:marker>
          <c:cat>
            <c:strRef>
              <c:f>Foglio1!$A$2:$A$7</c:f>
              <c:strCache>
                <c:ptCount val="6"/>
                <c:pt idx="0">
                  <c:v>6P MPI</c:v>
                </c:pt>
                <c:pt idx="1">
                  <c:v>6P x 1T</c:v>
                </c:pt>
                <c:pt idx="2">
                  <c:v>3P x 2T</c:v>
                </c:pt>
                <c:pt idx="3">
                  <c:v>2P x 3T</c:v>
                </c:pt>
                <c:pt idx="4">
                  <c:v>1P x 6T</c:v>
                </c:pt>
                <c:pt idx="5">
                  <c:v>6T OMP puro</c:v>
                </c:pt>
              </c:strCache>
            </c:strRef>
          </c:cat>
          <c:val>
            <c:numRef>
              <c:f>Foglio1!$B$2:$B$7</c:f>
              <c:numCache>
                <c:formatCode>General</c:formatCode>
                <c:ptCount val="6"/>
                <c:pt idx="0">
                  <c:v>0.15</c:v>
                </c:pt>
                <c:pt idx="1">
                  <c:v>0.1</c:v>
                </c:pt>
                <c:pt idx="2">
                  <c:v>0.09</c:v>
                </c:pt>
                <c:pt idx="3">
                  <c:v>0.02</c:v>
                </c:pt>
                <c:pt idx="4">
                  <c:v>0.01</c:v>
                </c:pt>
                <c:pt idx="5">
                  <c:v>0.16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15C1-4021-B188-E4846228A6D7}"/>
            </c:ext>
          </c:extLst>
        </c:ser>
        <c:ser>
          <c:idx val="1"/>
          <c:order val="1"/>
          <c:tx>
            <c:strRef>
              <c:f>Foglio1!$C$1</c:f>
              <c:strCache>
                <c:ptCount val="1"/>
                <c:pt idx="0">
                  <c:v>N 128 </c:v>
                </c:pt>
              </c:strCache>
            </c:strRef>
          </c:tx>
          <c:spPr>
            <a:ln w="28575" cap="rnd">
              <a:solidFill>
                <a:schemeClr val="accent2"/>
              </a:solidFill>
              <a:round/>
            </a:ln>
            <a:effectLst/>
          </c:spPr>
          <c:marker>
            <c:symbol val="circle"/>
            <c:size val="5"/>
            <c:spPr>
              <a:solidFill>
                <a:schemeClr val="accent2"/>
              </a:solidFill>
              <a:ln w="9525">
                <a:solidFill>
                  <a:schemeClr val="accent2"/>
                </a:solidFill>
              </a:ln>
              <a:effectLst/>
            </c:spPr>
          </c:marker>
          <c:cat>
            <c:strRef>
              <c:f>Foglio1!$A$2:$A$7</c:f>
              <c:strCache>
                <c:ptCount val="6"/>
                <c:pt idx="0">
                  <c:v>6P MPI</c:v>
                </c:pt>
                <c:pt idx="1">
                  <c:v>6P x 1T</c:v>
                </c:pt>
                <c:pt idx="2">
                  <c:v>3P x 2T</c:v>
                </c:pt>
                <c:pt idx="3">
                  <c:v>2P x 3T</c:v>
                </c:pt>
                <c:pt idx="4">
                  <c:v>1P x 6T</c:v>
                </c:pt>
                <c:pt idx="5">
                  <c:v>6T OMP puro</c:v>
                </c:pt>
              </c:strCache>
            </c:strRef>
          </c:cat>
          <c:val>
            <c:numRef>
              <c:f>Foglio1!$C$2:$C$7</c:f>
              <c:numCache>
                <c:formatCode>General</c:formatCode>
                <c:ptCount val="6"/>
                <c:pt idx="0">
                  <c:v>0.26</c:v>
                </c:pt>
                <c:pt idx="1">
                  <c:v>0.19</c:v>
                </c:pt>
                <c:pt idx="2">
                  <c:v>0.22</c:v>
                </c:pt>
                <c:pt idx="3">
                  <c:v>0.05</c:v>
                </c:pt>
                <c:pt idx="4">
                  <c:v>0.03</c:v>
                </c:pt>
                <c:pt idx="5">
                  <c:v>0.33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15C1-4021-B188-E4846228A6D7}"/>
            </c:ext>
          </c:extLst>
        </c:ser>
        <c:ser>
          <c:idx val="2"/>
          <c:order val="2"/>
          <c:tx>
            <c:strRef>
              <c:f>Foglio1!$D$1</c:f>
              <c:strCache>
                <c:ptCount val="1"/>
                <c:pt idx="0">
                  <c:v>N 256 </c:v>
                </c:pt>
              </c:strCache>
            </c:strRef>
          </c:tx>
          <c:spPr>
            <a:ln w="28575" cap="rnd">
              <a:solidFill>
                <a:schemeClr val="accent3"/>
              </a:solidFill>
              <a:round/>
            </a:ln>
            <a:effectLst/>
          </c:spPr>
          <c:marker>
            <c:symbol val="circle"/>
            <c:size val="5"/>
            <c:spPr>
              <a:solidFill>
                <a:schemeClr val="accent3"/>
              </a:solidFill>
              <a:ln w="9525">
                <a:solidFill>
                  <a:schemeClr val="accent3"/>
                </a:solidFill>
              </a:ln>
              <a:effectLst/>
            </c:spPr>
          </c:marker>
          <c:cat>
            <c:strRef>
              <c:f>Foglio1!$A$2:$A$7</c:f>
              <c:strCache>
                <c:ptCount val="6"/>
                <c:pt idx="0">
                  <c:v>6P MPI</c:v>
                </c:pt>
                <c:pt idx="1">
                  <c:v>6P x 1T</c:v>
                </c:pt>
                <c:pt idx="2">
                  <c:v>3P x 2T</c:v>
                </c:pt>
                <c:pt idx="3">
                  <c:v>2P x 3T</c:v>
                </c:pt>
                <c:pt idx="4">
                  <c:v>1P x 6T</c:v>
                </c:pt>
                <c:pt idx="5">
                  <c:v>6T OMP puro</c:v>
                </c:pt>
              </c:strCache>
            </c:strRef>
          </c:cat>
          <c:val>
            <c:numRef>
              <c:f>Foglio1!$D$2:$D$7</c:f>
              <c:numCache>
                <c:formatCode>General</c:formatCode>
                <c:ptCount val="6"/>
                <c:pt idx="0">
                  <c:v>0.65</c:v>
                </c:pt>
                <c:pt idx="1">
                  <c:v>0.55000000000000004</c:v>
                </c:pt>
                <c:pt idx="2">
                  <c:v>0.52</c:v>
                </c:pt>
                <c:pt idx="3">
                  <c:v>0.15</c:v>
                </c:pt>
                <c:pt idx="4">
                  <c:v>0.08</c:v>
                </c:pt>
                <c:pt idx="5">
                  <c:v>0.41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15C1-4021-B188-E4846228A6D7}"/>
            </c:ext>
          </c:extLst>
        </c:ser>
        <c:ser>
          <c:idx val="3"/>
          <c:order val="3"/>
          <c:tx>
            <c:strRef>
              <c:f>Foglio1!$E$1</c:f>
              <c:strCache>
                <c:ptCount val="1"/>
                <c:pt idx="0">
                  <c:v>N 512</c:v>
                </c:pt>
              </c:strCache>
            </c:strRef>
          </c:tx>
          <c:spPr>
            <a:ln w="28575" cap="rnd">
              <a:solidFill>
                <a:schemeClr val="accent4"/>
              </a:solidFill>
              <a:round/>
            </a:ln>
            <a:effectLst/>
          </c:spPr>
          <c:marker>
            <c:symbol val="circle"/>
            <c:size val="5"/>
            <c:spPr>
              <a:solidFill>
                <a:schemeClr val="accent4"/>
              </a:solidFill>
              <a:ln w="9525">
                <a:solidFill>
                  <a:schemeClr val="accent4"/>
                </a:solidFill>
              </a:ln>
              <a:effectLst/>
            </c:spPr>
          </c:marker>
          <c:cat>
            <c:strRef>
              <c:f>Foglio1!$A$2:$A$7</c:f>
              <c:strCache>
                <c:ptCount val="6"/>
                <c:pt idx="0">
                  <c:v>6P MPI</c:v>
                </c:pt>
                <c:pt idx="1">
                  <c:v>6P x 1T</c:v>
                </c:pt>
                <c:pt idx="2">
                  <c:v>3P x 2T</c:v>
                </c:pt>
                <c:pt idx="3">
                  <c:v>2P x 3T</c:v>
                </c:pt>
                <c:pt idx="4">
                  <c:v>1P x 6T</c:v>
                </c:pt>
                <c:pt idx="5">
                  <c:v>6T OMP puro</c:v>
                </c:pt>
              </c:strCache>
            </c:strRef>
          </c:cat>
          <c:val>
            <c:numRef>
              <c:f>Foglio1!$E$2:$E$7</c:f>
              <c:numCache>
                <c:formatCode>General</c:formatCode>
                <c:ptCount val="6"/>
                <c:pt idx="0">
                  <c:v>0.63</c:v>
                </c:pt>
                <c:pt idx="1">
                  <c:v>0.57999999999999996</c:v>
                </c:pt>
                <c:pt idx="2">
                  <c:v>0.6</c:v>
                </c:pt>
                <c:pt idx="3">
                  <c:v>0.23</c:v>
                </c:pt>
                <c:pt idx="4">
                  <c:v>0.14000000000000001</c:v>
                </c:pt>
                <c:pt idx="5">
                  <c:v>0.5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3-15C1-4021-B188-E4846228A6D7}"/>
            </c:ext>
          </c:extLst>
        </c:ser>
        <c:ser>
          <c:idx val="4"/>
          <c:order val="4"/>
          <c:tx>
            <c:strRef>
              <c:f>Foglio1!$F$1</c:f>
              <c:strCache>
                <c:ptCount val="1"/>
                <c:pt idx="0">
                  <c:v>N 1024</c:v>
                </c:pt>
              </c:strCache>
            </c:strRef>
          </c:tx>
          <c:spPr>
            <a:ln w="28575" cap="rnd">
              <a:solidFill>
                <a:schemeClr val="accent5"/>
              </a:solidFill>
              <a:round/>
            </a:ln>
            <a:effectLst/>
          </c:spPr>
          <c:marker>
            <c:symbol val="circle"/>
            <c:size val="5"/>
            <c:spPr>
              <a:solidFill>
                <a:schemeClr val="accent5"/>
              </a:solidFill>
              <a:ln w="9525">
                <a:solidFill>
                  <a:schemeClr val="accent5"/>
                </a:solidFill>
              </a:ln>
              <a:effectLst/>
            </c:spPr>
          </c:marker>
          <c:cat>
            <c:strRef>
              <c:f>Foglio1!$A$2:$A$7</c:f>
              <c:strCache>
                <c:ptCount val="6"/>
                <c:pt idx="0">
                  <c:v>6P MPI</c:v>
                </c:pt>
                <c:pt idx="1">
                  <c:v>6P x 1T</c:v>
                </c:pt>
                <c:pt idx="2">
                  <c:v>3P x 2T</c:v>
                </c:pt>
                <c:pt idx="3">
                  <c:v>2P x 3T</c:v>
                </c:pt>
                <c:pt idx="4">
                  <c:v>1P x 6T</c:v>
                </c:pt>
                <c:pt idx="5">
                  <c:v>6T OMP puro</c:v>
                </c:pt>
              </c:strCache>
            </c:strRef>
          </c:cat>
          <c:val>
            <c:numRef>
              <c:f>Foglio1!$F$2:$F$7</c:f>
              <c:numCache>
                <c:formatCode>General</c:formatCode>
                <c:ptCount val="6"/>
                <c:pt idx="0">
                  <c:v>0.22</c:v>
                </c:pt>
                <c:pt idx="1">
                  <c:v>0.23</c:v>
                </c:pt>
                <c:pt idx="2">
                  <c:v>0.23</c:v>
                </c:pt>
                <c:pt idx="3">
                  <c:v>0.2</c:v>
                </c:pt>
                <c:pt idx="4">
                  <c:v>0.19</c:v>
                </c:pt>
                <c:pt idx="5">
                  <c:v>0.23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F0CA-422D-8E08-3FB0D2F970B0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18111376"/>
        <c:axId val="2099601759"/>
      </c:lineChart>
      <c:catAx>
        <c:axId val="18111376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it-IT"/>
          </a:p>
        </c:txPr>
        <c:crossAx val="2099601759"/>
        <c:crosses val="autoZero"/>
        <c:auto val="1"/>
        <c:lblAlgn val="ctr"/>
        <c:lblOffset val="100"/>
        <c:noMultiLvlLbl val="0"/>
      </c:catAx>
      <c:valAx>
        <c:axId val="2099601759"/>
        <c:scaling>
          <c:orientation val="minMax"/>
          <c:max val="1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it-IT"/>
          </a:p>
        </c:txPr>
        <c:crossAx val="18111376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it-IT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it-IT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3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4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5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6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7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8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9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10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1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12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13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39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197" kern="1200" cap="all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64" kern="1200" cap="all" spc="120" normalizeH="0" baseline="0"/>
  </cs:categoryAxis>
  <cs:chartArea mods="allowNoFillOverride allowNoLineOverride">
    <cs:lnRef idx="0"/>
    <cs:fillRef idx="0"/>
    <cs:effectRef idx="0"/>
    <cs:fontRef idx="minor">
      <a:schemeClr val="dk1"/>
    </cs:fontRef>
    <cs:spPr>
      <a:solidFill>
        <a:schemeClr val="lt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50000"/>
        <a:lumOff val="50000"/>
      </a:schemeClr>
    </cs:fontRef>
    <cs:defRPr sz="1197" b="0" i="0" u="none" strike="noStrike" kern="1200" baseline="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0">
      <cs:styleClr val="auto"/>
    </cs:fillRef>
    <cs:effectRef idx="0"/>
    <cs:fontRef idx="minor">
      <a:schemeClr val="dk1"/>
    </cs:fontRef>
    <cs:spPr>
      <a:solidFill>
        <a:schemeClr val="phClr"/>
      </a:solidFill>
    </cs:spPr>
  </cs:dataPoint>
  <cs:dataPoint3D>
    <cs:lnRef idx="0"/>
    <cs:fillRef idx="0">
      <cs:styleClr val="auto"/>
    </cs:fillRef>
    <cs:effectRef idx="0"/>
    <cs:fontRef idx="minor">
      <a:schemeClr val="dk1"/>
    </cs:fontRef>
    <cs:spPr>
      <a:solidFill>
        <a:schemeClr val="phClr"/>
      </a:solidFill>
    </cs:spPr>
  </cs:dataPoint3D>
  <cs:dataPointLine>
    <cs:lnRef idx="0">
      <cs:styleClr val="auto"/>
    </cs:lnRef>
    <cs:fillRef idx="0"/>
    <cs:effectRef idx="0"/>
    <cs:fontRef idx="minor">
      <a:schemeClr val="dk1"/>
    </cs:fontRef>
    <cs:spPr>
      <a:ln w="2222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0">
      <cs:styleClr val="auto"/>
    </cs:fillRef>
    <cs:effectRef idx="0"/>
    <cs:fontRef idx="minor">
      <a:schemeClr val="dk1"/>
    </cs:fontRef>
    <cs:spPr>
      <a:solidFill>
        <a:schemeClr val="phClr"/>
      </a:solidFill>
      <a:ln w="9525">
        <a:solidFill>
          <a:schemeClr val="phClr"/>
        </a:solidFill>
        <a:round/>
      </a:ln>
    </cs:spPr>
  </cs:dataPointMarker>
  <cs:dataPointMarkerLayout size="6"/>
  <cs:dataPointWireframe>
    <cs:lnRef idx="0">
      <cs:styleClr val="auto"/>
    </cs:lnRef>
    <cs:fillRef idx="0"/>
    <cs:effectRef idx="0"/>
    <cs:fontRef idx="minor">
      <a:schemeClr val="dk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ln w="9525">
        <a:solidFill>
          <a:schemeClr val="tx1">
            <a:lumMod val="15000"/>
            <a:lumOff val="85000"/>
          </a:schemeClr>
        </a:solidFill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75000"/>
          <a:lumOff val="25000"/>
        </a:schemeClr>
      </a:solidFill>
      <a:ln w="9525">
        <a:solidFill>
          <a:schemeClr val="tx1">
            <a:lumMod val="15000"/>
            <a:lumOff val="85000"/>
          </a:schemeClr>
        </a:solidFill>
      </a:ln>
    </cs:spPr>
  </cs:downBar>
  <cs:dropLine>
    <cs:lnRef idx="0"/>
    <cs:fillRef idx="0"/>
    <cs:effectRef idx="0"/>
    <cs:fontRef idx="minor">
      <a:schemeClr val="dk1"/>
    </cs:fontRef>
    <cs:spPr>
      <a:ln w="9525">
        <a:solidFill>
          <a:schemeClr val="tx1">
            <a:lumMod val="35000"/>
            <a:lumOff val="65000"/>
          </a:schemeClr>
        </a:solidFill>
      </a:ln>
    </cs:spPr>
  </cs:dropLine>
  <cs:errorBar>
    <cs:lnRef idx="0"/>
    <cs:fillRef idx="0"/>
    <cs:effectRef idx="0"/>
    <cs:fontRef idx="minor">
      <a:schemeClr val="dk1"/>
    </cs:fontRef>
    <cs:spPr>
      <a:ln w="9525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dk1"/>
    </cs:fontRef>
  </cs:floor>
  <cs:gridlineMajor>
    <cs:lnRef idx="0"/>
    <cs:fillRef idx="0"/>
    <cs:effectRef idx="0"/>
    <cs:fontRef idx="minor">
      <a:schemeClr val="dk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dk1"/>
    </cs:fontRef>
    <cs:spPr>
      <a:ln>
        <a:solidFill>
          <a:schemeClr val="tx1">
            <a:lumMod val="5000"/>
            <a:lumOff val="95000"/>
          </a:schemeClr>
        </a:solidFill>
      </a:ln>
    </cs:spPr>
  </cs:gridlineMinor>
  <cs:hiLoLine>
    <cs:lnRef idx="0"/>
    <cs:fillRef idx="0"/>
    <cs:effectRef idx="0"/>
    <cs:fontRef idx="minor">
      <a:schemeClr val="dk1"/>
    </cs:fontRef>
    <cs:spPr>
      <a:ln w="9525">
        <a:solidFill>
          <a:schemeClr val="tx1">
            <a:lumMod val="50000"/>
            <a:lumOff val="50000"/>
          </a:schemeClr>
        </a:solidFill>
      </a:ln>
    </cs:spPr>
  </cs:hiLoLine>
  <cs:leaderLine>
    <cs:lnRef idx="0"/>
    <cs:fillRef idx="0"/>
    <cs:effectRef idx="0"/>
    <cs:fontRef idx="minor">
      <a:schemeClr val="dk1"/>
    </cs:fontRef>
    <cs:spPr>
      <a:ln w="9525">
        <a:solidFill>
          <a:schemeClr val="tx1">
            <a:lumMod val="35000"/>
            <a:lumOff val="65000"/>
          </a:schemeClr>
        </a:solidFill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dk1"/>
    </cs:fontRef>
  </cs:plotArea>
  <cs:plotArea3D mods="allowNoFillOverride allowNoLineOverride">
    <cs:lnRef idx="0"/>
    <cs:fillRef idx="0"/>
    <cs:effectRef idx="0"/>
    <cs:fontRef idx="minor">
      <a:schemeClr val="dk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seriesAxis>
  <cs:seriesLine>
    <cs:lnRef idx="0"/>
    <cs:fillRef idx="0"/>
    <cs:effectRef idx="0"/>
    <cs:fontRef idx="minor">
      <a:schemeClr val="dk1"/>
    </cs:fontRef>
    <cs:spPr>
      <a:ln w="9525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2128" b="1" kern="1200" cap="all" spc="120" normalizeH="0" baseline="0"/>
  </cs:title>
  <cs:trendline>
    <cs:lnRef idx="0">
      <cs:styleClr val="auto"/>
    </cs:lnRef>
    <cs:fillRef idx="0"/>
    <cs:effectRef idx="0"/>
    <cs:fontRef idx="minor">
      <a:schemeClr val="dk1"/>
    </cs:fontRef>
    <cs:spPr>
      <a:ln w="19050" cap="rnd">
        <a:solidFill>
          <a:schemeClr val="phClr"/>
        </a:solidFill>
        <a:prstDash val="sysDash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064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65000"/>
            <a:lumOff val="3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dk1">
            <a:lumMod val="15000"/>
            <a:lumOff val="85000"/>
          </a:schemeClr>
        </a:solidFill>
        <a:round/>
      </a:ln>
    </cs:spPr>
    <cs:defRPr sz="1197" kern="1200"/>
  </cs:valueAxis>
  <cs:wall>
    <cs:lnRef idx="0"/>
    <cs:fillRef idx="0"/>
    <cs:effectRef idx="0"/>
    <cs:fontRef idx="minor">
      <a:schemeClr val="dk1"/>
    </cs:fontRef>
  </cs:wall>
</cs:chartStyle>
</file>

<file path=ppt/charts/style2.xml><?xml version="1.0" encoding="utf-8"?>
<cs:chartStyle xmlns:cs="http://schemas.microsoft.com/office/drawing/2012/chartStyle" xmlns:a="http://schemas.openxmlformats.org/drawingml/2006/main" id="22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solidFill>
        <a:schemeClr val="phClr"/>
      </a:solidFill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solidFill>
        <a:schemeClr val="phClr"/>
      </a:solidFill>
    </cs:spPr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solidFill>
        <a:schemeClr val="phClr"/>
      </a:solidFill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3.xml><?xml version="1.0" encoding="utf-8"?>
<cs:chartStyle xmlns:cs="http://schemas.microsoft.com/office/drawing/2012/chartStyle" xmlns:a="http://schemas.openxmlformats.org/drawingml/2006/main" id="332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4.xml><?xml version="1.0" encoding="utf-8"?>
<cs:chartStyle xmlns:cs="http://schemas.microsoft.com/office/drawing/2012/chartStyle" xmlns:a="http://schemas.openxmlformats.org/drawingml/2006/main" id="332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5.xml><?xml version="1.0" encoding="utf-8"?>
<cs:chartStyle xmlns:cs="http://schemas.microsoft.com/office/drawing/2012/chartStyle" xmlns:a="http://schemas.openxmlformats.org/drawingml/2006/main" id="22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solidFill>
        <a:schemeClr val="phClr"/>
      </a:solidFill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solidFill>
        <a:schemeClr val="phClr"/>
      </a:solidFill>
    </cs:spPr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solidFill>
        <a:schemeClr val="phClr"/>
      </a:solidFill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6.xml><?xml version="1.0" encoding="utf-8"?>
<cs:chartStyle xmlns:cs="http://schemas.microsoft.com/office/drawing/2012/chartStyle" xmlns:a="http://schemas.openxmlformats.org/drawingml/2006/main" id="332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7.xml><?xml version="1.0" encoding="utf-8"?>
<cs:chartStyle xmlns:cs="http://schemas.microsoft.com/office/drawing/2012/chartStyle" xmlns:a="http://schemas.openxmlformats.org/drawingml/2006/main" id="332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8.xml><?xml version="1.0" encoding="utf-8"?>
<cs:chartStyle xmlns:cs="http://schemas.microsoft.com/office/drawing/2012/chartStyle" xmlns:a="http://schemas.openxmlformats.org/drawingml/2006/main" id="332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9.xml><?xml version="1.0" encoding="utf-8"?>
<cs:chartStyle xmlns:cs="http://schemas.microsoft.com/office/drawing/2012/chartStyle" xmlns:a="http://schemas.openxmlformats.org/drawingml/2006/main" id="332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10.xml><?xml version="1.0" encoding="utf-8"?>
<cs:chartStyle xmlns:cs="http://schemas.microsoft.com/office/drawing/2012/chartStyle" xmlns:a="http://schemas.openxmlformats.org/drawingml/2006/main" id="332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11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12.xml><?xml version="1.0" encoding="utf-8"?>
<cs:chartStyle xmlns:cs="http://schemas.microsoft.com/office/drawing/2012/chartStyle" xmlns:a="http://schemas.openxmlformats.org/drawingml/2006/main" id="332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13.xml><?xml version="1.0" encoding="utf-8"?>
<cs:chartStyle xmlns:cs="http://schemas.microsoft.com/office/drawing/2012/chartStyle" xmlns:a="http://schemas.openxmlformats.org/drawingml/2006/main" id="332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ntestazione 1">
            <a:extLst>
              <a:ext uri="{FF2B5EF4-FFF2-40B4-BE49-F238E27FC236}">
                <a16:creationId xmlns:a16="http://schemas.microsoft.com/office/drawing/2014/main" id="{0FD5F304-DC12-D4A8-51C3-B9E0003266CB}"/>
              </a:ext>
            </a:extLst>
          </p:cNvPr>
          <p:cNvSpPr txBox="1">
            <a:spLocks noGrp="1"/>
          </p:cNvSpPr>
          <p:nvPr>
            <p:ph type="hdr" sz="quarter"/>
          </p:nvPr>
        </p:nvSpPr>
        <p:spPr>
          <a:xfrm>
            <a:off x="0" y="0"/>
            <a:ext cx="2971800" cy="458791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anchor="t" anchorCtr="0" compatLnSpc="1">
            <a:noAutofit/>
          </a:bodyPr>
          <a:lstStyle>
            <a:lvl1pPr marL="0" marR="0" lvl="0" indent="0" algn="l" defTabSz="4572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lang="it-IT" sz="1200" b="0" i="0" u="none" strike="noStrike" kern="1200" cap="none" spc="0" baseline="0">
                <a:solidFill>
                  <a:srgbClr val="000000"/>
                </a:solidFill>
                <a:uFillTx/>
                <a:latin typeface="Aptos"/>
              </a:defRPr>
            </a:lvl1pPr>
          </a:lstStyle>
          <a:p>
            <a:pPr lvl="0"/>
            <a:endParaRPr lang="it-IT"/>
          </a:p>
        </p:txBody>
      </p:sp>
      <p:sp>
        <p:nvSpPr>
          <p:cNvPr id="3" name="Segnaposto data 2">
            <a:extLst>
              <a:ext uri="{FF2B5EF4-FFF2-40B4-BE49-F238E27FC236}">
                <a16:creationId xmlns:a16="http://schemas.microsoft.com/office/drawing/2014/main" id="{8CD04EC8-A71D-908E-F4D8-BC63EF1B30CF}"/>
              </a:ext>
            </a:extLst>
          </p:cNvPr>
          <p:cNvSpPr txBox="1">
            <a:spLocks noGrp="1"/>
          </p:cNvSpPr>
          <p:nvPr>
            <p:ph type="dt" idx="1"/>
          </p:nvPr>
        </p:nvSpPr>
        <p:spPr>
          <a:xfrm>
            <a:off x="3884608" y="0"/>
            <a:ext cx="2971800" cy="458791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anchor="t" anchorCtr="0" compatLnSpc="1">
            <a:noAutofit/>
          </a:bodyPr>
          <a:lstStyle>
            <a:lvl1pPr marL="0" marR="0" lvl="0" indent="0" algn="r" defTabSz="4572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lang="it-IT" sz="1200" b="0" i="0" u="none" strike="noStrike" kern="1200" cap="none" spc="0" baseline="0">
                <a:solidFill>
                  <a:srgbClr val="000000"/>
                </a:solidFill>
                <a:uFillTx/>
                <a:latin typeface="Aptos"/>
              </a:defRPr>
            </a:lvl1pPr>
          </a:lstStyle>
          <a:p>
            <a:pPr lvl="0"/>
            <a:fld id="{345BF391-7E6E-4620-98FD-023CDA366473}" type="datetime1">
              <a:rPr lang="it-IT"/>
              <a:pPr lvl="0"/>
              <a:t>12/07/2026</a:t>
            </a:fld>
            <a:endParaRPr lang="it-IT"/>
          </a:p>
        </p:txBody>
      </p:sp>
      <p:sp>
        <p:nvSpPr>
          <p:cNvPr id="4" name="Segnaposto immagine diapositiva 3">
            <a:extLst>
              <a:ext uri="{FF2B5EF4-FFF2-40B4-BE49-F238E27FC236}">
                <a16:creationId xmlns:a16="http://schemas.microsoft.com/office/drawing/2014/main" id="{DD8C2011-6F45-ABD3-A184-06D6BBFBC12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099"/>
          </a:xfrm>
          <a:prstGeom prst="rect">
            <a:avLst/>
          </a:prstGeom>
          <a:noFill/>
          <a:ln w="12701">
            <a:solidFill>
              <a:srgbClr val="000000"/>
            </a:solidFill>
            <a:prstDash val="solid"/>
          </a:ln>
        </p:spPr>
      </p:sp>
      <p:sp>
        <p:nvSpPr>
          <p:cNvPr id="5" name="Segnaposto note 4">
            <a:extLst>
              <a:ext uri="{FF2B5EF4-FFF2-40B4-BE49-F238E27FC236}">
                <a16:creationId xmlns:a16="http://schemas.microsoft.com/office/drawing/2014/main" id="{BF2C5360-EC2A-4BE4-B733-8F784911D019}"/>
              </a:ext>
            </a:extLst>
          </p:cNvPr>
          <p:cNvSpPr txBox="1">
            <a:spLocks noGrp="1"/>
          </p:cNvSpPr>
          <p:nvPr>
            <p:ph type="body" sz="quarter" idx="3"/>
          </p:nvPr>
        </p:nvSpPr>
        <p:spPr>
          <a:xfrm>
            <a:off x="685800" y="4400549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6" name="Segnaposto piè di pagina 5">
            <a:extLst>
              <a:ext uri="{FF2B5EF4-FFF2-40B4-BE49-F238E27FC236}">
                <a16:creationId xmlns:a16="http://schemas.microsoft.com/office/drawing/2014/main" id="{EADD83F7-AFD9-69C4-F4E7-E1159A3BFAF1}"/>
              </a:ext>
            </a:extLst>
          </p:cNvPr>
          <p:cNvSpPr txBox="1">
            <a:spLocks noGrp="1"/>
          </p:cNvSpPr>
          <p:nvPr>
            <p:ph type="ftr" sz="quarter" idx="4"/>
          </p:nvPr>
        </p:nvSpPr>
        <p:spPr>
          <a:xfrm>
            <a:off x="0" y="8685208"/>
            <a:ext cx="2971800" cy="458791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anchor="b" anchorCtr="0" compatLnSpc="1">
            <a:noAutofit/>
          </a:bodyPr>
          <a:lstStyle>
            <a:lvl1pPr marL="0" marR="0" lvl="0" indent="0" algn="l" defTabSz="4572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lang="it-IT" sz="1200" b="0" i="0" u="none" strike="noStrike" kern="1200" cap="none" spc="0" baseline="0">
                <a:solidFill>
                  <a:srgbClr val="000000"/>
                </a:solidFill>
                <a:uFillTx/>
                <a:latin typeface="Aptos"/>
              </a:defRPr>
            </a:lvl1pPr>
          </a:lstStyle>
          <a:p>
            <a:pPr lvl="0"/>
            <a:endParaRPr lang="it-IT"/>
          </a:p>
        </p:txBody>
      </p:sp>
      <p:sp>
        <p:nvSpPr>
          <p:cNvPr id="7" name="Segnaposto numero diapositiva 6">
            <a:extLst>
              <a:ext uri="{FF2B5EF4-FFF2-40B4-BE49-F238E27FC236}">
                <a16:creationId xmlns:a16="http://schemas.microsoft.com/office/drawing/2014/main" id="{20C107DE-6ED6-8E78-4F3B-D4AC4F9742C6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xfrm>
            <a:off x="3884608" y="8685208"/>
            <a:ext cx="2971800" cy="458791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anchor="b" anchorCtr="0" compatLnSpc="1">
            <a:noAutofit/>
          </a:bodyPr>
          <a:lstStyle>
            <a:lvl1pPr marL="0" marR="0" lvl="0" indent="0" algn="r" defTabSz="4572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lang="it-IT" sz="1200" b="0" i="0" u="none" strike="noStrike" kern="1200" cap="none" spc="0" baseline="0">
                <a:solidFill>
                  <a:srgbClr val="000000"/>
                </a:solidFill>
                <a:uFillTx/>
                <a:latin typeface="Aptos"/>
              </a:defRPr>
            </a:lvl1pPr>
          </a:lstStyle>
          <a:p>
            <a:pPr lvl="0"/>
            <a:fld id="{DF8E85A9-1D11-4CA2-93D1-7F51BDFAA9B0}" type="slidenum"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80234546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marR="0" lvl="0" indent="0" algn="l" defTabSz="914400" rtl="0" fontAlgn="auto" hangingPunct="1">
      <a:lnSpc>
        <a:spcPct val="100000"/>
      </a:lnSpc>
      <a:spcBef>
        <a:spcPts val="0"/>
      </a:spcBef>
      <a:spcAft>
        <a:spcPts val="0"/>
      </a:spcAft>
      <a:buNone/>
      <a:tabLst/>
      <a:defRPr lang="it-IT" sz="1200" b="0" i="0" u="none" strike="noStrike" kern="1200" cap="none" spc="0" baseline="0">
        <a:solidFill>
          <a:srgbClr val="000000"/>
        </a:solidFill>
        <a:uFillTx/>
        <a:latin typeface="Aptos"/>
      </a:defRPr>
    </a:lvl1pPr>
    <a:lvl2pPr marL="457200" marR="0" lvl="1" indent="0" algn="l" defTabSz="914400" rtl="0" fontAlgn="auto" hangingPunct="1">
      <a:lnSpc>
        <a:spcPct val="100000"/>
      </a:lnSpc>
      <a:spcBef>
        <a:spcPts val="0"/>
      </a:spcBef>
      <a:spcAft>
        <a:spcPts val="0"/>
      </a:spcAft>
      <a:buNone/>
      <a:tabLst/>
      <a:defRPr lang="it-IT" sz="1200" b="0" i="0" u="none" strike="noStrike" kern="1200" cap="none" spc="0" baseline="0">
        <a:solidFill>
          <a:srgbClr val="000000"/>
        </a:solidFill>
        <a:uFillTx/>
        <a:latin typeface="Aptos"/>
      </a:defRPr>
    </a:lvl2pPr>
    <a:lvl3pPr marL="914400" marR="0" lvl="2" indent="0" algn="l" defTabSz="914400" rtl="0" fontAlgn="auto" hangingPunct="1">
      <a:lnSpc>
        <a:spcPct val="100000"/>
      </a:lnSpc>
      <a:spcBef>
        <a:spcPts val="0"/>
      </a:spcBef>
      <a:spcAft>
        <a:spcPts val="0"/>
      </a:spcAft>
      <a:buNone/>
      <a:tabLst/>
      <a:defRPr lang="it-IT" sz="1200" b="0" i="0" u="none" strike="noStrike" kern="1200" cap="none" spc="0" baseline="0">
        <a:solidFill>
          <a:srgbClr val="000000"/>
        </a:solidFill>
        <a:uFillTx/>
        <a:latin typeface="Aptos"/>
      </a:defRPr>
    </a:lvl3pPr>
    <a:lvl4pPr marL="1371600" marR="0" lvl="3" indent="0" algn="l" defTabSz="914400" rtl="0" fontAlgn="auto" hangingPunct="1">
      <a:lnSpc>
        <a:spcPct val="100000"/>
      </a:lnSpc>
      <a:spcBef>
        <a:spcPts val="0"/>
      </a:spcBef>
      <a:spcAft>
        <a:spcPts val="0"/>
      </a:spcAft>
      <a:buNone/>
      <a:tabLst/>
      <a:defRPr lang="it-IT" sz="1200" b="0" i="0" u="none" strike="noStrike" kern="1200" cap="none" spc="0" baseline="0">
        <a:solidFill>
          <a:srgbClr val="000000"/>
        </a:solidFill>
        <a:uFillTx/>
        <a:latin typeface="Aptos"/>
      </a:defRPr>
    </a:lvl4pPr>
    <a:lvl5pPr marL="1828800" marR="0" lvl="4" indent="0" algn="l" defTabSz="914400" rtl="0" fontAlgn="auto" hangingPunct="1">
      <a:lnSpc>
        <a:spcPct val="100000"/>
      </a:lnSpc>
      <a:spcBef>
        <a:spcPts val="0"/>
      </a:spcBef>
      <a:spcAft>
        <a:spcPts val="0"/>
      </a:spcAft>
      <a:buNone/>
      <a:tabLst/>
      <a:defRPr lang="it-IT" sz="1200" b="0" i="0" u="none" strike="noStrike" kern="1200" cap="none" spc="0" baseline="0">
        <a:solidFill>
          <a:srgbClr val="000000"/>
        </a:solidFill>
        <a:uFillTx/>
        <a:latin typeface="Apto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>
            <a:extLst>
              <a:ext uri="{FF2B5EF4-FFF2-40B4-BE49-F238E27FC236}">
                <a16:creationId xmlns:a16="http://schemas.microsoft.com/office/drawing/2014/main" id="{0671C149-41E3-9E10-9DFC-41A88BF72E5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Segnaposto note 2">
            <a:extLst>
              <a:ext uri="{FF2B5EF4-FFF2-40B4-BE49-F238E27FC236}">
                <a16:creationId xmlns:a16="http://schemas.microsoft.com/office/drawing/2014/main" id="{34D6A1B5-99AB-D0AE-1D12-54639B7640ED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/>
        <p:txBody>
          <a:bodyPr/>
          <a:lstStyle/>
          <a:p>
            <a:endParaRPr lang="it-IT" dirty="0"/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74AC1C25-44FC-B1CC-4798-51949EA2E14B}"/>
              </a:ext>
            </a:extLst>
          </p:cNvPr>
          <p:cNvSpPr txBox="1"/>
          <p:nvPr/>
        </p:nvSpPr>
        <p:spPr>
          <a:xfrm>
            <a:off x="3884608" y="8685208"/>
            <a:ext cx="2971800" cy="458791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91440" tIns="45720" rIns="91440" bIns="45720" anchor="b" anchorCtr="0" compatLnSpc="1">
            <a:noAutofit/>
          </a:bodyPr>
          <a:lstStyle/>
          <a:p>
            <a:pPr marL="0" marR="0" lvl="0" indent="0" algn="r" defTabSz="4572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fld id="{6761E351-D3CA-45FD-BB1A-67D5D6C020F8}" type="slidenum">
              <a:t>3</a:t>
            </a:fld>
            <a:endParaRPr lang="it-IT" sz="1200" b="0" i="0" u="none" strike="noStrike" kern="1200" cap="none" spc="0" baseline="0" dirty="0">
              <a:solidFill>
                <a:srgbClr val="000000"/>
              </a:solidFill>
              <a:uFillTx/>
              <a:latin typeface="Aptos"/>
            </a:endParaRP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>
            <a:extLst>
              <a:ext uri="{FF2B5EF4-FFF2-40B4-BE49-F238E27FC236}">
                <a16:creationId xmlns:a16="http://schemas.microsoft.com/office/drawing/2014/main" id="{A4F33831-7FED-FB65-2E8D-1664B123CCD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Segnaposto note 2">
            <a:extLst>
              <a:ext uri="{FF2B5EF4-FFF2-40B4-BE49-F238E27FC236}">
                <a16:creationId xmlns:a16="http://schemas.microsoft.com/office/drawing/2014/main" id="{A0D96929-5236-3E5C-3E06-897DB3BD7701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/>
        <p:txBody>
          <a:bodyPr/>
          <a:lstStyle/>
          <a:p>
            <a:endParaRPr lang="it-IT" dirty="0"/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03407EAF-AFE8-C37D-3A31-579F9A4AFB71}"/>
              </a:ext>
            </a:extLst>
          </p:cNvPr>
          <p:cNvSpPr txBox="1"/>
          <p:nvPr/>
        </p:nvSpPr>
        <p:spPr>
          <a:xfrm>
            <a:off x="3884608" y="8685208"/>
            <a:ext cx="2971800" cy="458791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91440" tIns="45720" rIns="91440" bIns="45720" anchor="b" anchorCtr="0" compatLnSpc="1">
            <a:noAutofit/>
          </a:bodyPr>
          <a:lstStyle/>
          <a:p>
            <a:pPr marL="0" marR="0" lvl="0" indent="0" algn="r" defTabSz="4572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fld id="{90D8501A-DB08-4F3A-B64F-B6EE730CFE4E}" type="slidenum">
              <a:t>4</a:t>
            </a:fld>
            <a:endParaRPr lang="it-IT" sz="1200" b="0" i="0" u="none" strike="noStrike" kern="1200" cap="none" spc="0" baseline="0" dirty="0">
              <a:solidFill>
                <a:srgbClr val="000000"/>
              </a:solidFill>
              <a:uFillTx/>
              <a:latin typeface="Aptos"/>
            </a:endParaRP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Segnaposto not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it-IT" dirty="0"/>
          </a:p>
        </p:txBody>
      </p:sp>
      <p:sp>
        <p:nvSpPr>
          <p:cNvPr id="4" name="Segnaposto numero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lvl="0"/>
            <a:fld id="{DF8E85A9-1D11-4CA2-93D1-7F51BDFAA9B0}" type="slidenum">
              <a:rPr lang="it-IT" smtClean="0"/>
              <a:t>11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46130003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Segnaposto not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it-IT" dirty="0"/>
          </a:p>
        </p:txBody>
      </p:sp>
      <p:sp>
        <p:nvSpPr>
          <p:cNvPr id="4" name="Segnaposto numero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lvl="0"/>
            <a:fld id="{DF8E85A9-1D11-4CA2-93D1-7F51BDFAA9B0}" type="slidenum">
              <a:rPr lang="it-IT" smtClean="0"/>
              <a:t>15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15448674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Segnaposto not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it-IT" dirty="0"/>
          </a:p>
        </p:txBody>
      </p:sp>
      <p:sp>
        <p:nvSpPr>
          <p:cNvPr id="4" name="Segnaposto numero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lvl="0"/>
            <a:fld id="{DF8E85A9-1D11-4CA2-93D1-7F51BDFAA9B0}" type="slidenum">
              <a:rPr lang="it-IT" smtClean="0"/>
              <a:t>17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4033813584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Segnaposto not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it-IT" dirty="0"/>
          </a:p>
        </p:txBody>
      </p:sp>
      <p:sp>
        <p:nvSpPr>
          <p:cNvPr id="4" name="Segnaposto numero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lvl="0"/>
            <a:fld id="{DF8E85A9-1D11-4CA2-93D1-7F51BDFAA9B0}" type="slidenum">
              <a:rPr lang="it-IT" smtClean="0"/>
              <a:t>22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770748043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Segnaposto not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it-IT" dirty="0"/>
          </a:p>
        </p:txBody>
      </p:sp>
      <p:sp>
        <p:nvSpPr>
          <p:cNvPr id="4" name="Segnaposto numero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lvl="0"/>
            <a:fld id="{DF8E85A9-1D11-4CA2-93D1-7F51BDFAA9B0}" type="slidenum">
              <a:rPr lang="it-IT" smtClean="0"/>
              <a:t>27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4142480806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Segnaposto not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it-IT" dirty="0"/>
          </a:p>
        </p:txBody>
      </p:sp>
      <p:sp>
        <p:nvSpPr>
          <p:cNvPr id="4" name="Segnaposto numero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lvl="0"/>
            <a:fld id="{DF8E85A9-1D11-4CA2-93D1-7F51BDFAA9B0}" type="slidenum">
              <a:rPr lang="it-IT" smtClean="0"/>
              <a:t>28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69766436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F418E1E-A05F-5DD7-697E-A2191A10120B}"/>
              </a:ext>
            </a:extLst>
          </p:cNvPr>
          <p:cNvSpPr txBox="1">
            <a:spLocks noGrp="1"/>
          </p:cNvSpPr>
          <p:nvPr>
            <p:ph type="ctrTitle"/>
          </p:nvPr>
        </p:nvSpPr>
        <p:spPr>
          <a:xfrm>
            <a:off x="640080" y="1371600"/>
            <a:ext cx="6675120" cy="2951829"/>
          </a:xfrm>
        </p:spPr>
        <p:txBody>
          <a:bodyPr/>
          <a:lstStyle>
            <a:lvl1pPr>
              <a:defRPr sz="5400"/>
            </a:lvl1pPr>
          </a:lstStyle>
          <a:p>
            <a:pPr lvl="0"/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7F402F6-1E53-79FC-AA3E-EEF14FE4F51E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640080" y="4584874"/>
            <a:ext cx="6675120" cy="1287886"/>
          </a:xfrm>
        </p:spPr>
        <p:txBody>
          <a:bodyPr anchor="b"/>
          <a:lstStyle>
            <a:lvl1pPr marL="0" indent="0">
              <a:lnSpc>
                <a:spcPct val="130000"/>
              </a:lnSpc>
              <a:buNone/>
              <a:defRPr sz="1800" b="1" cap="all" spc="300"/>
            </a:lvl1pPr>
          </a:lstStyle>
          <a:p>
            <a:pPr lvl="0"/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EF2D3A4-39F3-6E5D-D982-D981481861D0}"/>
              </a:ext>
            </a:extLst>
          </p:cNvPr>
          <p:cNvSpPr txBox="1">
            <a:spLocks noGrp="1"/>
          </p:cNvSpPr>
          <p:nvPr>
            <p:ph type="dt" sz="half" idx="7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fld id="{BFCAB46A-6DD9-4F62-ABE0-FC90F728C7BD}" type="datetime1">
              <a:rPr lang="en-US"/>
              <a:pPr lvl="0"/>
              <a:t>7/12/2026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4C950B3-5D2B-4556-C9E3-62810B9A7FDF}"/>
              </a:ext>
            </a:extLst>
          </p:cNvPr>
          <p:cNvSpPr txBox="1">
            <a:spLocks noGrp="1"/>
          </p:cNvSpPr>
          <p:nvPr>
            <p:ph type="ftr" sz="quarter" idx="9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FE0FB4D-0FAF-0D88-8449-634264DF0805}"/>
              </a:ext>
            </a:extLst>
          </p:cNvPr>
          <p:cNvSpPr txBox="1">
            <a:spLocks noGrp="1"/>
          </p:cNvSpPr>
          <p:nvPr>
            <p:ph type="sldNum" sz="quarter" idx="8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fld id="{FCD1D701-E0DA-47E7-AE05-D4E81710CCC8}" type="slidenum"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62478952"/>
      </p:ext>
    </p:extLst>
  </p:cSld>
  <p:clrMapOvr>
    <a:masterClrMapping/>
  </p:clrMapOvr>
  <p:hf sldNum="0" hdr="0" ft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E97854-007B-F30C-587D-3208ACA4B7E6}"/>
              </a:ext>
            </a:extLst>
          </p:cNvPr>
          <p:cNvSpPr txBox="1"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611CE00-00A5-86FC-948B-FC2F569CA08A}"/>
              </a:ext>
            </a:extLst>
          </p:cNvPr>
          <p:cNvSpPr txBox="1">
            <a:spLocks noGrp="1"/>
          </p:cNvSpPr>
          <p:nvPr>
            <p:ph idx="1"/>
          </p:nvPr>
        </p:nvSpPr>
        <p:spPr/>
        <p:txBody>
          <a:bodyPr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2A68B19-6079-D1DA-CC5C-7B48D39D1813}"/>
              </a:ext>
            </a:extLst>
          </p:cNvPr>
          <p:cNvSpPr txBox="1">
            <a:spLocks noGrp="1"/>
          </p:cNvSpPr>
          <p:nvPr>
            <p:ph type="dt" sz="half" idx="7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fld id="{B0B338F0-B854-43AE-9608-61F80A23B07E}" type="datetime1">
              <a:rPr lang="en-US"/>
              <a:pPr lvl="0"/>
              <a:t>7/12/2026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9254788-D612-8CED-4B8B-F3DC15B91136}"/>
              </a:ext>
            </a:extLst>
          </p:cNvPr>
          <p:cNvSpPr txBox="1">
            <a:spLocks noGrp="1"/>
          </p:cNvSpPr>
          <p:nvPr>
            <p:ph type="ftr" sz="quarter" idx="9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CC0EF10-05C0-1527-A71D-C4015F6C8CE7}"/>
              </a:ext>
            </a:extLst>
          </p:cNvPr>
          <p:cNvSpPr txBox="1">
            <a:spLocks noGrp="1"/>
          </p:cNvSpPr>
          <p:nvPr>
            <p:ph type="sldNum" sz="quarter" idx="8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fld id="{36DD340A-BED0-4C8D-ADCE-4D8330FA3318}" type="slidenum"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902140"/>
      </p:ext>
    </p:extLst>
  </p:cSld>
  <p:clrMapOvr>
    <a:masterClrMapping/>
  </p:clrMapOvr>
  <p:hf sldNum="0" hdr="0" ft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7">
            <a:extLst>
              <a:ext uri="{FF2B5EF4-FFF2-40B4-BE49-F238E27FC236}">
                <a16:creationId xmlns:a16="http://schemas.microsoft.com/office/drawing/2014/main" id="{AF2E2230-E277-4A56-A5B8-1864A161682D}"/>
              </a:ext>
            </a:extLst>
          </p:cNvPr>
          <p:cNvSpPr/>
          <p:nvPr/>
        </p:nvSpPr>
        <p:spPr>
          <a:xfrm>
            <a:off x="0" y="0"/>
            <a:ext cx="12191996" cy="6858000"/>
          </a:xfrm>
          <a:prstGeom prst="rect">
            <a:avLst/>
          </a:prstGeom>
          <a:solidFill>
            <a:srgbClr val="FFFFFF"/>
          </a:solidFill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4572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US" sz="1800" b="0" i="0" u="none" strike="noStrike" kern="1200" cap="none" spc="0" baseline="0">
              <a:solidFill>
                <a:srgbClr val="FFFFFF"/>
              </a:solidFill>
              <a:uFillTx/>
              <a:latin typeface="Grandview Display"/>
            </a:endParaRPr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7FF755F9-1EAC-67F2-7318-30ACBA82BE77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40080" y="1291370"/>
            <a:ext cx="9214884" cy="3159974"/>
          </a:xfrm>
        </p:spPr>
        <p:txBody>
          <a:bodyPr anchor="b"/>
          <a:lstStyle>
            <a:lvl1pPr>
              <a:defRPr sz="5400"/>
            </a:lvl1pPr>
          </a:lstStyle>
          <a:p>
            <a:pPr lvl="0"/>
            <a:r>
              <a:rPr lang="en-US"/>
              <a:t>Click to edit Master title style</a:t>
            </a:r>
          </a:p>
        </p:txBody>
      </p:sp>
      <p:sp>
        <p:nvSpPr>
          <p:cNvPr id="4" name="Text Placeholder 2">
            <a:extLst>
              <a:ext uri="{FF2B5EF4-FFF2-40B4-BE49-F238E27FC236}">
                <a16:creationId xmlns:a16="http://schemas.microsoft.com/office/drawing/2014/main" id="{CC85201F-8730-1EB2-5957-4AE41A58FD7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40080" y="5018565"/>
            <a:ext cx="7907081" cy="1073889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3">
            <a:extLst>
              <a:ext uri="{FF2B5EF4-FFF2-40B4-BE49-F238E27FC236}">
                <a16:creationId xmlns:a16="http://schemas.microsoft.com/office/drawing/2014/main" id="{77A72495-7A31-FB4E-70FF-35120905D09F}"/>
              </a:ext>
            </a:extLst>
          </p:cNvPr>
          <p:cNvSpPr txBox="1">
            <a:spLocks noGrp="1"/>
          </p:cNvSpPr>
          <p:nvPr>
            <p:ph type="dt" sz="half" idx="7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fld id="{B093E276-F7A9-4844-8194-3164C7EFB60D}" type="datetime1">
              <a:rPr lang="en-US"/>
              <a:pPr lvl="0"/>
              <a:t>7/12/2026</a:t>
            </a:fld>
            <a:endParaRPr lang="en-US"/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4ADCB569-0602-BA13-F47C-882939EDE7F0}"/>
              </a:ext>
            </a:extLst>
          </p:cNvPr>
          <p:cNvSpPr txBox="1">
            <a:spLocks noGrp="1"/>
          </p:cNvSpPr>
          <p:nvPr>
            <p:ph type="ftr" sz="quarter" idx="9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endParaRPr lang="en-US"/>
          </a:p>
        </p:txBody>
      </p: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FD3C7C61-A96A-4F50-B7D4-0F71149543B5}"/>
              </a:ext>
            </a:extLst>
          </p:cNvPr>
          <p:cNvSpPr txBox="1">
            <a:spLocks noGrp="1"/>
          </p:cNvSpPr>
          <p:nvPr>
            <p:ph type="sldNum" sz="quarter" idx="8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fld id="{6C596049-FA60-4EA9-BEE1-079A3F4065C5}" type="slidenum">
              <a:t>‹N›</a:t>
            </a:fld>
            <a:endParaRPr lang="en-US"/>
          </a:p>
        </p:txBody>
      </p:sp>
      <p:cxnSp>
        <p:nvCxnSpPr>
          <p:cNvPr id="8" name="Straight Connector 6">
            <a:extLst>
              <a:ext uri="{FF2B5EF4-FFF2-40B4-BE49-F238E27FC236}">
                <a16:creationId xmlns:a16="http://schemas.microsoft.com/office/drawing/2014/main" id="{A14CEA97-11DB-E232-375E-B9506404D1D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/>
          <p:nvPr/>
        </p:nvCxnSpPr>
        <p:spPr>
          <a:xfrm>
            <a:off x="716276" y="4715231"/>
            <a:ext cx="978866" cy="0"/>
          </a:xfrm>
          <a:prstGeom prst="straightConnector1">
            <a:avLst/>
          </a:prstGeom>
          <a:noFill/>
          <a:ln w="76196" cap="flat">
            <a:solidFill>
              <a:srgbClr val="1973EB"/>
            </a:solidFill>
            <a:prstDash val="solid"/>
            <a:miter/>
          </a:ln>
        </p:spPr>
      </p:cxnSp>
    </p:spTree>
    <p:extLst>
      <p:ext uri="{BB962C8B-B14F-4D97-AF65-F5344CB8AC3E}">
        <p14:creationId xmlns:p14="http://schemas.microsoft.com/office/powerpoint/2010/main" val="389354333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B218D4-DB96-DEB6-99D7-8A9947E0B522}"/>
              </a:ext>
            </a:extLst>
          </p:cNvPr>
          <p:cNvSpPr txBox="1"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89E91BB-E403-6EB0-FF50-BE2517C6DC1E}"/>
              </a:ext>
            </a:extLst>
          </p:cNvPr>
          <p:cNvSpPr txBox="1">
            <a:spLocks noGrp="1"/>
          </p:cNvSpPr>
          <p:nvPr>
            <p:ph idx="1"/>
          </p:nvPr>
        </p:nvSpPr>
        <p:spPr>
          <a:xfrm>
            <a:off x="640080" y="2633472"/>
            <a:ext cx="5212080" cy="3566160"/>
          </a:xfrm>
        </p:spPr>
        <p:txBody>
          <a:bodyPr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E924F30-953C-BB1B-2923-ED493A0F227B}"/>
              </a:ext>
            </a:extLst>
          </p:cNvPr>
          <p:cNvSpPr txBox="1">
            <a:spLocks noGrp="1"/>
          </p:cNvSpPr>
          <p:nvPr>
            <p:ph idx="2"/>
          </p:nvPr>
        </p:nvSpPr>
        <p:spPr>
          <a:xfrm>
            <a:off x="6318924" y="2633472"/>
            <a:ext cx="5212080" cy="3566160"/>
          </a:xfrm>
        </p:spPr>
        <p:txBody>
          <a:bodyPr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36E9E5F-E380-D58B-19A5-4A2AF1A7B9D4}"/>
              </a:ext>
            </a:extLst>
          </p:cNvPr>
          <p:cNvSpPr txBox="1">
            <a:spLocks noGrp="1"/>
          </p:cNvSpPr>
          <p:nvPr>
            <p:ph type="dt" sz="half" idx="7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fld id="{D4EB2D0A-4E10-4794-ADEA-97748A83AB24}" type="datetime1">
              <a:rPr lang="en-US"/>
              <a:pPr lvl="0"/>
              <a:t>7/12/2026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7F62D3E-A740-5D35-D228-7D60A31E65AC}"/>
              </a:ext>
            </a:extLst>
          </p:cNvPr>
          <p:cNvSpPr txBox="1">
            <a:spLocks noGrp="1"/>
          </p:cNvSpPr>
          <p:nvPr>
            <p:ph type="ftr" sz="quarter" idx="9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04E94B3-E737-4429-18B8-DC47B2540D6D}"/>
              </a:ext>
            </a:extLst>
          </p:cNvPr>
          <p:cNvSpPr txBox="1">
            <a:spLocks noGrp="1"/>
          </p:cNvSpPr>
          <p:nvPr>
            <p:ph type="sldNum" sz="quarter" idx="8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fld id="{9BE14826-9D53-4503-B7BA-9E905D98A6A9}" type="slidenum"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9253418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4FAD44E-AC61-408C-FE32-FF0FFB62049C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40080" y="1371600"/>
            <a:ext cx="10890924" cy="939756"/>
          </a:xfrm>
        </p:spPr>
        <p:txBody>
          <a:bodyPr/>
          <a:lstStyle>
            <a:lvl1pPr>
              <a:defRPr/>
            </a:lvl1pPr>
          </a:lstStyle>
          <a:p>
            <a:pPr lvl="0"/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2E54060-7042-A891-855A-674324F0DBD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40080" y="2311356"/>
            <a:ext cx="5212080" cy="695373"/>
          </a:xfrm>
        </p:spPr>
        <p:txBody>
          <a:bodyPr anchor="b"/>
          <a:lstStyle>
            <a:lvl1pPr marL="0" indent="0">
              <a:buNone/>
              <a:defRPr sz="1800" b="1" cap="all" spc="3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98A0C96-3FC1-E36F-23A0-9D210754DE92}"/>
              </a:ext>
            </a:extLst>
          </p:cNvPr>
          <p:cNvSpPr txBox="1">
            <a:spLocks noGrp="1"/>
          </p:cNvSpPr>
          <p:nvPr>
            <p:ph idx="2"/>
          </p:nvPr>
        </p:nvSpPr>
        <p:spPr>
          <a:xfrm>
            <a:off x="640080" y="3006720"/>
            <a:ext cx="5212080" cy="3191256"/>
          </a:xfrm>
        </p:spPr>
        <p:txBody>
          <a:bodyPr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C948FD6-4CAE-C640-8862-019A18216417}"/>
              </a:ext>
            </a:extLst>
          </p:cNvPr>
          <p:cNvSpPr txBox="1">
            <a:spLocks noGrp="1"/>
          </p:cNvSpPr>
          <p:nvPr>
            <p:ph type="body" idx="3"/>
          </p:nvPr>
        </p:nvSpPr>
        <p:spPr>
          <a:xfrm>
            <a:off x="6318924" y="2311356"/>
            <a:ext cx="5212080" cy="695373"/>
          </a:xfrm>
        </p:spPr>
        <p:txBody>
          <a:bodyPr anchor="b"/>
          <a:lstStyle>
            <a:lvl1pPr marL="0" indent="0">
              <a:buNone/>
              <a:defRPr sz="1800" b="1" cap="all" spc="3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6FA119D-E12F-8859-CD2A-1BBDED9A2D55}"/>
              </a:ext>
            </a:extLst>
          </p:cNvPr>
          <p:cNvSpPr txBox="1">
            <a:spLocks noGrp="1"/>
          </p:cNvSpPr>
          <p:nvPr>
            <p:ph idx="4"/>
          </p:nvPr>
        </p:nvSpPr>
        <p:spPr>
          <a:xfrm>
            <a:off x="6318924" y="3006720"/>
            <a:ext cx="5212080" cy="3191256"/>
          </a:xfrm>
        </p:spPr>
        <p:txBody>
          <a:bodyPr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EC52FB1C-948E-16FC-30C6-321D5A86C1EC}"/>
              </a:ext>
            </a:extLst>
          </p:cNvPr>
          <p:cNvSpPr txBox="1">
            <a:spLocks noGrp="1"/>
          </p:cNvSpPr>
          <p:nvPr>
            <p:ph type="dt" sz="half" idx="7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fld id="{6A0503B2-A64A-4185-816F-E5138D67B637}" type="datetime1">
              <a:rPr lang="en-US"/>
              <a:pPr lvl="0"/>
              <a:t>7/12/2026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5B8B6FBF-CC0D-5AD6-C5D7-E2EFAD48F4E7}"/>
              </a:ext>
            </a:extLst>
          </p:cNvPr>
          <p:cNvSpPr txBox="1">
            <a:spLocks noGrp="1"/>
          </p:cNvSpPr>
          <p:nvPr>
            <p:ph type="ftr" sz="quarter" idx="9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7133E7E9-23F4-1C80-C96F-43D998A6B673}"/>
              </a:ext>
            </a:extLst>
          </p:cNvPr>
          <p:cNvSpPr txBox="1">
            <a:spLocks noGrp="1"/>
          </p:cNvSpPr>
          <p:nvPr>
            <p:ph type="sldNum" sz="quarter" idx="8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fld id="{2ADB242E-E84B-412B-A59A-955B9853A614}" type="slidenum"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594974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7FD9474-98C0-50CE-71B1-C878FADA3DED}"/>
              </a:ext>
            </a:extLst>
          </p:cNvPr>
          <p:cNvSpPr txBox="1"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AA660EB5-2FB0-B130-DB15-6840F4DF4C27}"/>
              </a:ext>
            </a:extLst>
          </p:cNvPr>
          <p:cNvSpPr txBox="1">
            <a:spLocks noGrp="1"/>
          </p:cNvSpPr>
          <p:nvPr>
            <p:ph type="dt" sz="half" idx="7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fld id="{C5BFD29E-4622-48D4-BC35-30ADB7E99029}" type="datetime1">
              <a:rPr lang="en-US"/>
              <a:pPr lvl="0"/>
              <a:t>7/12/2026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A9C2154-04FA-855A-0AD4-24E648A51924}"/>
              </a:ext>
            </a:extLst>
          </p:cNvPr>
          <p:cNvSpPr txBox="1">
            <a:spLocks noGrp="1"/>
          </p:cNvSpPr>
          <p:nvPr>
            <p:ph type="ftr" sz="quarter" idx="9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60B824F-23E2-520A-DE54-7401E4DE556D}"/>
              </a:ext>
            </a:extLst>
          </p:cNvPr>
          <p:cNvSpPr txBox="1">
            <a:spLocks noGrp="1"/>
          </p:cNvSpPr>
          <p:nvPr>
            <p:ph type="sldNum" sz="quarter" idx="8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fld id="{8F53DF92-02FB-4AD2-8B20-13FAE105E26A}" type="slidenum"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418379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4">
            <a:extLst>
              <a:ext uri="{FF2B5EF4-FFF2-40B4-BE49-F238E27FC236}">
                <a16:creationId xmlns:a16="http://schemas.microsoft.com/office/drawing/2014/main" id="{553B90D2-AFAF-0DBB-706C-7769C770398A}"/>
              </a:ext>
            </a:extLst>
          </p:cNvPr>
          <p:cNvSpPr/>
          <p:nvPr/>
        </p:nvSpPr>
        <p:spPr>
          <a:xfrm>
            <a:off x="0" y="0"/>
            <a:ext cx="12191996" cy="6858000"/>
          </a:xfrm>
          <a:prstGeom prst="rect">
            <a:avLst/>
          </a:prstGeom>
          <a:solidFill>
            <a:srgbClr val="FFFFFF"/>
          </a:solidFill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4572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US" sz="1800" b="0" i="0" u="none" strike="noStrike" kern="1200" cap="none" spc="0" baseline="0">
              <a:solidFill>
                <a:srgbClr val="FFFFFF"/>
              </a:solidFill>
              <a:uFillTx/>
              <a:latin typeface="Grandview Display"/>
            </a:endParaRPr>
          </a:p>
        </p:txBody>
      </p:sp>
      <p:sp>
        <p:nvSpPr>
          <p:cNvPr id="3" name="Date Placeholder 1">
            <a:extLst>
              <a:ext uri="{FF2B5EF4-FFF2-40B4-BE49-F238E27FC236}">
                <a16:creationId xmlns:a16="http://schemas.microsoft.com/office/drawing/2014/main" id="{EE0256B8-E41F-1B65-99E2-0C2D9E0CDC71}"/>
              </a:ext>
            </a:extLst>
          </p:cNvPr>
          <p:cNvSpPr txBox="1">
            <a:spLocks noGrp="1"/>
          </p:cNvSpPr>
          <p:nvPr>
            <p:ph type="dt" sz="half" idx="7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fld id="{7668017F-0127-4BE8-A92F-7CA6D920EA84}" type="datetime1">
              <a:rPr lang="en-US"/>
              <a:pPr lvl="0"/>
              <a:t>7/12/2026</a:t>
            </a:fld>
            <a:endParaRPr lang="en-US"/>
          </a:p>
        </p:txBody>
      </p:sp>
      <p:sp>
        <p:nvSpPr>
          <p:cNvPr id="4" name="Footer Placeholder 2">
            <a:extLst>
              <a:ext uri="{FF2B5EF4-FFF2-40B4-BE49-F238E27FC236}">
                <a16:creationId xmlns:a16="http://schemas.microsoft.com/office/drawing/2014/main" id="{46133EF3-8209-509B-B1A9-A00F958AB5B3}"/>
              </a:ext>
            </a:extLst>
          </p:cNvPr>
          <p:cNvSpPr txBox="1">
            <a:spLocks noGrp="1"/>
          </p:cNvSpPr>
          <p:nvPr>
            <p:ph type="ftr" sz="quarter" idx="9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endParaRPr lang="en-US"/>
          </a:p>
        </p:txBody>
      </p:sp>
      <p:sp>
        <p:nvSpPr>
          <p:cNvPr id="5" name="Slide Number Placeholder 3">
            <a:extLst>
              <a:ext uri="{FF2B5EF4-FFF2-40B4-BE49-F238E27FC236}">
                <a16:creationId xmlns:a16="http://schemas.microsoft.com/office/drawing/2014/main" id="{F493F70F-F350-558E-D486-087255FC9BD6}"/>
              </a:ext>
            </a:extLst>
          </p:cNvPr>
          <p:cNvSpPr txBox="1">
            <a:spLocks noGrp="1"/>
          </p:cNvSpPr>
          <p:nvPr>
            <p:ph type="sldNum" sz="quarter" idx="8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fld id="{A3DB8B9F-35C5-4A68-BDA4-6A6668A28501}" type="slidenum"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1422631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EA4AEE-0D14-3A7E-9914-CCFC362BEC33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40080" y="1371600"/>
            <a:ext cx="3859398" cy="1451719"/>
          </a:xfrm>
        </p:spPr>
        <p:txBody>
          <a:bodyPr/>
          <a:lstStyle>
            <a:lvl1pPr>
              <a:defRPr sz="3600"/>
            </a:lvl1pPr>
          </a:lstStyle>
          <a:p>
            <a:pPr lvl="0"/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D56F8D6-56D9-948D-E4D7-2F93513F80AE}"/>
              </a:ext>
            </a:extLst>
          </p:cNvPr>
          <p:cNvSpPr txBox="1">
            <a:spLocks noGrp="1"/>
          </p:cNvSpPr>
          <p:nvPr>
            <p:ph idx="1"/>
          </p:nvPr>
        </p:nvSpPr>
        <p:spPr>
          <a:xfrm>
            <a:off x="4936516" y="1031004"/>
            <a:ext cx="6594488" cy="5166359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CDCEFEB-0B24-F688-B37D-AF6AD362C167}"/>
              </a:ext>
            </a:extLst>
          </p:cNvPr>
          <p:cNvSpPr txBox="1">
            <a:spLocks noGrp="1"/>
          </p:cNvSpPr>
          <p:nvPr>
            <p:ph type="body" idx="2"/>
          </p:nvPr>
        </p:nvSpPr>
        <p:spPr>
          <a:xfrm>
            <a:off x="640080" y="2972165"/>
            <a:ext cx="3859398" cy="3226826"/>
          </a:xfrm>
        </p:spPr>
        <p:txBody>
          <a:bodyPr/>
          <a:lstStyle>
            <a:lvl1pPr marL="0" indent="0">
              <a:buNone/>
              <a:defRPr sz="16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393F7E0-B488-10BC-07DB-FEDF669270B6}"/>
              </a:ext>
            </a:extLst>
          </p:cNvPr>
          <p:cNvSpPr txBox="1">
            <a:spLocks noGrp="1"/>
          </p:cNvSpPr>
          <p:nvPr>
            <p:ph type="dt" sz="half" idx="7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fld id="{3AC66ADE-EAF2-4E0D-AB93-F35B2645C19A}" type="datetime1">
              <a:rPr lang="en-US"/>
              <a:pPr lvl="0"/>
              <a:t>7/12/2026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7A8425B-1411-4F78-D92F-44C0C9A95FF5}"/>
              </a:ext>
            </a:extLst>
          </p:cNvPr>
          <p:cNvSpPr txBox="1">
            <a:spLocks noGrp="1"/>
          </p:cNvSpPr>
          <p:nvPr>
            <p:ph type="ftr" sz="quarter" idx="9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9C228D5-B3F9-3D93-C887-6611498C8B40}"/>
              </a:ext>
            </a:extLst>
          </p:cNvPr>
          <p:cNvSpPr txBox="1">
            <a:spLocks noGrp="1"/>
          </p:cNvSpPr>
          <p:nvPr>
            <p:ph type="sldNum" sz="quarter" idx="8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fld id="{5637991E-FB36-4A7B-A351-D9504B9B2D26}" type="slidenum"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3997720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7DEE4F1-F802-0F8D-8289-C175016D171B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40080" y="1371600"/>
            <a:ext cx="3859398" cy="1451719"/>
          </a:xfrm>
        </p:spPr>
        <p:txBody>
          <a:bodyPr/>
          <a:lstStyle>
            <a:lvl1pPr>
              <a:defRPr sz="3600"/>
            </a:lvl1pPr>
          </a:lstStyle>
          <a:p>
            <a:pPr lvl="0"/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A85D0501-4C57-BE47-FE07-5CDCEDDC4D2D}"/>
              </a:ext>
            </a:extLst>
          </p:cNvPr>
          <p:cNvSpPr txBox="1">
            <a:spLocks noGrp="1"/>
          </p:cNvSpPr>
          <p:nvPr>
            <p:ph type="pic" idx="1"/>
          </p:nvPr>
        </p:nvSpPr>
        <p:spPr>
          <a:xfrm>
            <a:off x="4937760" y="1033272"/>
            <a:ext cx="6592824" cy="5166359"/>
          </a:xfrm>
        </p:spPr>
        <p:txBody>
          <a:bodyPr/>
          <a:lstStyle>
            <a:lvl1pPr marL="0" indent="0">
              <a:buNone/>
              <a:defRPr sz="3200"/>
            </a:lvl1pPr>
          </a:lstStyle>
          <a:p>
            <a:pPr lvl="0"/>
            <a:r>
              <a:rPr lang="en-US"/>
              <a:t>Click icon to add picture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F1A70F4-0655-AC1A-5F68-6926FF51AA76}"/>
              </a:ext>
            </a:extLst>
          </p:cNvPr>
          <p:cNvSpPr txBox="1">
            <a:spLocks noGrp="1"/>
          </p:cNvSpPr>
          <p:nvPr>
            <p:ph type="body" idx="2"/>
          </p:nvPr>
        </p:nvSpPr>
        <p:spPr>
          <a:xfrm>
            <a:off x="640080" y="2972165"/>
            <a:ext cx="3859398" cy="3226826"/>
          </a:xfrm>
        </p:spPr>
        <p:txBody>
          <a:bodyPr/>
          <a:lstStyle>
            <a:lvl1pPr marL="0" indent="0">
              <a:buNone/>
              <a:defRPr sz="16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0B67DFF-DF0C-DE7C-D9BD-9D52BCEC98A2}"/>
              </a:ext>
            </a:extLst>
          </p:cNvPr>
          <p:cNvSpPr txBox="1">
            <a:spLocks noGrp="1"/>
          </p:cNvSpPr>
          <p:nvPr>
            <p:ph type="dt" sz="half" idx="7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fld id="{959BCB41-B51A-4811-BCAB-ED3D313D0567}" type="datetime1">
              <a:rPr lang="en-US"/>
              <a:pPr lvl="0"/>
              <a:t>7/12/2026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6B701FD-7512-7B89-6688-82AB4E8C3E87}"/>
              </a:ext>
            </a:extLst>
          </p:cNvPr>
          <p:cNvSpPr txBox="1">
            <a:spLocks noGrp="1"/>
          </p:cNvSpPr>
          <p:nvPr>
            <p:ph type="ftr" sz="quarter" idx="9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C1661D5-0F37-0188-A43E-84537491E487}"/>
              </a:ext>
            </a:extLst>
          </p:cNvPr>
          <p:cNvSpPr txBox="1">
            <a:spLocks noGrp="1"/>
          </p:cNvSpPr>
          <p:nvPr>
            <p:ph type="sldNum" sz="quarter" idx="8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fld id="{C8185BC8-9663-4640-8F71-4543BC393B00}" type="slidenum"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561266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B3756D-F3B5-748C-0939-AC922EC853DD}"/>
              </a:ext>
            </a:extLst>
          </p:cNvPr>
          <p:cNvSpPr txBox="1"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8A7E810-1537-D698-1299-4DEF8A4BB7FB}"/>
              </a:ext>
            </a:extLst>
          </p:cNvPr>
          <p:cNvSpPr txBox="1">
            <a:spLocks noGrp="1"/>
          </p:cNvSpPr>
          <p:nvPr>
            <p:ph type="body" orient="vert" idx="1"/>
          </p:nvPr>
        </p:nvSpPr>
        <p:spPr/>
        <p:txBody>
          <a:bodyPr vert="eaVert"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89DCAA9-A411-81D6-A62E-0D13FC8C748C}"/>
              </a:ext>
            </a:extLst>
          </p:cNvPr>
          <p:cNvSpPr txBox="1">
            <a:spLocks noGrp="1"/>
          </p:cNvSpPr>
          <p:nvPr>
            <p:ph type="dt" sz="half" idx="7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fld id="{D2A8780D-DC3D-49DD-80BA-AF37FC030400}" type="datetime1">
              <a:rPr lang="en-US"/>
              <a:pPr lvl="0"/>
              <a:t>7/12/2026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B3263A3-9FB6-9A75-B2AC-AA53E4D6A155}"/>
              </a:ext>
            </a:extLst>
          </p:cNvPr>
          <p:cNvSpPr txBox="1">
            <a:spLocks noGrp="1"/>
          </p:cNvSpPr>
          <p:nvPr>
            <p:ph type="ftr" sz="quarter" idx="9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04A6464-9F98-1B21-2101-534E86595EEF}"/>
              </a:ext>
            </a:extLst>
          </p:cNvPr>
          <p:cNvSpPr txBox="1">
            <a:spLocks noGrp="1"/>
          </p:cNvSpPr>
          <p:nvPr>
            <p:ph type="sldNum" sz="quarter" idx="8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fld id="{6D984466-FA15-43CB-AE6D-4D69DDB631C5}" type="slidenum"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6655888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9">
            <a:extLst>
              <a:ext uri="{FF2B5EF4-FFF2-40B4-BE49-F238E27FC236}">
                <a16:creationId xmlns:a16="http://schemas.microsoft.com/office/drawing/2014/main" id="{77266678-F30E-07F2-920F-53D76500685A}"/>
              </a:ext>
            </a:extLst>
          </p:cNvPr>
          <p:cNvSpPr/>
          <p:nvPr/>
        </p:nvSpPr>
        <p:spPr>
          <a:xfrm>
            <a:off x="0" y="0"/>
            <a:ext cx="12191996" cy="6858000"/>
          </a:xfrm>
          <a:prstGeom prst="rect">
            <a:avLst/>
          </a:prstGeom>
          <a:solidFill>
            <a:srgbClr val="FFFFFF"/>
          </a:solidFill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4572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US" sz="1800" b="0" i="0" u="none" strike="noStrike" kern="1200" cap="none" spc="0" baseline="0">
              <a:solidFill>
                <a:srgbClr val="FFFFFF"/>
              </a:solidFill>
              <a:uFillTx/>
              <a:latin typeface="Grandview Display"/>
            </a:endParaRPr>
          </a:p>
        </p:txBody>
      </p:sp>
      <p:sp>
        <p:nvSpPr>
          <p:cNvPr id="3" name="Vertical Title 1">
            <a:extLst>
              <a:ext uri="{FF2B5EF4-FFF2-40B4-BE49-F238E27FC236}">
                <a16:creationId xmlns:a16="http://schemas.microsoft.com/office/drawing/2014/main" id="{18036DFE-53E7-70C8-4896-C95BD26EB844}"/>
              </a:ext>
            </a:extLst>
          </p:cNvPr>
          <p:cNvSpPr txBox="1">
            <a:spLocks noGrp="1"/>
          </p:cNvSpPr>
          <p:nvPr>
            <p:ph type="title" orient="vert"/>
          </p:nvPr>
        </p:nvSpPr>
        <p:spPr>
          <a:xfrm>
            <a:off x="9209215" y="640080"/>
            <a:ext cx="1811773" cy="5536884"/>
          </a:xfrm>
        </p:spPr>
        <p:txBody>
          <a:bodyPr vert="eaVert"/>
          <a:lstStyle>
            <a:lvl1pPr>
              <a:defRPr/>
            </a:lvl1pPr>
          </a:lstStyle>
          <a:p>
            <a:pPr lvl="0"/>
            <a:r>
              <a:rPr lang="en-US"/>
              <a:t>Click to edit Master title style</a:t>
            </a:r>
          </a:p>
        </p:txBody>
      </p:sp>
      <p:sp>
        <p:nvSpPr>
          <p:cNvPr id="4" name="Vertical Text Placeholder 2">
            <a:extLst>
              <a:ext uri="{FF2B5EF4-FFF2-40B4-BE49-F238E27FC236}">
                <a16:creationId xmlns:a16="http://schemas.microsoft.com/office/drawing/2014/main" id="{5F95A118-A0E7-D4D2-8182-A56ED99E59AF}"/>
              </a:ext>
            </a:extLst>
          </p:cNvPr>
          <p:cNvSpPr txBox="1">
            <a:spLocks noGrp="1"/>
          </p:cNvSpPr>
          <p:nvPr>
            <p:ph type="body" orient="vert" idx="1"/>
          </p:nvPr>
        </p:nvSpPr>
        <p:spPr>
          <a:xfrm>
            <a:off x="640080" y="640080"/>
            <a:ext cx="8412425" cy="5536884"/>
          </a:xfrm>
        </p:spPr>
        <p:txBody>
          <a:bodyPr vert="eaVert"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3">
            <a:extLst>
              <a:ext uri="{FF2B5EF4-FFF2-40B4-BE49-F238E27FC236}">
                <a16:creationId xmlns:a16="http://schemas.microsoft.com/office/drawing/2014/main" id="{387EE4BD-BBF9-1436-990D-2217A3020B13}"/>
              </a:ext>
            </a:extLst>
          </p:cNvPr>
          <p:cNvSpPr txBox="1">
            <a:spLocks noGrp="1"/>
          </p:cNvSpPr>
          <p:nvPr>
            <p:ph type="dt" sz="half" idx="7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fld id="{864CF83D-396D-4087-A7AC-2608151ECF00}" type="datetime1">
              <a:rPr lang="en-US"/>
              <a:pPr lvl="0"/>
              <a:t>7/12/2026</a:t>
            </a:fld>
            <a:endParaRPr lang="en-US"/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8E849338-C2D6-8407-8E4E-D691CE6F2C7E}"/>
              </a:ext>
            </a:extLst>
          </p:cNvPr>
          <p:cNvSpPr txBox="1">
            <a:spLocks noGrp="1"/>
          </p:cNvSpPr>
          <p:nvPr>
            <p:ph type="ftr" sz="quarter" idx="9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endParaRPr lang="en-US"/>
          </a:p>
        </p:txBody>
      </p: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E79BBB22-08A0-22BE-D0D1-F62C34856ADC}"/>
              </a:ext>
            </a:extLst>
          </p:cNvPr>
          <p:cNvSpPr txBox="1">
            <a:spLocks noGrp="1"/>
          </p:cNvSpPr>
          <p:nvPr>
            <p:ph type="sldNum" sz="quarter" idx="8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fld id="{55351D8B-7ADE-4FC0-99A7-58577B95DC9C}" type="slidenum">
              <a:t>‹N›</a:t>
            </a:fld>
            <a:endParaRPr lang="en-US"/>
          </a:p>
        </p:txBody>
      </p:sp>
      <p:cxnSp>
        <p:nvCxnSpPr>
          <p:cNvPr id="8" name="Straight Connector 6">
            <a:extLst>
              <a:ext uri="{FF2B5EF4-FFF2-40B4-BE49-F238E27FC236}">
                <a16:creationId xmlns:a16="http://schemas.microsoft.com/office/drawing/2014/main" id="{A87DA102-F641-EB77-9948-8ADA4644D66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/>
          <p:nvPr/>
        </p:nvCxnSpPr>
        <p:spPr>
          <a:xfrm rot="5400013">
            <a:off x="10872151" y="1192441"/>
            <a:ext cx="978866" cy="0"/>
          </a:xfrm>
          <a:prstGeom prst="straightConnector1">
            <a:avLst/>
          </a:prstGeom>
          <a:noFill/>
          <a:ln w="76196" cap="flat">
            <a:solidFill>
              <a:srgbClr val="1973EB"/>
            </a:solidFill>
            <a:prstDash val="solid"/>
            <a:miter/>
          </a:ln>
        </p:spPr>
      </p:cxnSp>
    </p:spTree>
    <p:extLst>
      <p:ext uri="{BB962C8B-B14F-4D97-AF65-F5344CB8AC3E}">
        <p14:creationId xmlns:p14="http://schemas.microsoft.com/office/powerpoint/2010/main" val="417594802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E2D37AC1-8440-D728-05D7-61A7564CB3EA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40080" y="1371600"/>
            <a:ext cx="10890924" cy="1097280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anchor="t" anchorCtr="0" compatLnSpc="1">
            <a:normAutofit/>
          </a:bodyPr>
          <a:lstStyle/>
          <a:p>
            <a:pPr lvl="0"/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A4A0D1E-B902-0F7E-C6F8-4FE3778DA9B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40080" y="2633472"/>
            <a:ext cx="10890924" cy="3566160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anchor="t" anchorCtr="0" compatLnSpc="1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75A8CF2-FFE6-36F9-7020-F06ABE00D029}"/>
              </a:ext>
            </a:extLst>
          </p:cNvPr>
          <p:cNvSpPr txBox="1">
            <a:spLocks noGrp="1"/>
          </p:cNvSpPr>
          <p:nvPr>
            <p:ph type="dt" sz="half" idx="2"/>
          </p:nvPr>
        </p:nvSpPr>
        <p:spPr>
          <a:xfrm>
            <a:off x="640080" y="6356351"/>
            <a:ext cx="2743200" cy="365129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anchor="ctr" anchorCtr="0" compatLnSpc="1">
            <a:noAutofit/>
          </a:bodyPr>
          <a:lstStyle>
            <a:lvl1pPr marL="0" marR="0" lvl="0" indent="0" algn="l" defTabSz="4572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lang="en-US" sz="900" b="1" i="0" u="none" strike="noStrike" kern="1200" cap="all" spc="300" baseline="0">
                <a:solidFill>
                  <a:srgbClr val="000000"/>
                </a:solidFill>
                <a:uFillTx/>
                <a:latin typeface="Grandview Display"/>
              </a:defRPr>
            </a:lvl1pPr>
          </a:lstStyle>
          <a:p>
            <a:pPr lvl="0"/>
            <a:fld id="{CCE64167-1427-45D0-A173-8E84E9565017}" type="datetime1">
              <a:rPr lang="en-US"/>
              <a:pPr lvl="0"/>
              <a:t>7/12/2026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01C12E7-92FF-79F3-A0E3-055E3D740048}"/>
              </a:ext>
            </a:extLst>
          </p:cNvPr>
          <p:cNvSpPr txBox="1">
            <a:spLocks noGrp="1"/>
          </p:cNvSpPr>
          <p:nvPr>
            <p:ph type="ftr" sz="quarter" idx="3"/>
          </p:nvPr>
        </p:nvSpPr>
        <p:spPr>
          <a:xfrm>
            <a:off x="6767620" y="6356351"/>
            <a:ext cx="4040376" cy="365129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anchor="ctr" anchorCtr="0" compatLnSpc="1">
            <a:noAutofit/>
          </a:bodyPr>
          <a:lstStyle>
            <a:lvl1pPr marL="0" marR="0" lvl="0" indent="0" algn="r" defTabSz="4572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lang="en-US" sz="900" b="1" i="0" u="none" strike="noStrike" kern="1200" cap="all" spc="300" baseline="0">
                <a:solidFill>
                  <a:srgbClr val="000000"/>
                </a:solidFill>
                <a:uFillTx/>
                <a:latin typeface="Grandview Display"/>
              </a:defRPr>
            </a:lvl1pPr>
          </a:lstStyle>
          <a:p>
            <a:pPr lvl="0"/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4806C81-6671-F98A-4CEB-06F645AF0956}"/>
              </a:ext>
            </a:extLst>
          </p:cNvPr>
          <p:cNvSpPr txBox="1">
            <a:spLocks noGrp="1"/>
          </p:cNvSpPr>
          <p:nvPr>
            <p:ph type="sldNum" sz="quarter" idx="4"/>
          </p:nvPr>
        </p:nvSpPr>
        <p:spPr>
          <a:xfrm>
            <a:off x="10807997" y="6356351"/>
            <a:ext cx="723016" cy="365129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anchor="ctr" anchorCtr="0" compatLnSpc="1">
            <a:noAutofit/>
          </a:bodyPr>
          <a:lstStyle>
            <a:lvl1pPr marL="0" marR="0" lvl="0" indent="0" algn="r" defTabSz="4572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lang="en-US" sz="900" b="1" i="0" u="none" strike="noStrike" kern="1200" cap="all" spc="300" baseline="0">
                <a:solidFill>
                  <a:srgbClr val="000000"/>
                </a:solidFill>
                <a:uFillTx/>
                <a:latin typeface="Grandview Display"/>
              </a:defRPr>
            </a:lvl1pPr>
          </a:lstStyle>
          <a:p>
            <a:pPr lvl="0"/>
            <a:fld id="{75831271-C9A9-478D-8814-89D844B950B5}" type="slidenum">
              <a:t>‹N›</a:t>
            </a:fld>
            <a:endParaRPr lang="en-US"/>
          </a:p>
        </p:txBody>
      </p:sp>
      <p:cxnSp>
        <p:nvCxnSpPr>
          <p:cNvPr id="7" name="Straight Connector 8">
            <a:extLst>
              <a:ext uri="{FF2B5EF4-FFF2-40B4-BE49-F238E27FC236}">
                <a16:creationId xmlns:a16="http://schemas.microsoft.com/office/drawing/2014/main" id="{237754E6-2D02-BD27-6F7A-292255E4A9A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/>
          <p:nvPr/>
        </p:nvCxnSpPr>
        <p:spPr>
          <a:xfrm>
            <a:off x="713232" y="1031004"/>
            <a:ext cx="978865" cy="0"/>
          </a:xfrm>
          <a:prstGeom prst="straightConnector1">
            <a:avLst/>
          </a:prstGeom>
          <a:noFill/>
          <a:ln w="76196" cap="flat">
            <a:solidFill>
              <a:srgbClr val="1973EB"/>
            </a:solidFill>
            <a:prstDash val="solid"/>
            <a:miter/>
          </a:ln>
        </p:spPr>
      </p:cxn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marL="0" marR="0" lvl="0" indent="0" algn="l" defTabSz="914400" rtl="0" fontAlgn="auto" hangingPunct="1">
        <a:lnSpc>
          <a:spcPct val="100000"/>
        </a:lnSpc>
        <a:spcBef>
          <a:spcPts val="0"/>
        </a:spcBef>
        <a:spcAft>
          <a:spcPts val="0"/>
        </a:spcAft>
        <a:buNone/>
        <a:tabLst/>
        <a:defRPr lang="en-US" sz="4000" b="1" i="0" u="none" strike="noStrike" kern="1200" cap="none" spc="0" baseline="0">
          <a:solidFill>
            <a:srgbClr val="000000"/>
          </a:solidFill>
          <a:uFillTx/>
          <a:latin typeface="Grandview Display"/>
        </a:defRPr>
      </a:lvl1pPr>
    </p:titleStyle>
    <p:bodyStyle>
      <a:lvl1pPr marL="228600" marR="0" lvl="0" indent="-228600" algn="l" defTabSz="914400" rtl="0" fontAlgn="auto" hangingPunct="1">
        <a:lnSpc>
          <a:spcPct val="120000"/>
        </a:lnSpc>
        <a:spcBef>
          <a:spcPts val="1000"/>
        </a:spcBef>
        <a:spcAft>
          <a:spcPts val="0"/>
        </a:spcAft>
        <a:buSzPct val="87000"/>
        <a:buFont typeface="Arial" pitchFamily="34"/>
        <a:buChar char="•"/>
        <a:tabLst/>
        <a:defRPr lang="en-US" sz="2000" b="0" i="0" u="none" strike="noStrike" kern="1200" cap="none" spc="0" baseline="0">
          <a:solidFill>
            <a:srgbClr val="000000"/>
          </a:solidFill>
          <a:uFillTx/>
          <a:latin typeface="Grandview Display"/>
        </a:defRPr>
      </a:lvl1pPr>
      <a:lvl2pPr marL="493776" marR="0" lvl="1" indent="-228600" algn="l" defTabSz="914400" rtl="0" fontAlgn="auto" hangingPunct="1">
        <a:lnSpc>
          <a:spcPct val="120000"/>
        </a:lnSpc>
        <a:spcBef>
          <a:spcPts val="500"/>
        </a:spcBef>
        <a:spcAft>
          <a:spcPts val="0"/>
        </a:spcAft>
        <a:buSzPct val="87000"/>
        <a:buFont typeface="Arial" pitchFamily="34"/>
        <a:buChar char="•"/>
        <a:tabLst/>
        <a:defRPr lang="en-US" sz="1800" b="0" i="0" u="none" strike="noStrike" kern="1200" cap="none" spc="0" baseline="0">
          <a:solidFill>
            <a:srgbClr val="000000"/>
          </a:solidFill>
          <a:uFillTx/>
          <a:latin typeface="Grandview Display"/>
        </a:defRPr>
      </a:lvl2pPr>
      <a:lvl3pPr marL="731520" marR="0" lvl="2" indent="-228600" algn="l" defTabSz="914400" rtl="0" fontAlgn="auto" hangingPunct="1">
        <a:lnSpc>
          <a:spcPct val="120000"/>
        </a:lnSpc>
        <a:spcBef>
          <a:spcPts val="500"/>
        </a:spcBef>
        <a:spcAft>
          <a:spcPts val="0"/>
        </a:spcAft>
        <a:buSzPct val="87000"/>
        <a:buFont typeface="Arial" pitchFamily="34"/>
        <a:buChar char="•"/>
        <a:tabLst/>
        <a:defRPr lang="en-US" sz="1600" b="0" i="0" u="none" strike="noStrike" kern="1200" cap="none" spc="0" baseline="0">
          <a:solidFill>
            <a:srgbClr val="000000"/>
          </a:solidFill>
          <a:uFillTx/>
          <a:latin typeface="Grandview Display"/>
        </a:defRPr>
      </a:lvl3pPr>
      <a:lvl4pPr marL="1051560" marR="0" lvl="3" indent="-285750" algn="l" defTabSz="914400" rtl="0" fontAlgn="auto" hangingPunct="1">
        <a:lnSpc>
          <a:spcPct val="120000"/>
        </a:lnSpc>
        <a:spcBef>
          <a:spcPts val="500"/>
        </a:spcBef>
        <a:spcAft>
          <a:spcPts val="0"/>
        </a:spcAft>
        <a:buSzPct val="87000"/>
        <a:buFont typeface="Arial" pitchFamily="34"/>
        <a:buChar char="•"/>
        <a:tabLst/>
        <a:defRPr lang="en-US" sz="1400" b="0" i="0" u="none" strike="noStrike" kern="1200" cap="none" spc="0" baseline="0">
          <a:solidFill>
            <a:srgbClr val="000000"/>
          </a:solidFill>
          <a:uFillTx/>
          <a:latin typeface="Grandview Display"/>
        </a:defRPr>
      </a:lvl4pPr>
      <a:lvl5pPr marL="1298448" marR="0" lvl="4" indent="-228600" algn="l" defTabSz="914400" rtl="0" fontAlgn="auto" hangingPunct="1">
        <a:lnSpc>
          <a:spcPct val="120000"/>
        </a:lnSpc>
        <a:spcBef>
          <a:spcPts val="500"/>
        </a:spcBef>
        <a:spcAft>
          <a:spcPts val="0"/>
        </a:spcAft>
        <a:buSzPct val="87000"/>
        <a:buFont typeface="Arial" pitchFamily="34"/>
        <a:buChar char="•"/>
        <a:tabLst/>
        <a:defRPr lang="en-US" sz="1400" b="0" i="0" u="none" strike="noStrike" kern="1200" cap="none" spc="0" baseline="0">
          <a:solidFill>
            <a:srgbClr val="000000"/>
          </a:solidFill>
          <a:uFillTx/>
          <a:latin typeface="Grandview Display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it-IT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.pn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1.png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9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9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4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9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8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9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4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0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chart" Target="../charts/chart1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chart" Target="../charts/chart2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chart" Target="../charts/chart4.xml"/><Relationship Id="rId2" Type="http://schemas.openxmlformats.org/officeDocument/2006/relationships/chart" Target="../charts/chart3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chart" Target="../charts/chart5.xml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chart" Target="../charts/chart7.xml"/><Relationship Id="rId2" Type="http://schemas.openxmlformats.org/officeDocument/2006/relationships/chart" Target="../charts/chart6.xml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chart" Target="../charts/chart8.xm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0.xml"/><Relationship Id="rId2" Type="http://schemas.openxmlformats.org/officeDocument/2006/relationships/chart" Target="../charts/chart9.xml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chart" Target="../charts/chart11.xml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2.xml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4" Type="http://schemas.openxmlformats.org/officeDocument/2006/relationships/chart" Target="../charts/chart13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1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31">
            <a:extLst>
              <a:ext uri="{FF2B5EF4-FFF2-40B4-BE49-F238E27FC236}">
                <a16:creationId xmlns:a16="http://schemas.microsoft.com/office/drawing/2014/main" id="{45A4658C-D57B-BA92-4666-21A85E77B5C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Move="1" noResize="1"/>
          </p:cNvSpPr>
          <p:nvPr/>
        </p:nvSpPr>
        <p:spPr>
          <a:xfrm>
            <a:off x="0" y="0"/>
            <a:ext cx="12191996" cy="6858000"/>
          </a:xfrm>
          <a:prstGeom prst="rect">
            <a:avLst/>
          </a:prstGeom>
          <a:solidFill>
            <a:srgbClr val="000000"/>
          </a:solidFill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it-IT" sz="1800" b="0" i="0" u="none" strike="noStrike" kern="1200" cap="none" spc="0" baseline="0" dirty="0">
              <a:solidFill>
                <a:srgbClr val="FFFFFF"/>
              </a:solidFill>
              <a:uFillTx/>
              <a:latin typeface="Grandview Display"/>
            </a:endParaRPr>
          </a:p>
        </p:txBody>
      </p:sp>
      <p:pic>
        <p:nvPicPr>
          <p:cNvPr id="3" name="Picture 3">
            <a:extLst>
              <a:ext uri="{FF2B5EF4-FFF2-40B4-BE49-F238E27FC236}">
                <a16:creationId xmlns:a16="http://schemas.microsoft.com/office/drawing/2014/main" id="{A13F1CD9-C69F-53C0-A91F-E7F06CD466FA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20451" r="9091" b="28413"/>
          <a:stretch>
            <a:fillRect/>
          </a:stretch>
        </p:blipFill>
        <p:spPr>
          <a:xfrm>
            <a:off x="0" y="0"/>
            <a:ext cx="12191996" cy="6858000"/>
          </a:xfrm>
          <a:prstGeom prst="rect">
            <a:avLst/>
          </a:prstGeom>
          <a:noFill/>
          <a:ln cap="flat">
            <a:noFill/>
          </a:ln>
        </p:spPr>
      </p:pic>
      <p:sp>
        <p:nvSpPr>
          <p:cNvPr id="4" name="Rectangle 33">
            <a:extLst>
              <a:ext uri="{FF2B5EF4-FFF2-40B4-BE49-F238E27FC236}">
                <a16:creationId xmlns:a16="http://schemas.microsoft.com/office/drawing/2014/main" id="{CB8B7AC9-9F77-410D-0744-F31B0A6A18E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Move="1" noResize="1"/>
          </p:cNvSpPr>
          <p:nvPr/>
        </p:nvSpPr>
        <p:spPr>
          <a:xfrm rot="5400013">
            <a:off x="-173179" y="173178"/>
            <a:ext cx="6858000" cy="6511643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100000">
                <a:srgbClr val="000000">
                  <a:alpha val="17000"/>
                </a:srgbClr>
              </a:gs>
            </a:gsLst>
            <a:lin ang="5400000"/>
          </a:gradFill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it-IT" sz="1800" b="0" i="0" u="none" strike="noStrike" kern="1200" cap="none" spc="0" baseline="0" dirty="0">
              <a:solidFill>
                <a:srgbClr val="FFFFFF"/>
              </a:solidFill>
              <a:uFillTx/>
              <a:latin typeface="Neue Haas Grotesk Text Pro"/>
            </a:endParaRPr>
          </a:p>
        </p:txBody>
      </p:sp>
      <p:sp>
        <p:nvSpPr>
          <p:cNvPr id="5" name="Titolo 1">
            <a:extLst>
              <a:ext uri="{FF2B5EF4-FFF2-40B4-BE49-F238E27FC236}">
                <a16:creationId xmlns:a16="http://schemas.microsoft.com/office/drawing/2014/main" id="{C5FBAED7-8105-083A-C09C-BA1D1DFB11D3}"/>
              </a:ext>
            </a:extLst>
          </p:cNvPr>
          <p:cNvSpPr txBox="1">
            <a:spLocks noGrp="1"/>
          </p:cNvSpPr>
          <p:nvPr>
            <p:ph type="ctrTitle"/>
          </p:nvPr>
        </p:nvSpPr>
        <p:spPr>
          <a:xfrm>
            <a:off x="457190" y="701966"/>
            <a:ext cx="5370947" cy="3640299"/>
          </a:xfrm>
        </p:spPr>
        <p:txBody>
          <a:bodyPr/>
          <a:lstStyle/>
          <a:p>
            <a:pPr lvl="0"/>
            <a:r>
              <a:rPr lang="it-IT" sz="6000" dirty="0">
                <a:solidFill>
                  <a:srgbClr val="FFFFFF"/>
                </a:solidFill>
              </a:rPr>
              <a:t>Simulazione della Diffusione del Calore 2D </a:t>
            </a:r>
          </a:p>
        </p:txBody>
      </p:sp>
      <p:sp>
        <p:nvSpPr>
          <p:cNvPr id="6" name="Sottotitolo 2">
            <a:extLst>
              <a:ext uri="{FF2B5EF4-FFF2-40B4-BE49-F238E27FC236}">
                <a16:creationId xmlns:a16="http://schemas.microsoft.com/office/drawing/2014/main" id="{DEA79D2B-AE31-C718-ADF2-54354400ACB8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468090" y="5253054"/>
            <a:ext cx="3888421" cy="969264"/>
          </a:xfrm>
        </p:spPr>
        <p:txBody>
          <a:bodyPr anchor="t"/>
          <a:lstStyle/>
          <a:p>
            <a:pPr lvl="0">
              <a:lnSpc>
                <a:spcPct val="120000"/>
              </a:lnSpc>
            </a:pPr>
            <a:r>
              <a:rPr lang="it-IT" sz="1400" dirty="0">
                <a:solidFill>
                  <a:srgbClr val="FFFFFF"/>
                </a:solidFill>
              </a:rPr>
              <a:t>Progetto di Principi della Programmazione Parallela</a:t>
            </a:r>
          </a:p>
          <a:p>
            <a:pPr lvl="0">
              <a:lnSpc>
                <a:spcPct val="120000"/>
              </a:lnSpc>
            </a:pPr>
            <a:r>
              <a:rPr lang="it-IT" sz="1400" dirty="0">
                <a:solidFill>
                  <a:srgbClr val="FFFFFF"/>
                </a:solidFill>
              </a:rPr>
              <a:t>Proff. Sciacca e Vitello</a:t>
            </a:r>
          </a:p>
        </p:txBody>
      </p:sp>
      <p:cxnSp>
        <p:nvCxnSpPr>
          <p:cNvPr id="7" name="Straight Connector 35">
            <a:extLst>
              <a:ext uri="{FF2B5EF4-FFF2-40B4-BE49-F238E27FC236}">
                <a16:creationId xmlns:a16="http://schemas.microsoft.com/office/drawing/2014/main" id="{6253D43F-58E3-FD2B-DBF5-AAC52B7859B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Move="1" noResize="1"/>
          </p:cNvCxnSpPr>
          <p:nvPr/>
        </p:nvCxnSpPr>
        <p:spPr>
          <a:xfrm>
            <a:off x="540328" y="4861206"/>
            <a:ext cx="978865" cy="0"/>
          </a:xfrm>
          <a:prstGeom prst="straightConnector1">
            <a:avLst/>
          </a:prstGeom>
          <a:noFill/>
          <a:ln w="76196" cap="flat">
            <a:solidFill>
              <a:srgbClr val="1973EB"/>
            </a:solidFill>
            <a:prstDash val="solid"/>
            <a:miter/>
          </a:ln>
        </p:spPr>
      </p:cxn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iterate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7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1500"/>
                                  </p:stCondLst>
                                  <p:iterate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700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1500"/>
                                  </p:stCondLst>
                                  <p:iterate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700"/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  <p:bldP spid="6" grpId="0" build="p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26FAC486-3969-4E6E-C1C8-8D0A4050C263}"/>
              </a:ext>
            </a:extLst>
          </p:cNvPr>
          <p:cNvSpPr txBox="1">
            <a:spLocks noGrp="1"/>
          </p:cNvSpPr>
          <p:nvPr>
            <p:ph type="title"/>
          </p:nvPr>
        </p:nvSpPr>
        <p:spPr/>
        <p:txBody>
          <a:bodyPr/>
          <a:lstStyle/>
          <a:p>
            <a:pPr lvl="0"/>
            <a:r>
              <a:rPr lang="it-IT" sz="3200" dirty="0"/>
              <a:t>Equazione del Calore 2D </a:t>
            </a:r>
            <a:br>
              <a:rPr lang="it-IT" sz="3200" dirty="0"/>
            </a:br>
            <a:endParaRPr lang="it-IT" sz="32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Segnaposto contenuto 2">
                <a:extLst>
                  <a:ext uri="{FF2B5EF4-FFF2-40B4-BE49-F238E27FC236}">
                    <a16:creationId xmlns:a16="http://schemas.microsoft.com/office/drawing/2014/main" id="{AA3D2EA2-022E-A1B6-ACCC-2FF28B82A258}"/>
                  </a:ext>
                </a:extLst>
              </p:cNvPr>
              <p:cNvSpPr txBox="1"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 lang="it-IT" dirty="0"/>
                  <a:t>L’idea di questo progetto è quello di simulare la diffusione del calore su una griglia N x N sottoposta a diverse fonti di calore che provengono dai lati della griglia a diverse temperature. </a:t>
                </a:r>
              </a:p>
              <a:p>
                <a:pPr lvl="0"/>
                <a:r>
                  <a:rPr lang="it-IT" dirty="0"/>
                  <a:t>Il calcolo del calore per ogni punto è dato dalla seguente equazione:</a:t>
                </a:r>
              </a:p>
              <a:p>
                <a:pPr marL="0" lvl="0" indent="0">
                  <a:buNone/>
                </a:pPr>
                <a:endParaRPr lang="it-IT" i="1" dirty="0">
                  <a:latin typeface="Cambria Math" pitchFamily="18"/>
                </a:endParaRPr>
              </a:p>
              <a:p>
                <a:pPr marL="0" lv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it-IT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it-IT" i="1">
                              <a:latin typeface="Cambria Math" panose="02040503050406030204" pitchFamily="18" charset="0"/>
                            </a:rPr>
                            <m:t>𝑢</m:t>
                          </m:r>
                        </m:e>
                        <m:sub>
                          <m:r>
                            <a:rPr lang="it-IT" i="1">
                              <a:latin typeface="Cambria Math" panose="02040503050406030204" pitchFamily="18" charset="0"/>
                            </a:rPr>
                            <m:t>𝑛𝑒𝑤</m:t>
                          </m:r>
                        </m:sub>
                      </m:sSub>
                      <m:d>
                        <m:dPr>
                          <m:begChr m:val="["/>
                          <m:endChr m:val="]"/>
                          <m:ctrlPr>
                            <a:rPr lang="it-IT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it-IT" i="1">
                              <a:latin typeface="Cambria Math" panose="02040503050406030204" pitchFamily="18" charset="0"/>
                            </a:rPr>
                            <m:t>𝑖</m:t>
                          </m:r>
                        </m:e>
                      </m:d>
                      <m:d>
                        <m:dPr>
                          <m:begChr m:val="["/>
                          <m:endChr m:val="]"/>
                          <m:ctrlPr>
                            <a:rPr lang="it-IT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it-IT" i="1">
                              <a:latin typeface="Cambria Math" panose="02040503050406030204" pitchFamily="18" charset="0"/>
                            </a:rPr>
                            <m:t>𝑗</m:t>
                          </m:r>
                        </m:e>
                      </m:d>
                      <m:r>
                        <a:rPr lang="it-IT">
                          <a:latin typeface="Cambria Math" panose="02040503050406030204" pitchFamily="18" charset="0"/>
                        </a:rPr>
                        <m:t>=(</m:t>
                      </m:r>
                      <m:r>
                        <a:rPr lang="it-IT" i="1">
                          <a:latin typeface="Cambria Math" panose="02040503050406030204" pitchFamily="18" charset="0"/>
                        </a:rPr>
                        <m:t>𝑢</m:t>
                      </m:r>
                      <m:d>
                        <m:dPr>
                          <m:begChr m:val="["/>
                          <m:endChr m:val="]"/>
                          <m:ctrlPr>
                            <a:rPr lang="it-IT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it-IT" i="1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it-IT">
                              <a:latin typeface="Cambria Math" panose="02040503050406030204" pitchFamily="18" charset="0"/>
                            </a:rPr>
                            <m:t>−1</m:t>
                          </m:r>
                        </m:e>
                      </m:d>
                      <m:d>
                        <m:dPr>
                          <m:begChr m:val="["/>
                          <m:endChr m:val="]"/>
                          <m:ctrlPr>
                            <a:rPr lang="it-IT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it-IT" i="1">
                              <a:latin typeface="Cambria Math" panose="02040503050406030204" pitchFamily="18" charset="0"/>
                            </a:rPr>
                            <m:t>𝑗</m:t>
                          </m:r>
                        </m:e>
                      </m:d>
                      <m:r>
                        <a:rPr lang="it-IT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it-IT" i="1">
                          <a:latin typeface="Cambria Math" panose="02040503050406030204" pitchFamily="18" charset="0"/>
                        </a:rPr>
                        <m:t>𝑢</m:t>
                      </m:r>
                      <m:r>
                        <a:rPr lang="it-IT">
                          <a:latin typeface="Cambria Math" panose="02040503050406030204" pitchFamily="18" charset="0"/>
                        </a:rPr>
                        <m:t> </m:t>
                      </m:r>
                      <m:d>
                        <m:dPr>
                          <m:begChr m:val="["/>
                          <m:endChr m:val="]"/>
                          <m:ctrlPr>
                            <a:rPr lang="it-IT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it-IT" i="1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it-IT">
                              <a:latin typeface="Cambria Math" panose="02040503050406030204" pitchFamily="18" charset="0"/>
                            </a:rPr>
                            <m:t>+1</m:t>
                          </m:r>
                        </m:e>
                      </m:d>
                      <m:d>
                        <m:dPr>
                          <m:begChr m:val="["/>
                          <m:endChr m:val="]"/>
                          <m:ctrlPr>
                            <a:rPr lang="it-IT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it-IT" i="1">
                              <a:latin typeface="Cambria Math" panose="02040503050406030204" pitchFamily="18" charset="0"/>
                            </a:rPr>
                            <m:t>𝑗</m:t>
                          </m:r>
                        </m:e>
                      </m:d>
                      <m:r>
                        <a:rPr lang="it-IT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it-IT" i="1">
                          <a:latin typeface="Cambria Math" panose="02040503050406030204" pitchFamily="18" charset="0"/>
                        </a:rPr>
                        <m:t>𝑢</m:t>
                      </m:r>
                      <m:d>
                        <m:dPr>
                          <m:begChr m:val="["/>
                          <m:endChr m:val="]"/>
                          <m:ctrlPr>
                            <a:rPr lang="it-IT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it-IT" i="1">
                              <a:latin typeface="Cambria Math" panose="02040503050406030204" pitchFamily="18" charset="0"/>
                            </a:rPr>
                            <m:t>𝑖</m:t>
                          </m:r>
                        </m:e>
                      </m:d>
                      <m:d>
                        <m:dPr>
                          <m:begChr m:val="["/>
                          <m:endChr m:val="]"/>
                          <m:ctrlPr>
                            <a:rPr lang="it-IT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it-IT" i="1">
                              <a:latin typeface="Cambria Math" panose="02040503050406030204" pitchFamily="18" charset="0"/>
                            </a:rPr>
                            <m:t>𝑗</m:t>
                          </m:r>
                          <m:r>
                            <a:rPr lang="it-IT">
                              <a:latin typeface="Cambria Math" panose="02040503050406030204" pitchFamily="18" charset="0"/>
                            </a:rPr>
                            <m:t>−1</m:t>
                          </m:r>
                        </m:e>
                      </m:d>
                      <m:r>
                        <a:rPr lang="it-IT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it-IT" i="1">
                          <a:latin typeface="Cambria Math" panose="02040503050406030204" pitchFamily="18" charset="0"/>
                        </a:rPr>
                        <m:t>𝑢</m:t>
                      </m:r>
                      <m:d>
                        <m:dPr>
                          <m:begChr m:val="["/>
                          <m:endChr m:val="]"/>
                          <m:ctrlPr>
                            <a:rPr lang="it-IT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it-IT" i="1">
                              <a:latin typeface="Cambria Math" panose="02040503050406030204" pitchFamily="18" charset="0"/>
                            </a:rPr>
                            <m:t>𝑖</m:t>
                          </m:r>
                        </m:e>
                      </m:d>
                      <m:d>
                        <m:dPr>
                          <m:begChr m:val="["/>
                          <m:endChr m:val="]"/>
                          <m:ctrlPr>
                            <a:rPr lang="it-IT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it-IT" i="1">
                              <a:latin typeface="Cambria Math" panose="02040503050406030204" pitchFamily="18" charset="0"/>
                            </a:rPr>
                            <m:t>𝑗</m:t>
                          </m:r>
                          <m:r>
                            <a:rPr lang="it-IT">
                              <a:latin typeface="Cambria Math" panose="02040503050406030204" pitchFamily="18" charset="0"/>
                            </a:rPr>
                            <m:t>+1</m:t>
                          </m:r>
                        </m:e>
                      </m:d>
                      <m:f>
                        <m:fPr>
                          <m:type m:val="lin"/>
                          <m:ctrlPr>
                            <a:rPr lang="it-IT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it-IT">
                              <a:latin typeface="Cambria Math" panose="02040503050406030204" pitchFamily="18" charset="0"/>
                            </a:rPr>
                            <m:t>)</m:t>
                          </m:r>
                        </m:num>
                        <m:den>
                          <m:r>
                            <a:rPr lang="it-IT">
                              <a:latin typeface="Cambria Math" panose="02040503050406030204" pitchFamily="18" charset="0"/>
                            </a:rPr>
                            <m:t>4</m:t>
                          </m:r>
                        </m:den>
                      </m:f>
                      <m:r>
                        <a:rPr lang="it-IT">
                          <a:latin typeface="Cambria Math" panose="02040503050406030204" pitchFamily="18" charset="0"/>
                        </a:rPr>
                        <m:t>.0</m:t>
                      </m:r>
                    </m:oMath>
                  </m:oMathPara>
                </a14:m>
                <a:endParaRPr lang="it-IT" dirty="0"/>
              </a:p>
            </p:txBody>
          </p:sp>
        </mc:Choice>
        <mc:Fallback xmlns="">
          <p:sp>
            <p:nvSpPr>
              <p:cNvPr id="3" name="Segnaposto contenuto 2">
                <a:extLst>
                  <a:ext uri="{FF2B5EF4-FFF2-40B4-BE49-F238E27FC236}">
                    <a16:creationId xmlns:a16="http://schemas.microsoft.com/office/drawing/2014/main" id="{AA3D2EA2-022E-A1B6-ACCC-2FF28B82A258}"/>
                  </a:ext>
                </a:extLst>
              </p:cNvPr>
              <p:cNvSpPr txBox="1"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336" t="-171" r="-448"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40AC448C-2EF1-E7BA-8D18-3C24267D4A68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50531" y="171450"/>
            <a:ext cx="10890924" cy="1097280"/>
          </a:xfrm>
        </p:spPr>
        <p:txBody>
          <a:bodyPr/>
          <a:lstStyle/>
          <a:p>
            <a:pPr lvl="0"/>
            <a:r>
              <a:rPr lang="it-IT" dirty="0"/>
              <a:t>Equazione del calore 2D</a:t>
            </a:r>
          </a:p>
        </p:txBody>
      </p:sp>
      <p:pic>
        <p:nvPicPr>
          <p:cNvPr id="3" name="Immagine 4">
            <a:extLst>
              <a:ext uri="{FF2B5EF4-FFF2-40B4-BE49-F238E27FC236}">
                <a16:creationId xmlns:a16="http://schemas.microsoft.com/office/drawing/2014/main" id="{0B678F58-BEBD-2281-300A-944489C5E26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0531" y="1154430"/>
            <a:ext cx="10779468" cy="5600718"/>
          </a:xfrm>
          <a:prstGeom prst="rect">
            <a:avLst/>
          </a:prstGeom>
          <a:noFill/>
          <a:ln cap="flat"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9">
            <a:extLst>
              <a:ext uri="{FF2B5EF4-FFF2-40B4-BE49-F238E27FC236}">
                <a16:creationId xmlns:a16="http://schemas.microsoft.com/office/drawing/2014/main" id="{C1CA7EE3-E58C-6FAF-7A88-B65E8D3814E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Move="1" noResize="1"/>
          </p:cNvSpPr>
          <p:nvPr/>
        </p:nvSpPr>
        <p:spPr>
          <a:xfrm>
            <a:off x="0" y="0"/>
            <a:ext cx="12191996" cy="6858000"/>
          </a:xfrm>
          <a:prstGeom prst="rect">
            <a:avLst/>
          </a:prstGeom>
          <a:solidFill>
            <a:srgbClr val="FFFFFF"/>
          </a:solidFill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4572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it-IT" sz="1800" b="0" i="0" u="none" strike="noStrike" kern="1200" cap="none" spc="0" baseline="0" dirty="0">
              <a:solidFill>
                <a:srgbClr val="FFFFFF"/>
              </a:solidFill>
              <a:uFillTx/>
              <a:latin typeface="Grandview Display"/>
            </a:endParaRPr>
          </a:p>
        </p:txBody>
      </p:sp>
      <p:sp>
        <p:nvSpPr>
          <p:cNvPr id="3" name="Titolo 1">
            <a:extLst>
              <a:ext uri="{FF2B5EF4-FFF2-40B4-BE49-F238E27FC236}">
                <a16:creationId xmlns:a16="http://schemas.microsoft.com/office/drawing/2014/main" id="{D247F251-46FD-00B6-B3B0-92C20AFA3258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40080" y="1371600"/>
            <a:ext cx="5737860" cy="1097280"/>
          </a:xfrm>
        </p:spPr>
        <p:txBody>
          <a:bodyPr/>
          <a:lstStyle/>
          <a:p>
            <a:pPr lvl="0"/>
            <a:r>
              <a:rPr lang="it-IT" dirty="0"/>
              <a:t>Equazione del calore 2D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Segnaposto contenuto 2">
                <a:extLst>
                  <a:ext uri="{FF2B5EF4-FFF2-40B4-BE49-F238E27FC236}">
                    <a16:creationId xmlns:a16="http://schemas.microsoft.com/office/drawing/2014/main" id="{BD464422-580D-3CDD-0AB9-3E8A3C7FA1EF}"/>
                  </a:ext>
                </a:extLst>
              </p:cNvPr>
              <p:cNvSpPr txBox="1">
                <a:spLocks noGrp="1"/>
              </p:cNvSpPr>
              <p:nvPr>
                <p:ph idx="1"/>
              </p:nvPr>
            </p:nvSpPr>
            <p:spPr>
              <a:xfrm>
                <a:off x="640080" y="2633234"/>
                <a:ext cx="5737860" cy="3666981"/>
              </a:xfrm>
            </p:spPr>
            <p:txBody>
              <a:bodyPr/>
              <a:lstStyle/>
              <a:p>
                <a:pPr lvl="0">
                  <a:lnSpc>
                    <a:spcPct val="110000"/>
                  </a:lnSpc>
                </a:pPr>
                <a:r>
                  <a:rPr lang="it-IT" sz="1900" dirty="0"/>
                  <a:t>La complessità di una singola iterazione del do-while è </a:t>
                </a:r>
                <a14:m>
                  <m:oMath xmlns:m="http://schemas.openxmlformats.org/officeDocument/2006/math">
                    <m:r>
                      <a:rPr lang="it-IT" i="1">
                        <a:latin typeface="Cambria Math" panose="02040503050406030204" pitchFamily="18" charset="0"/>
                      </a:rPr>
                      <m:t>𝑂</m:t>
                    </m:r>
                    <m:r>
                      <a:rPr lang="it-IT">
                        <a:latin typeface="Cambria Math" panose="02040503050406030204" pitchFamily="18" charset="0"/>
                      </a:rPr>
                      <m:t>(</m:t>
                    </m:r>
                    <m:sSup>
                      <m:sSupPr>
                        <m:ctrlPr>
                          <a:rPr lang="it-IT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it-IT" i="1">
                            <a:latin typeface="Cambria Math" panose="02040503050406030204" pitchFamily="18" charset="0"/>
                          </a:rPr>
                          <m:t>𝑁</m:t>
                        </m:r>
                      </m:e>
                      <m:sup>
                        <m:r>
                          <a:rPr lang="it-IT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it-IT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it-IT" sz="1900" dirty="0"/>
                  <a:t> a causa dei due cicli for annidati. </a:t>
                </a:r>
              </a:p>
              <a:p>
                <a:pPr lvl="0">
                  <a:lnSpc>
                    <a:spcPct val="110000"/>
                  </a:lnSpc>
                </a:pPr>
                <a:r>
                  <a:rPr lang="it-IT" sz="1900" dirty="0"/>
                  <a:t>Il do-while viene eseguito un numero </a:t>
                </a:r>
                <a14:m>
                  <m:oMath xmlns:m="http://schemas.openxmlformats.org/officeDocument/2006/math">
                    <m:r>
                      <a:rPr lang="it-IT" i="1">
                        <a:latin typeface="Cambria Math" panose="02040503050406030204" pitchFamily="18" charset="0"/>
                      </a:rPr>
                      <m:t>𝐾</m:t>
                    </m:r>
                  </m:oMath>
                </a14:m>
                <a:r>
                  <a:rPr lang="it-IT" sz="1900" dirty="0"/>
                  <a:t> di volte che cresce all’aumentare non solo di </a:t>
                </a:r>
                <a14:m>
                  <m:oMath xmlns:m="http://schemas.openxmlformats.org/officeDocument/2006/math">
                    <m:r>
                      <a:rPr lang="it-IT" i="1">
                        <a:latin typeface="Cambria Math" panose="02040503050406030204" pitchFamily="18" charset="0"/>
                      </a:rPr>
                      <m:t>𝑁</m:t>
                    </m:r>
                    <m:r>
                      <a:rPr lang="it-IT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it-IT" sz="1900" dirty="0"/>
                  <a:t>ma anche in base al valore di convergenza impostato. Di fatto, ciò rende </a:t>
                </a:r>
                <a14:m>
                  <m:oMath xmlns:m="http://schemas.openxmlformats.org/officeDocument/2006/math">
                    <m:r>
                      <a:rPr lang="it-IT" i="1">
                        <a:latin typeface="Cambria Math" panose="02040503050406030204" pitchFamily="18" charset="0"/>
                      </a:rPr>
                      <m:t>𝐾</m:t>
                    </m:r>
                    <m:r>
                      <a:rPr lang="it-IT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it-IT" sz="1900" dirty="0"/>
                  <a:t>un valore assolutamente non trascurabile che, dai dati raccolti sembra essere circa un </a:t>
                </a:r>
                <a14:m>
                  <m:oMath xmlns:m="http://schemas.openxmlformats.org/officeDocument/2006/math">
                    <m:r>
                      <a:rPr lang="it-IT" i="1">
                        <a:latin typeface="Cambria Math" panose="02040503050406030204" pitchFamily="18" charset="0"/>
                      </a:rPr>
                      <m:t>𝑂</m:t>
                    </m:r>
                    <m:d>
                      <m:dPr>
                        <m:ctrlPr>
                          <a:rPr lang="it-IT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it-IT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it-IT" i="1">
                                <a:latin typeface="Cambria Math" panose="02040503050406030204" pitchFamily="18" charset="0"/>
                              </a:rPr>
                              <m:t>𝑁</m:t>
                            </m:r>
                          </m:e>
                          <m:sup>
                            <m:r>
                              <a:rPr lang="it-IT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e>
                    </m:d>
                    <m:r>
                      <a:rPr lang="it-IT">
                        <a:latin typeface="Cambria Math" panose="02040503050406030204" pitchFamily="18" charset="0"/>
                      </a:rPr>
                      <m:t>.</m:t>
                    </m:r>
                  </m:oMath>
                </a14:m>
                <a:endParaRPr lang="it-IT" sz="1900" dirty="0"/>
              </a:p>
              <a:p>
                <a:pPr lvl="0">
                  <a:lnSpc>
                    <a:spcPct val="110000"/>
                  </a:lnSpc>
                </a:pPr>
                <a:r>
                  <a:rPr lang="it-IT" sz="1900" dirty="0"/>
                  <a:t>Di fatto dunque la risoluzione ha un costo </a:t>
                </a:r>
                <a14:m>
                  <m:oMath xmlns:m="http://schemas.openxmlformats.org/officeDocument/2006/math">
                    <m:r>
                      <a:rPr lang="it-IT" i="1">
                        <a:latin typeface="Cambria Math" panose="02040503050406030204" pitchFamily="18" charset="0"/>
                      </a:rPr>
                      <m:t>𝑂</m:t>
                    </m:r>
                    <m:d>
                      <m:dPr>
                        <m:ctrlPr>
                          <a:rPr lang="it-IT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it-IT" i="1">
                            <a:latin typeface="Cambria Math" panose="02040503050406030204" pitchFamily="18" charset="0"/>
                          </a:rPr>
                          <m:t>𝐾</m:t>
                        </m:r>
                        <m:r>
                          <a:rPr lang="it-IT">
                            <a:latin typeface="Cambria Math" panose="02040503050406030204" pitchFamily="18" charset="0"/>
                          </a:rPr>
                          <m:t>⋅</m:t>
                        </m:r>
                        <m:r>
                          <m:rPr>
                            <m:sty m:val="p"/>
                          </m:rPr>
                          <a:rPr lang="it-IT">
                            <a:latin typeface="Cambria Math" panose="02040503050406030204" pitchFamily="18" charset="0"/>
                          </a:rPr>
                          <m:t>N</m:t>
                        </m:r>
                        <m:r>
                          <m:rPr>
                            <m:lit/>
                          </m:rPr>
                          <a:rPr lang="it-IT">
                            <a:latin typeface="Cambria Math" panose="02040503050406030204" pitchFamily="18" charset="0"/>
                          </a:rPr>
                          <m:t>^</m:t>
                        </m:r>
                        <m:r>
                          <a:rPr lang="it-IT">
                            <a:latin typeface="Cambria Math" panose="02040503050406030204" pitchFamily="18" charset="0"/>
                          </a:rPr>
                          <m:t>2</m:t>
                        </m:r>
                      </m:e>
                    </m:d>
                  </m:oMath>
                </a14:m>
                <a:r>
                  <a:rPr lang="it-IT" sz="1900" dirty="0"/>
                  <a:t> che è circa </a:t>
                </a:r>
                <a14:m>
                  <m:oMath xmlns:m="http://schemas.openxmlformats.org/officeDocument/2006/math">
                    <m:r>
                      <a:rPr lang="it-IT" i="1">
                        <a:latin typeface="Cambria Math" panose="02040503050406030204" pitchFamily="18" charset="0"/>
                      </a:rPr>
                      <m:t>𝑂</m:t>
                    </m:r>
                    <m:d>
                      <m:dPr>
                        <m:ctrlPr>
                          <a:rPr lang="it-IT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it-IT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it-IT" i="1">
                                <a:latin typeface="Cambria Math" panose="02040503050406030204" pitchFamily="18" charset="0"/>
                              </a:rPr>
                              <m:t>𝑁</m:t>
                            </m:r>
                          </m:e>
                          <m:sup>
                            <m:r>
                              <a:rPr lang="it-IT">
                                <a:latin typeface="Cambria Math" panose="02040503050406030204" pitchFamily="18" charset="0"/>
                              </a:rPr>
                              <m:t>4</m:t>
                            </m:r>
                          </m:sup>
                        </m:sSup>
                      </m:e>
                    </m:d>
                    <m:r>
                      <a:rPr lang="it-IT">
                        <a:latin typeface="Cambria Math" panose="02040503050406030204" pitchFamily="18" charset="0"/>
                      </a:rPr>
                      <m:t>.</m:t>
                    </m:r>
                  </m:oMath>
                </a14:m>
                <a:endParaRPr lang="it-IT" sz="1900" dirty="0"/>
              </a:p>
              <a:p>
                <a:pPr lvl="0">
                  <a:lnSpc>
                    <a:spcPct val="110000"/>
                  </a:lnSpc>
                </a:pPr>
                <a:endParaRPr lang="it-IT" sz="1900" dirty="0"/>
              </a:p>
            </p:txBody>
          </p:sp>
        </mc:Choice>
        <mc:Fallback xmlns="">
          <p:sp>
            <p:nvSpPr>
              <p:cNvPr id="5" name="Segnaposto contenuto 2">
                <a:extLst>
                  <a:ext uri="{FF2B5EF4-FFF2-40B4-BE49-F238E27FC236}">
                    <a16:creationId xmlns:a16="http://schemas.microsoft.com/office/drawing/2014/main" id="{BD464422-580D-3CDD-0AB9-3E8A3C7FA1EF}"/>
                  </a:ext>
                </a:extLst>
              </p:cNvPr>
              <p:cNvSpPr txBox="1"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640080" y="2633234"/>
                <a:ext cx="5737860" cy="3666981"/>
              </a:xfrm>
              <a:blipFill>
                <a:blip r:embed="rId3"/>
                <a:stretch>
                  <a:fillRect l="-425" t="-998" b="-333"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4" name="Straight Connector 11">
            <a:extLst>
              <a:ext uri="{FF2B5EF4-FFF2-40B4-BE49-F238E27FC236}">
                <a16:creationId xmlns:a16="http://schemas.microsoft.com/office/drawing/2014/main" id="{F32C8394-2663-8B79-96F7-9656E874A3E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Move="1" noResize="1"/>
          </p:cNvCxnSpPr>
          <p:nvPr/>
        </p:nvCxnSpPr>
        <p:spPr>
          <a:xfrm>
            <a:off x="713232" y="1031004"/>
            <a:ext cx="978865" cy="0"/>
          </a:xfrm>
          <a:prstGeom prst="straightConnector1">
            <a:avLst/>
          </a:prstGeom>
          <a:noFill/>
          <a:ln w="76196" cap="flat">
            <a:solidFill>
              <a:srgbClr val="1973EB"/>
            </a:solidFill>
            <a:prstDash val="solid"/>
            <a:miter/>
          </a:ln>
        </p:spPr>
      </p:cxnSp>
      <p:pic>
        <p:nvPicPr>
          <p:cNvPr id="6" name="Immagine 4">
            <a:extLst>
              <a:ext uri="{FF2B5EF4-FFF2-40B4-BE49-F238E27FC236}">
                <a16:creationId xmlns:a16="http://schemas.microsoft.com/office/drawing/2014/main" id="{8A25A3A0-DFA6-84CE-C423-C2EAA61EF86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77940" y="1031004"/>
            <a:ext cx="5494016" cy="5480282"/>
          </a:xfrm>
          <a:prstGeom prst="rect">
            <a:avLst/>
          </a:prstGeom>
          <a:noFill/>
          <a:ln cap="flat">
            <a:noFill/>
          </a:ln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6">
            <a:extLst>
              <a:ext uri="{FF2B5EF4-FFF2-40B4-BE49-F238E27FC236}">
                <a16:creationId xmlns:a16="http://schemas.microsoft.com/office/drawing/2014/main" id="{D90661F3-5169-F132-5576-226FCE4CF1A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Move="1" noResize="1"/>
          </p:cNvSpPr>
          <p:nvPr/>
        </p:nvSpPr>
        <p:spPr>
          <a:xfrm>
            <a:off x="0" y="0"/>
            <a:ext cx="12191996" cy="6858000"/>
          </a:xfrm>
          <a:prstGeom prst="rect">
            <a:avLst/>
          </a:prstGeom>
          <a:solidFill>
            <a:srgbClr val="FFFFFF"/>
          </a:solidFill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4572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it-IT" sz="1800" b="0" i="0" u="none" strike="noStrike" kern="1200" cap="none" spc="0" baseline="0" dirty="0">
              <a:solidFill>
                <a:srgbClr val="FFFFFF"/>
              </a:solidFill>
              <a:uFillTx/>
              <a:latin typeface="Grandview Display"/>
            </a:endParaRPr>
          </a:p>
        </p:txBody>
      </p:sp>
      <p:sp>
        <p:nvSpPr>
          <p:cNvPr id="3" name="Titolo 1">
            <a:extLst>
              <a:ext uri="{FF2B5EF4-FFF2-40B4-BE49-F238E27FC236}">
                <a16:creationId xmlns:a16="http://schemas.microsoft.com/office/drawing/2014/main" id="{5781F44E-E62B-7DDC-80D2-114A278CD926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5793144" y="1371600"/>
            <a:ext cx="5737860" cy="1097280"/>
          </a:xfrm>
        </p:spPr>
        <p:txBody>
          <a:bodyPr/>
          <a:lstStyle/>
          <a:p>
            <a:pPr lvl="0"/>
            <a:r>
              <a:rPr lang="it-IT" dirty="0"/>
              <a:t>Hardware di Test</a:t>
            </a:r>
          </a:p>
        </p:txBody>
      </p:sp>
      <p:sp>
        <p:nvSpPr>
          <p:cNvPr id="6" name="Segnaposto contenuto 2">
            <a:extLst>
              <a:ext uri="{FF2B5EF4-FFF2-40B4-BE49-F238E27FC236}">
                <a16:creationId xmlns:a16="http://schemas.microsoft.com/office/drawing/2014/main" id="{990AC120-5871-FA03-4779-5764D82911EA}"/>
              </a:ext>
            </a:extLst>
          </p:cNvPr>
          <p:cNvSpPr txBox="1">
            <a:spLocks noGrp="1"/>
          </p:cNvSpPr>
          <p:nvPr>
            <p:ph idx="1"/>
          </p:nvPr>
        </p:nvSpPr>
        <p:spPr>
          <a:xfrm>
            <a:off x="5793144" y="2633234"/>
            <a:ext cx="5737860" cy="3666981"/>
          </a:xfrm>
        </p:spPr>
        <p:txBody>
          <a:bodyPr/>
          <a:lstStyle/>
          <a:p>
            <a:pPr lvl="0">
              <a:lnSpc>
                <a:spcPct val="110000"/>
              </a:lnSpc>
            </a:pPr>
            <a:r>
              <a:rPr lang="it-IT" sz="1400" b="1" dirty="0"/>
              <a:t>Processore:</a:t>
            </a:r>
            <a:r>
              <a:rPr lang="it-IT" sz="1400" dirty="0"/>
              <a:t> AMD Ryzen 5 5500U (Architettura Zen 2 / Lucienne, x86_64)</a:t>
            </a:r>
          </a:p>
          <a:p>
            <a:pPr lvl="0">
              <a:lnSpc>
                <a:spcPct val="110000"/>
              </a:lnSpc>
            </a:pPr>
            <a:r>
              <a:rPr lang="it-IT" sz="1400" b="1" dirty="0"/>
              <a:t>Topologia Core:</a:t>
            </a:r>
            <a:r>
              <a:rPr lang="it-IT" sz="1400" dirty="0"/>
              <a:t> 6 Core Fisici / 12 Core Logici (Thread per core: 2, SMT abilitato)</a:t>
            </a:r>
          </a:p>
          <a:p>
            <a:pPr lvl="0">
              <a:lnSpc>
                <a:spcPct val="110000"/>
              </a:lnSpc>
            </a:pPr>
            <a:r>
              <a:rPr lang="it-IT" sz="1400" b="1" dirty="0"/>
              <a:t>Frequenza di Clock:</a:t>
            </a:r>
            <a:r>
              <a:rPr lang="it-IT" sz="1400" dirty="0"/>
              <a:t> Base 2.10 GHz / Max Boost 4.05 GHz</a:t>
            </a:r>
          </a:p>
          <a:p>
            <a:pPr lvl="0">
              <a:lnSpc>
                <a:spcPct val="110000"/>
              </a:lnSpc>
            </a:pPr>
            <a:r>
              <a:rPr lang="it-IT" sz="1400" b="1" dirty="0"/>
              <a:t>Sottosistema di Cache:</a:t>
            </a:r>
            <a:endParaRPr lang="it-IT" sz="1400" dirty="0"/>
          </a:p>
          <a:p>
            <a:pPr lvl="1">
              <a:lnSpc>
                <a:spcPct val="110000"/>
              </a:lnSpc>
            </a:pPr>
            <a:r>
              <a:rPr lang="it-IT" sz="1400" b="1" dirty="0"/>
              <a:t>Cache L1d:</a:t>
            </a:r>
            <a:r>
              <a:rPr lang="it-IT" sz="1400" dirty="0"/>
              <a:t> 192 </a:t>
            </a:r>
            <a:r>
              <a:rPr lang="it-IT" sz="1400" dirty="0" err="1"/>
              <a:t>KiB</a:t>
            </a:r>
            <a:r>
              <a:rPr lang="it-IT" sz="1400" dirty="0"/>
              <a:t> totali </a:t>
            </a:r>
          </a:p>
          <a:p>
            <a:pPr lvl="1">
              <a:lnSpc>
                <a:spcPct val="110000"/>
              </a:lnSpc>
            </a:pPr>
            <a:r>
              <a:rPr lang="it-IT" sz="1400" b="1" dirty="0"/>
              <a:t>Cache L2:</a:t>
            </a:r>
            <a:r>
              <a:rPr lang="it-IT" sz="1400" dirty="0"/>
              <a:t> 3 </a:t>
            </a:r>
            <a:r>
              <a:rPr lang="it-IT" sz="1400" dirty="0" err="1"/>
              <a:t>MiB</a:t>
            </a:r>
            <a:r>
              <a:rPr lang="it-IT" sz="1400" dirty="0"/>
              <a:t> totali </a:t>
            </a:r>
          </a:p>
          <a:p>
            <a:pPr lvl="1">
              <a:lnSpc>
                <a:spcPct val="110000"/>
              </a:lnSpc>
            </a:pPr>
            <a:r>
              <a:rPr lang="it-IT" sz="1400" b="1" dirty="0"/>
              <a:t>Cache L3:</a:t>
            </a:r>
            <a:r>
              <a:rPr lang="it-IT" sz="1400" dirty="0"/>
              <a:t> </a:t>
            </a:r>
            <a:r>
              <a:rPr lang="it-IT" sz="1400" b="1" dirty="0"/>
              <a:t>8 </a:t>
            </a:r>
            <a:r>
              <a:rPr lang="it-IT" sz="1400" b="1" dirty="0" err="1"/>
              <a:t>MiB</a:t>
            </a:r>
            <a:r>
              <a:rPr lang="it-IT" sz="1400" b="1" dirty="0"/>
              <a:t> totali</a:t>
            </a:r>
          </a:p>
          <a:p>
            <a:pPr lvl="0">
              <a:lnSpc>
                <a:spcPct val="110000"/>
              </a:lnSpc>
            </a:pPr>
            <a:r>
              <a:rPr lang="it-IT" sz="1400" b="1" dirty="0"/>
              <a:t>Memoria RAM:</a:t>
            </a:r>
            <a:r>
              <a:rPr lang="it-IT" sz="1400" dirty="0"/>
              <a:t> 8 GB DDR4 (Memoria disponibile a sistema: ~5.8 GB unificati)</a:t>
            </a:r>
          </a:p>
          <a:p>
            <a:pPr lvl="0">
              <a:lnSpc>
                <a:spcPct val="110000"/>
              </a:lnSpc>
            </a:pPr>
            <a:endParaRPr lang="it-IT" sz="1400" dirty="0"/>
          </a:p>
        </p:txBody>
      </p:sp>
      <p:pic>
        <p:nvPicPr>
          <p:cNvPr id="4" name="Immagine 3" descr="Laptop - Free computer icons">
            <a:extLst>
              <a:ext uri="{FF2B5EF4-FFF2-40B4-BE49-F238E27FC236}">
                <a16:creationId xmlns:a16="http://schemas.microsoft.com/office/drawing/2014/main" id="{EF55B225-28F9-7619-E718-3F899662015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3232" y="1956816"/>
            <a:ext cx="4343400" cy="4343400"/>
          </a:xfrm>
          <a:prstGeom prst="rect">
            <a:avLst/>
          </a:prstGeom>
          <a:noFill/>
          <a:ln cap="flat">
            <a:noFill/>
          </a:ln>
        </p:spPr>
      </p:pic>
      <p:cxnSp>
        <p:nvCxnSpPr>
          <p:cNvPr id="5" name="Straight Connector 18">
            <a:extLst>
              <a:ext uri="{FF2B5EF4-FFF2-40B4-BE49-F238E27FC236}">
                <a16:creationId xmlns:a16="http://schemas.microsoft.com/office/drawing/2014/main" id="{ACDE3FF2-512B-7B1F-69B9-3C6656A8333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Move="1" noResize="1"/>
          </p:cNvCxnSpPr>
          <p:nvPr/>
        </p:nvCxnSpPr>
        <p:spPr>
          <a:xfrm>
            <a:off x="5866296" y="1031004"/>
            <a:ext cx="978865" cy="0"/>
          </a:xfrm>
          <a:prstGeom prst="straightConnector1">
            <a:avLst/>
          </a:prstGeom>
          <a:noFill/>
          <a:ln w="76196" cap="flat">
            <a:solidFill>
              <a:srgbClr val="1973EB"/>
            </a:solidFill>
            <a:prstDash val="solid"/>
            <a:miter/>
          </a:ln>
        </p:spPr>
      </p:cxn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4">
            <a:extLst>
              <a:ext uri="{FF2B5EF4-FFF2-40B4-BE49-F238E27FC236}">
                <a16:creationId xmlns:a16="http://schemas.microsoft.com/office/drawing/2014/main" id="{944F8663-AD2B-71DE-BB24-E6DB91A2928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Move="1" noResize="1"/>
          </p:cNvSpPr>
          <p:nvPr/>
        </p:nvSpPr>
        <p:spPr>
          <a:xfrm>
            <a:off x="0" y="0"/>
            <a:ext cx="12191996" cy="6858000"/>
          </a:xfrm>
          <a:prstGeom prst="rect">
            <a:avLst/>
          </a:prstGeom>
          <a:solidFill>
            <a:srgbClr val="FFFFFF"/>
          </a:solidFill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4572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it-IT" sz="1800" b="0" i="0" u="none" strike="noStrike" kern="1200" cap="none" spc="0" baseline="0">
              <a:solidFill>
                <a:srgbClr val="FFFFFF"/>
              </a:solidFill>
              <a:uFillTx/>
              <a:latin typeface="Grandview Display"/>
            </a:endParaRPr>
          </a:p>
        </p:txBody>
      </p:sp>
      <p:sp>
        <p:nvSpPr>
          <p:cNvPr id="3" name="Titolo 1">
            <a:extLst>
              <a:ext uri="{FF2B5EF4-FFF2-40B4-BE49-F238E27FC236}">
                <a16:creationId xmlns:a16="http://schemas.microsoft.com/office/drawing/2014/main" id="{CB916E8E-B538-4ECD-8787-31BCA5695B2D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40080" y="1371600"/>
            <a:ext cx="5752097" cy="1097280"/>
          </a:xfrm>
        </p:spPr>
        <p:txBody>
          <a:bodyPr/>
          <a:lstStyle/>
          <a:p>
            <a:pPr lvl="0">
              <a:lnSpc>
                <a:spcPct val="90000"/>
              </a:lnSpc>
            </a:pPr>
            <a:r>
              <a:rPr lang="it-IT" sz="3400"/>
              <a:t>Codice Sequenziale – Inizializzazione </a:t>
            </a:r>
          </a:p>
        </p:txBody>
      </p:sp>
      <p:cxnSp>
        <p:nvCxnSpPr>
          <p:cNvPr id="4" name="Straight Connector 16">
            <a:extLst>
              <a:ext uri="{FF2B5EF4-FFF2-40B4-BE49-F238E27FC236}">
                <a16:creationId xmlns:a16="http://schemas.microsoft.com/office/drawing/2014/main" id="{4B4A4741-CD6F-F14C-2C75-2D89C8531F3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Move="1" noResize="1"/>
          </p:cNvCxnSpPr>
          <p:nvPr/>
        </p:nvCxnSpPr>
        <p:spPr>
          <a:xfrm>
            <a:off x="713232" y="1031004"/>
            <a:ext cx="978865" cy="0"/>
          </a:xfrm>
          <a:prstGeom prst="straightConnector1">
            <a:avLst/>
          </a:prstGeom>
          <a:noFill/>
          <a:ln w="76196" cap="flat">
            <a:solidFill>
              <a:srgbClr val="1973EB"/>
            </a:solidFill>
            <a:prstDash val="solid"/>
            <a:miter/>
          </a:ln>
        </p:spPr>
      </p:cxnSp>
      <p:sp>
        <p:nvSpPr>
          <p:cNvPr id="5" name="CasellaDiTesto 9">
            <a:extLst>
              <a:ext uri="{FF2B5EF4-FFF2-40B4-BE49-F238E27FC236}">
                <a16:creationId xmlns:a16="http://schemas.microsoft.com/office/drawing/2014/main" id="{A4F720BC-BF1E-2762-F1AE-D8C4D0DD667A}"/>
              </a:ext>
            </a:extLst>
          </p:cNvPr>
          <p:cNvSpPr txBox="1"/>
          <p:nvPr/>
        </p:nvSpPr>
        <p:spPr>
          <a:xfrm>
            <a:off x="640070" y="2468880"/>
            <a:ext cx="5752097" cy="3661714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91440" tIns="45720" rIns="91440" bIns="45720" anchor="t" anchorCtr="0" compatLnSpc="1">
            <a:normAutofit/>
          </a:bodyPr>
          <a:lstStyle/>
          <a:p>
            <a:pPr marL="0" marR="0" lvl="0" indent="0" algn="l" defTabSz="914400" rtl="0" fontAlgn="auto" hangingPunct="1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SzPct val="87000"/>
              <a:buFont typeface="Arial" pitchFamily="34"/>
              <a:buChar char="•"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it-IT" sz="1700" b="0" i="0" u="none" strike="noStrike" kern="1200" cap="none" spc="0" baseline="0">
                <a:solidFill>
                  <a:srgbClr val="000000"/>
                </a:solidFill>
                <a:uFillTx/>
                <a:latin typeface="Grandview Display"/>
              </a:rPr>
              <a:t> Per inizializzare la matrice, si avevano principalmente due scelte:</a:t>
            </a:r>
          </a:p>
          <a:p>
            <a:pPr marL="742950" marR="0" lvl="1" indent="-285750" algn="l" defTabSz="914400" rtl="0" fontAlgn="auto" hangingPunct="1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SzPct val="87000"/>
              <a:buFont typeface="Arial" pitchFamily="34"/>
              <a:buChar char="•"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it-IT" sz="1700" b="1" i="0" u="none" strike="noStrike" kern="1200" cap="none" spc="0" baseline="0">
                <a:solidFill>
                  <a:srgbClr val="000000"/>
                </a:solidFill>
                <a:uFillTx/>
                <a:latin typeface="Grandview Display"/>
              </a:rPr>
              <a:t>Inizializzazione con Calloc multipla: </a:t>
            </a:r>
            <a:r>
              <a:rPr lang="it-IT" sz="1700" b="0" i="0" u="none" strike="noStrike" kern="1200" cap="none" spc="0" baseline="0">
                <a:solidFill>
                  <a:srgbClr val="000000"/>
                </a:solidFill>
                <a:uFillTx/>
                <a:latin typeface="Grandview Display"/>
              </a:rPr>
              <a:t>chiamare più volte la calloc, genera più sequenze di memorie contigue ma che, tra di loro, non lo sono, rischiando di avere un maggior numero di cache miss.</a:t>
            </a:r>
          </a:p>
          <a:p>
            <a:pPr marL="742950" marR="0" lvl="1" indent="-285750" algn="l" defTabSz="914400" rtl="0" fontAlgn="auto" hangingPunct="1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SzPct val="87000"/>
              <a:buFont typeface="Arial" pitchFamily="34"/>
              <a:buChar char="•"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it-IT" sz="1700" b="1" i="0" u="none" strike="noStrike" kern="1200" cap="none" spc="0" baseline="0">
                <a:solidFill>
                  <a:srgbClr val="000000"/>
                </a:solidFill>
                <a:uFillTx/>
                <a:latin typeface="Grandview Display"/>
              </a:rPr>
              <a:t>Inizializzazione con Calloc singola: </a:t>
            </a:r>
            <a:r>
              <a:rPr lang="it-IT" sz="1700" b="0" i="0" u="none" strike="noStrike" kern="1200" cap="none" spc="0" baseline="0">
                <a:solidFill>
                  <a:srgbClr val="000000"/>
                </a:solidFill>
                <a:uFillTx/>
                <a:latin typeface="Grandview Display"/>
              </a:rPr>
              <a:t>utilizzare una singola calloc fa sì che otteniamo una sola sequenza di memoria contigua che siamo, però, costretti a gestire come una matrice attraverso l’aritmetica dei puntatori.</a:t>
            </a:r>
            <a:endParaRPr lang="it-IT" sz="1700" b="1" i="0" u="none" strike="noStrike" kern="1200" cap="none" spc="0" baseline="0">
              <a:solidFill>
                <a:srgbClr val="000000"/>
              </a:solidFill>
              <a:uFillTx/>
              <a:latin typeface="Grandview Display"/>
            </a:endParaRPr>
          </a:p>
        </p:txBody>
      </p:sp>
      <p:pic>
        <p:nvPicPr>
          <p:cNvPr id="6" name="Immagine 19">
            <a:extLst>
              <a:ext uri="{FF2B5EF4-FFF2-40B4-BE49-F238E27FC236}">
                <a16:creationId xmlns:a16="http://schemas.microsoft.com/office/drawing/2014/main" id="{713378E9-E6FF-EEDF-1950-B37DC265A1F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22477" y="1752593"/>
            <a:ext cx="4929448" cy="1924263"/>
          </a:xfrm>
          <a:prstGeom prst="rect">
            <a:avLst/>
          </a:prstGeom>
          <a:noFill/>
          <a:ln cap="flat">
            <a:noFill/>
          </a:ln>
        </p:spPr>
      </p:pic>
      <p:pic>
        <p:nvPicPr>
          <p:cNvPr id="7" name="Immagine 21">
            <a:extLst>
              <a:ext uri="{FF2B5EF4-FFF2-40B4-BE49-F238E27FC236}">
                <a16:creationId xmlns:a16="http://schemas.microsoft.com/office/drawing/2014/main" id="{FF24AF6D-034E-8165-B5D2-9961271823EF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157" t="26947" r="1930" b="20209"/>
          <a:stretch>
            <a:fillRect/>
          </a:stretch>
        </p:blipFill>
        <p:spPr>
          <a:xfrm>
            <a:off x="4057650" y="5914531"/>
            <a:ext cx="8134346" cy="428625"/>
          </a:xfrm>
          <a:prstGeom prst="rect">
            <a:avLst/>
          </a:prstGeom>
          <a:noFill/>
          <a:ln cap="flat">
            <a:noFill/>
          </a:ln>
        </p:spPr>
      </p:pic>
      <p:cxnSp>
        <p:nvCxnSpPr>
          <p:cNvPr id="8" name="Connettore 2 23">
            <a:extLst>
              <a:ext uri="{FF2B5EF4-FFF2-40B4-BE49-F238E27FC236}">
                <a16:creationId xmlns:a16="http://schemas.microsoft.com/office/drawing/2014/main" id="{45D98BFC-4BC3-9717-AF1D-C0DEA6B5E8E0}"/>
              </a:ext>
            </a:extLst>
          </p:cNvPr>
          <p:cNvCxnSpPr/>
          <p:nvPr/>
        </p:nvCxnSpPr>
        <p:spPr>
          <a:xfrm>
            <a:off x="6053584" y="5399678"/>
            <a:ext cx="677168" cy="456706"/>
          </a:xfrm>
          <a:prstGeom prst="straightConnector1">
            <a:avLst/>
          </a:prstGeom>
          <a:noFill/>
          <a:ln w="6345" cap="flat">
            <a:solidFill>
              <a:srgbClr val="FD0505"/>
            </a:solidFill>
            <a:prstDash val="solid"/>
            <a:miter/>
            <a:tailEnd type="arrow"/>
          </a:ln>
        </p:spPr>
      </p:cxnSp>
      <p:cxnSp>
        <p:nvCxnSpPr>
          <p:cNvPr id="9" name="Connettore 2 25">
            <a:extLst>
              <a:ext uri="{FF2B5EF4-FFF2-40B4-BE49-F238E27FC236}">
                <a16:creationId xmlns:a16="http://schemas.microsoft.com/office/drawing/2014/main" id="{60CE1441-FF5F-E5CA-CD04-09FCE4A3AE57}"/>
              </a:ext>
            </a:extLst>
          </p:cNvPr>
          <p:cNvCxnSpPr/>
          <p:nvPr/>
        </p:nvCxnSpPr>
        <p:spPr>
          <a:xfrm flipV="1">
            <a:off x="6060496" y="3297362"/>
            <a:ext cx="561981" cy="485775"/>
          </a:xfrm>
          <a:prstGeom prst="straightConnector1">
            <a:avLst/>
          </a:prstGeom>
          <a:noFill/>
          <a:ln w="6345" cap="flat">
            <a:solidFill>
              <a:srgbClr val="FF0000"/>
            </a:solidFill>
            <a:prstDash val="solid"/>
            <a:miter/>
            <a:tailEnd type="arrow"/>
          </a:ln>
        </p:spPr>
      </p:cxn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" name="Straight Connector 26">
            <a:extLst>
              <a:ext uri="{FF2B5EF4-FFF2-40B4-BE49-F238E27FC236}">
                <a16:creationId xmlns:a16="http://schemas.microsoft.com/office/drawing/2014/main" id="{AD6A9582-B99B-9961-F23E-15048402BBF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Move="1" noResize="1"/>
          </p:cNvCxnSpPr>
          <p:nvPr/>
        </p:nvCxnSpPr>
        <p:spPr>
          <a:xfrm>
            <a:off x="713232" y="1031004"/>
            <a:ext cx="978865" cy="0"/>
          </a:xfrm>
          <a:prstGeom prst="straightConnector1">
            <a:avLst/>
          </a:prstGeom>
          <a:noFill/>
          <a:ln w="76196" cap="flat">
            <a:solidFill>
              <a:srgbClr val="1973EB"/>
            </a:solidFill>
            <a:prstDash val="solid"/>
            <a:miter/>
          </a:ln>
        </p:spPr>
      </p:cxnSp>
      <p:sp>
        <p:nvSpPr>
          <p:cNvPr id="3" name="Rectangle 28">
            <a:extLst>
              <a:ext uri="{FF2B5EF4-FFF2-40B4-BE49-F238E27FC236}">
                <a16:creationId xmlns:a16="http://schemas.microsoft.com/office/drawing/2014/main" id="{EB4964EA-2F1C-8554-BB67-41F919357A7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Move="1" noResize="1"/>
          </p:cNvSpPr>
          <p:nvPr/>
        </p:nvSpPr>
        <p:spPr>
          <a:xfrm>
            <a:off x="0" y="0"/>
            <a:ext cx="12191996" cy="6858000"/>
          </a:xfrm>
          <a:prstGeom prst="rect">
            <a:avLst/>
          </a:prstGeom>
          <a:solidFill>
            <a:srgbClr val="FFFFFF"/>
          </a:solidFill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4572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US" sz="1800" b="0" i="0" u="none" strike="noStrike" kern="1200" cap="none" spc="0" baseline="0">
              <a:solidFill>
                <a:srgbClr val="FFFFFF"/>
              </a:solidFill>
              <a:uFillTx/>
              <a:latin typeface="Grandview Display"/>
            </a:endParaRPr>
          </a:p>
        </p:txBody>
      </p:sp>
      <p:sp>
        <p:nvSpPr>
          <p:cNvPr id="4" name="Titolo 1">
            <a:extLst>
              <a:ext uri="{FF2B5EF4-FFF2-40B4-BE49-F238E27FC236}">
                <a16:creationId xmlns:a16="http://schemas.microsoft.com/office/drawing/2014/main" id="{D3B14F1A-AE47-96E9-46A8-1753BF636DD9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992572" y="1171145"/>
            <a:ext cx="10168109" cy="955511"/>
          </a:xfrm>
        </p:spPr>
        <p:txBody>
          <a:bodyPr anchorCtr="1"/>
          <a:lstStyle/>
          <a:p>
            <a:pPr lvl="0" algn="ctr"/>
            <a:r>
              <a:rPr lang="en-US" sz="4800"/>
              <a:t>Codice sequenziale – Inizializzazione</a:t>
            </a:r>
          </a:p>
        </p:txBody>
      </p:sp>
      <p:pic>
        <p:nvPicPr>
          <p:cNvPr id="7" name="Segnaposto contenuto 14">
            <a:extLst>
              <a:ext uri="{FF2B5EF4-FFF2-40B4-BE49-F238E27FC236}">
                <a16:creationId xmlns:a16="http://schemas.microsoft.com/office/drawing/2014/main" id="{0292EFF8-4FA1-70F6-F391-BA6B1279DDC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713232" y="2829427"/>
            <a:ext cx="5497180" cy="1662900"/>
          </a:xfrm>
        </p:spPr>
      </p:pic>
      <p:cxnSp>
        <p:nvCxnSpPr>
          <p:cNvPr id="5" name="Straight Connector 30">
            <a:extLst>
              <a:ext uri="{FF2B5EF4-FFF2-40B4-BE49-F238E27FC236}">
                <a16:creationId xmlns:a16="http://schemas.microsoft.com/office/drawing/2014/main" id="{681B5981-0C85-F4D8-89AB-50AD2F3FBF3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Move="1" noResize="1"/>
          </p:cNvCxnSpPr>
          <p:nvPr/>
        </p:nvCxnSpPr>
        <p:spPr>
          <a:xfrm>
            <a:off x="992572" y="914400"/>
            <a:ext cx="10208828" cy="0"/>
          </a:xfrm>
          <a:prstGeom prst="straightConnector1">
            <a:avLst/>
          </a:prstGeom>
          <a:noFill/>
          <a:ln w="76196" cap="flat">
            <a:solidFill>
              <a:srgbClr val="1973EB"/>
            </a:solidFill>
            <a:prstDash val="solid"/>
            <a:miter/>
          </a:ln>
        </p:spPr>
      </p:cxnSp>
      <p:pic>
        <p:nvPicPr>
          <p:cNvPr id="6" name="Immagine 10">
            <a:extLst>
              <a:ext uri="{FF2B5EF4-FFF2-40B4-BE49-F238E27FC236}">
                <a16:creationId xmlns:a16="http://schemas.microsoft.com/office/drawing/2014/main" id="{79DF628D-778A-1C99-7016-8FF69650C21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56100" y="2842531"/>
            <a:ext cx="4504572" cy="3299603"/>
          </a:xfrm>
          <a:prstGeom prst="rect">
            <a:avLst/>
          </a:prstGeom>
          <a:noFill/>
          <a:ln cap="flat">
            <a:noFill/>
          </a:ln>
        </p:spPr>
      </p:pic>
      <p:pic>
        <p:nvPicPr>
          <p:cNvPr id="8" name="Immagine 16">
            <a:extLst>
              <a:ext uri="{FF2B5EF4-FFF2-40B4-BE49-F238E27FC236}">
                <a16:creationId xmlns:a16="http://schemas.microsoft.com/office/drawing/2014/main" id="{44074279-E68C-46AF-3B6F-C707D6413BD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3232" y="4731343"/>
            <a:ext cx="5582128" cy="1038895"/>
          </a:xfrm>
          <a:prstGeom prst="rect">
            <a:avLst/>
          </a:prstGeom>
          <a:noFill/>
          <a:ln cap="flat">
            <a:noFill/>
          </a:ln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3">
            <a:extLst>
              <a:ext uri="{FF2B5EF4-FFF2-40B4-BE49-F238E27FC236}">
                <a16:creationId xmlns:a16="http://schemas.microsoft.com/office/drawing/2014/main" id="{1ECE44B2-0531-C49F-9642-A6D061DD6B6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Move="1" noResize="1"/>
          </p:cNvSpPr>
          <p:nvPr/>
        </p:nvSpPr>
        <p:spPr>
          <a:xfrm>
            <a:off x="0" y="0"/>
            <a:ext cx="12191996" cy="6858000"/>
          </a:xfrm>
          <a:prstGeom prst="rect">
            <a:avLst/>
          </a:prstGeom>
          <a:solidFill>
            <a:srgbClr val="FFFFFF"/>
          </a:solidFill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4572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US" sz="1800" b="0" i="0" u="none" strike="noStrike" kern="1200" cap="none" spc="0" baseline="0">
              <a:solidFill>
                <a:srgbClr val="FFFFFF"/>
              </a:solidFill>
              <a:uFillTx/>
              <a:latin typeface="Grandview Display"/>
            </a:endParaRPr>
          </a:p>
        </p:txBody>
      </p:sp>
      <p:sp>
        <p:nvSpPr>
          <p:cNvPr id="3" name="Titolo 1">
            <a:extLst>
              <a:ext uri="{FF2B5EF4-FFF2-40B4-BE49-F238E27FC236}">
                <a16:creationId xmlns:a16="http://schemas.microsoft.com/office/drawing/2014/main" id="{68C60361-B12E-7645-60B3-1E30E20431EF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40080" y="914400"/>
            <a:ext cx="10847490" cy="1171072"/>
          </a:xfrm>
        </p:spPr>
        <p:txBody>
          <a:bodyPr/>
          <a:lstStyle/>
          <a:p>
            <a:pPr lvl="0"/>
            <a:r>
              <a:rPr lang="it-IT"/>
              <a:t>Codice sequenziale – Calcolo</a:t>
            </a:r>
          </a:p>
        </p:txBody>
      </p:sp>
      <p:sp>
        <p:nvSpPr>
          <p:cNvPr id="5" name="Segnaposto contenuto 6">
            <a:extLst>
              <a:ext uri="{FF2B5EF4-FFF2-40B4-BE49-F238E27FC236}">
                <a16:creationId xmlns:a16="http://schemas.microsoft.com/office/drawing/2014/main" id="{D5A1F5DD-D28A-D669-AE59-1485BE570D60}"/>
              </a:ext>
            </a:extLst>
          </p:cNvPr>
          <p:cNvSpPr txBox="1">
            <a:spLocks noGrp="1"/>
          </p:cNvSpPr>
          <p:nvPr>
            <p:ph idx="1"/>
          </p:nvPr>
        </p:nvSpPr>
        <p:spPr>
          <a:xfrm>
            <a:off x="6915149" y="2256291"/>
            <a:ext cx="4563614" cy="3760460"/>
          </a:xfrm>
        </p:spPr>
        <p:txBody>
          <a:bodyPr/>
          <a:lstStyle/>
          <a:p>
            <a:pPr lvl="0"/>
            <a:r>
              <a:rPr lang="it-IT"/>
              <a:t>Il codice sequenziale, banalmente, ricalca alla perfezione quello che è lo pseudocodice visto precedentemente.</a:t>
            </a:r>
          </a:p>
        </p:txBody>
      </p:sp>
      <p:pic>
        <p:nvPicPr>
          <p:cNvPr id="4" name="Immagine 8">
            <a:extLst>
              <a:ext uri="{FF2B5EF4-FFF2-40B4-BE49-F238E27FC236}">
                <a16:creationId xmlns:a16="http://schemas.microsoft.com/office/drawing/2014/main" id="{F3FBECBC-2AE3-5176-B827-DE37CB5AEDD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3207" y="1499936"/>
            <a:ext cx="6401943" cy="4657414"/>
          </a:xfrm>
          <a:prstGeom prst="rect">
            <a:avLst/>
          </a:prstGeom>
          <a:noFill/>
          <a:ln cap="flat">
            <a:noFill/>
          </a:ln>
        </p:spPr>
      </p:pic>
      <p:cxnSp>
        <p:nvCxnSpPr>
          <p:cNvPr id="6" name="Straight Connector 25">
            <a:extLst>
              <a:ext uri="{FF2B5EF4-FFF2-40B4-BE49-F238E27FC236}">
                <a16:creationId xmlns:a16="http://schemas.microsoft.com/office/drawing/2014/main" id="{8A47BDFE-DFF4-5677-E6A3-FEE9244A44A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Move="1" noResize="1"/>
          </p:cNvCxnSpPr>
          <p:nvPr/>
        </p:nvCxnSpPr>
        <p:spPr>
          <a:xfrm>
            <a:off x="672248" y="6272783"/>
            <a:ext cx="10847500" cy="0"/>
          </a:xfrm>
          <a:prstGeom prst="straightConnector1">
            <a:avLst/>
          </a:prstGeom>
          <a:noFill/>
          <a:ln w="76196" cap="flat">
            <a:solidFill>
              <a:srgbClr val="1973EB"/>
            </a:solidFill>
            <a:prstDash val="solid"/>
            <a:miter/>
          </a:ln>
        </p:spPr>
      </p:cxn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4D3C7B53-044B-5D21-F353-72BFB7AA5859}"/>
              </a:ext>
            </a:extLst>
          </p:cNvPr>
          <p:cNvSpPr txBox="1">
            <a:spLocks noGrp="1"/>
          </p:cNvSpPr>
          <p:nvPr>
            <p:ph type="title"/>
          </p:nvPr>
        </p:nvSpPr>
        <p:spPr/>
        <p:txBody>
          <a:bodyPr wrap="square" anchor="t">
            <a:normAutofit/>
          </a:bodyPr>
          <a:lstStyle/>
          <a:p>
            <a:pPr lvl="0"/>
            <a:r>
              <a:rPr lang="it-IT"/>
              <a:t>MPI– Topologia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F2C30C96-647A-C38B-E01A-D925D137F510}"/>
              </a:ext>
            </a:extLst>
          </p:cNvPr>
          <p:cNvSpPr txBox="1">
            <a:spLocks noGrp="1"/>
          </p:cNvSpPr>
          <p:nvPr>
            <p:ph type="body" idx="2"/>
          </p:nvPr>
        </p:nvSpPr>
        <p:spPr/>
        <p:txBody>
          <a:bodyPr wrap="square" anchor="t">
            <a:normAutofit/>
          </a:bodyPr>
          <a:lstStyle/>
          <a:p>
            <a:pPr lvl="0"/>
            <a:r>
              <a:rPr lang="it-IT" dirty="0"/>
              <a:t>La matrice viene divisa secondo un partizionamento orizzontale cercando di assegnare ad ogni processo un </a:t>
            </a:r>
            <a:r>
              <a:rPr lang="it-IT" b="1" dirty="0"/>
              <a:t>numero equo di righe da calcolare.</a:t>
            </a:r>
          </a:p>
          <a:p>
            <a:pPr lvl="0"/>
            <a:r>
              <a:rPr lang="it-IT" dirty="0"/>
              <a:t>Grazie all’uso di </a:t>
            </a:r>
            <a:r>
              <a:rPr lang="it-IT" b="1" dirty="0" err="1"/>
              <a:t>MPI_Cart_create</a:t>
            </a:r>
            <a:r>
              <a:rPr lang="it-IT" dirty="0"/>
              <a:t>, è possibile effettuare questo tipo di decomposizione molto facilmente gestendo facilmente l’identificazione e lo scambio di messaggi con i vicini tramite le </a:t>
            </a:r>
            <a:r>
              <a:rPr lang="it-IT" b="1" dirty="0"/>
              <a:t>righe di Halo</a:t>
            </a:r>
            <a:r>
              <a:rPr lang="it-IT" dirty="0"/>
              <a:t>.</a:t>
            </a:r>
          </a:p>
          <a:p>
            <a:pPr lvl="0"/>
            <a:endParaRPr lang="it-IT" dirty="0"/>
          </a:p>
        </p:txBody>
      </p:sp>
      <p:pic>
        <p:nvPicPr>
          <p:cNvPr id="4" name="Immagine 8">
            <a:extLst>
              <a:ext uri="{FF2B5EF4-FFF2-40B4-BE49-F238E27FC236}">
                <a16:creationId xmlns:a16="http://schemas.microsoft.com/office/drawing/2014/main" id="{09F0AFA6-40C3-1757-FE74-40DB197C905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56560" y="1033272"/>
            <a:ext cx="5555224" cy="5166359"/>
          </a:xfrm>
          <a:prstGeom prst="rect">
            <a:avLst/>
          </a:prstGeom>
          <a:noFill/>
          <a:ln cap="flat">
            <a:noFill/>
          </a:ln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1C64FD68-6942-C5F8-5C45-CFE66A53984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/>
              <a:t>MPI – </a:t>
            </a:r>
            <a:r>
              <a:rPr lang="en-GB" dirty="0"/>
              <a:t>Latency Hiding</a:t>
            </a:r>
            <a:endParaRPr lang="it-IT" dirty="0"/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9F577971-0454-FBAB-EE60-E5DAFC74C64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40080" y="2336533"/>
            <a:ext cx="4230303" cy="3794760"/>
          </a:xfrm>
        </p:spPr>
        <p:txBody>
          <a:bodyPr>
            <a:normAutofit fontScale="92500" lnSpcReduction="10000"/>
          </a:bodyPr>
          <a:lstStyle/>
          <a:p>
            <a:r>
              <a:rPr lang="it-IT" dirty="0"/>
              <a:t>Una volta identificati i vicini tramite la </a:t>
            </a:r>
            <a:r>
              <a:rPr lang="it-IT" b="1" dirty="0" err="1"/>
              <a:t>MPI_Cart_shift</a:t>
            </a:r>
            <a:r>
              <a:rPr lang="it-IT" dirty="0"/>
              <a:t>, la prima cosa che facciamo dentro il do-while è proprio quella di inviare e ricevere gli </a:t>
            </a:r>
            <a:r>
              <a:rPr lang="it-IT" b="1" dirty="0"/>
              <a:t>Halo</a:t>
            </a:r>
            <a:r>
              <a:rPr lang="it-IT" dirty="0"/>
              <a:t> tramite chiamate </a:t>
            </a:r>
            <a:r>
              <a:rPr lang="it-IT" b="1" dirty="0"/>
              <a:t>asincrone</a:t>
            </a:r>
            <a:r>
              <a:rPr lang="it-IT" dirty="0"/>
              <a:t>, così ché, in attesa del completamento dello scambio, cominciamo ad effettuare i calcoli necessari, di fatto, riducendo l’impatto che ha la comunicazione sull’intero codice.</a:t>
            </a:r>
          </a:p>
          <a:p>
            <a:endParaRPr lang="it-IT" dirty="0"/>
          </a:p>
        </p:txBody>
      </p:sp>
      <p:pic>
        <p:nvPicPr>
          <p:cNvPr id="5" name="Immagine 4">
            <a:extLst>
              <a:ext uri="{FF2B5EF4-FFF2-40B4-BE49-F238E27FC236}">
                <a16:creationId xmlns:a16="http://schemas.microsoft.com/office/drawing/2014/main" id="{95F66DDA-677B-6F24-6BAE-504D29A3B12C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4262"/>
          <a:stretch>
            <a:fillRect/>
          </a:stretch>
        </p:blipFill>
        <p:spPr>
          <a:xfrm>
            <a:off x="4671933" y="4235548"/>
            <a:ext cx="7520067" cy="2060043"/>
          </a:xfrm>
          <a:prstGeom prst="rect">
            <a:avLst/>
          </a:prstGeom>
        </p:spPr>
      </p:pic>
      <p:pic>
        <p:nvPicPr>
          <p:cNvPr id="7" name="Segnaposto contenuto 6">
            <a:extLst>
              <a:ext uri="{FF2B5EF4-FFF2-40B4-BE49-F238E27FC236}">
                <a16:creationId xmlns:a16="http://schemas.microsoft.com/office/drawing/2014/main" id="{57A37A00-A936-EF65-DAA2-DE2500A619A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70896" y="2468880"/>
            <a:ext cx="5245769" cy="1345069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32737115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66B3887D-27D9-4BFD-7A9F-B5D2558FAD8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wrap="square" anchor="t">
            <a:normAutofit/>
          </a:bodyPr>
          <a:lstStyle/>
          <a:p>
            <a:r>
              <a:rPr lang="it-IT" dirty="0"/>
              <a:t>MPI – Calcolo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08BD9FCC-B365-05EA-BD18-8662E0C3EDA8}"/>
              </a:ext>
            </a:extLst>
          </p:cNvPr>
          <p:cNvSpPr>
            <a:spLocks noGrp="1"/>
          </p:cNvSpPr>
          <p:nvPr>
            <p:ph type="body" idx="2"/>
          </p:nvPr>
        </p:nvSpPr>
        <p:spPr/>
        <p:txBody>
          <a:bodyPr wrap="square" anchor="t">
            <a:normAutofit/>
          </a:bodyPr>
          <a:lstStyle/>
          <a:p>
            <a:r>
              <a:rPr lang="it-IT" dirty="0"/>
              <a:t>Il calcolo interno in questa versione viene fatto senza utilizzo di ulteriori Thread, lavorando esclusivamente in sequenziale. Tutte le righe vengono calcolate normalmente meno che la prima e l’ultima che verranno calcolate successivamente dopo che si è certi che si è ricevuto l’Halo dai vicini. </a:t>
            </a:r>
          </a:p>
        </p:txBody>
      </p:sp>
      <p:pic>
        <p:nvPicPr>
          <p:cNvPr id="11" name="Immagine 10">
            <a:extLst>
              <a:ext uri="{FF2B5EF4-FFF2-40B4-BE49-F238E27FC236}">
                <a16:creationId xmlns:a16="http://schemas.microsoft.com/office/drawing/2014/main" id="{7A9EA59F-F723-4884-F9E8-1945C1BA4D9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59096" y="1785237"/>
            <a:ext cx="6592824" cy="3065662"/>
          </a:xfrm>
          <a:prstGeom prst="rect">
            <a:avLst/>
          </a:prstGeom>
          <a:noFill/>
        </p:spPr>
      </p:pic>
    </p:spTree>
    <p:extLst>
      <p:ext uri="{BB962C8B-B14F-4D97-AF65-F5344CB8AC3E}">
        <p14:creationId xmlns:p14="http://schemas.microsoft.com/office/powerpoint/2010/main" val="26739556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DB55ABAD-810C-43FF-372A-A9B3826EDA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50538" y="1121343"/>
            <a:ext cx="10890924" cy="1097280"/>
          </a:xfrm>
        </p:spPr>
        <p:txBody>
          <a:bodyPr wrap="square" anchor="t">
            <a:normAutofit/>
          </a:bodyPr>
          <a:lstStyle/>
          <a:p>
            <a:r>
              <a:rPr lang="it-IT" noProof="0" dirty="0"/>
              <a:t>MPI – Calcolo – </a:t>
            </a:r>
            <a:r>
              <a:rPr lang="it-IT" noProof="0" dirty="0" err="1"/>
              <a:t>Waitall</a:t>
            </a:r>
            <a:r>
              <a:rPr lang="it-IT" noProof="0" dirty="0"/>
              <a:t> </a:t>
            </a:r>
          </a:p>
        </p:txBody>
      </p:sp>
      <p:pic>
        <p:nvPicPr>
          <p:cNvPr id="6" name="Segnaposto immagine 5">
            <a:extLst>
              <a:ext uri="{FF2B5EF4-FFF2-40B4-BE49-F238E27FC236}">
                <a16:creationId xmlns:a16="http://schemas.microsoft.com/office/drawing/2014/main" id="{B98DB1A3-BABB-9AB8-4B86-7179945BEB5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rcRect r="-2" b="1196"/>
          <a:stretch>
            <a:fillRect/>
          </a:stretch>
        </p:blipFill>
        <p:spPr>
          <a:xfrm>
            <a:off x="0" y="1810005"/>
            <a:ext cx="6915752" cy="4731830"/>
          </a:xfrm>
          <a:prstGeom prst="rect">
            <a:avLst/>
          </a:prstGeom>
          <a:noFill/>
          <a:ln>
            <a:noFill/>
          </a:ln>
        </p:spPr>
      </p:pic>
      <p:sp>
        <p:nvSpPr>
          <p:cNvPr id="11" name="Text Placeholder 3">
            <a:extLst>
              <a:ext uri="{FF2B5EF4-FFF2-40B4-BE49-F238E27FC236}">
                <a16:creationId xmlns:a16="http://schemas.microsoft.com/office/drawing/2014/main" id="{D207C738-0CFB-1A4D-1C03-86076B30BC97}"/>
              </a:ext>
            </a:extLst>
          </p:cNvPr>
          <p:cNvSpPr>
            <a:spLocks noGrp="1"/>
          </p:cNvSpPr>
          <p:nvPr>
            <p:ph idx="2"/>
          </p:nvPr>
        </p:nvSpPr>
        <p:spPr>
          <a:xfrm>
            <a:off x="7151570" y="2633472"/>
            <a:ext cx="4379433" cy="3566160"/>
          </a:xfrm>
        </p:spPr>
        <p:txBody>
          <a:bodyPr wrap="square" anchor="t">
            <a:normAutofit/>
          </a:bodyPr>
          <a:lstStyle/>
          <a:p>
            <a:r>
              <a:rPr lang="it-IT" noProof="0" dirty="0"/>
              <a:t>A questo punto, una volta certi che abbiamo completato lo scambio con tutti i processi, possiamo calcolare le righe mancanti.</a:t>
            </a:r>
          </a:p>
        </p:txBody>
      </p:sp>
    </p:spTree>
    <p:extLst>
      <p:ext uri="{BB962C8B-B14F-4D97-AF65-F5344CB8AC3E}">
        <p14:creationId xmlns:p14="http://schemas.microsoft.com/office/powerpoint/2010/main" val="282664754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B73F1517-D17F-8AED-3B69-4D2098BEF9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wrap="square" anchor="t">
            <a:normAutofit/>
          </a:bodyPr>
          <a:lstStyle/>
          <a:p>
            <a:r>
              <a:rPr lang="it-IT" dirty="0"/>
              <a:t>MPI + </a:t>
            </a:r>
            <a:r>
              <a:rPr lang="it-IT" dirty="0" err="1"/>
              <a:t>OpenMP</a:t>
            </a:r>
            <a:endParaRPr lang="it-IT" dirty="0"/>
          </a:p>
        </p:txBody>
      </p:sp>
      <p:pic>
        <p:nvPicPr>
          <p:cNvPr id="6" name="Segnaposto contenuto 5">
            <a:extLst>
              <a:ext uri="{FF2B5EF4-FFF2-40B4-BE49-F238E27FC236}">
                <a16:creationId xmlns:a16="http://schemas.microsoft.com/office/drawing/2014/main" id="{3E85B865-F908-13A5-59CF-A5E925BC7697}"/>
              </a:ext>
            </a:extLst>
          </p:cNvPr>
          <p:cNvPicPr>
            <a:picLocks noGrp="1" noChangeAspect="1"/>
          </p:cNvPicPr>
          <p:nvPr>
            <p:ph type="pic" idx="1"/>
          </p:nvPr>
        </p:nvPicPr>
        <p:blipFill>
          <a:blip r:embed="rId2"/>
          <a:srcRect t="271"/>
          <a:stretch>
            <a:fillRect/>
          </a:stretch>
        </p:blipFill>
        <p:spPr>
          <a:xfrm>
            <a:off x="5973366" y="374650"/>
            <a:ext cx="5856081" cy="6125342"/>
          </a:xfrm>
          <a:prstGeom prst="rect">
            <a:avLst/>
          </a:prstGeom>
          <a:noFill/>
          <a:ln>
            <a:noFill/>
          </a:ln>
        </p:spPr>
      </p:pic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4D561801-8511-4BD4-CC81-45BB87F5A1A6}"/>
              </a:ext>
            </a:extLst>
          </p:cNvPr>
          <p:cNvSpPr>
            <a:spLocks noGrp="1"/>
          </p:cNvSpPr>
          <p:nvPr>
            <p:ph type="body" idx="2"/>
          </p:nvPr>
        </p:nvSpPr>
        <p:spPr>
          <a:xfrm>
            <a:off x="640080" y="2972165"/>
            <a:ext cx="4819160" cy="2613823"/>
          </a:xfrm>
        </p:spPr>
        <p:txBody>
          <a:bodyPr wrap="square" anchor="t">
            <a:normAutofit/>
          </a:bodyPr>
          <a:lstStyle/>
          <a:p>
            <a:r>
              <a:rPr lang="it-IT" b="1" dirty="0"/>
              <a:t>Macro-partizionamento (MPI):</a:t>
            </a:r>
            <a:r>
              <a:rPr lang="it-IT" dirty="0"/>
              <a:t> Suddivide il dominio 2D in strisce orizzontali e gestisce lo scambio asincrono degli Halo (Ghost </a:t>
            </a:r>
            <a:r>
              <a:rPr lang="it-IT" dirty="0" err="1"/>
              <a:t>Cells</a:t>
            </a:r>
            <a:r>
              <a:rPr lang="it-IT" dirty="0"/>
              <a:t>) tra i nodi.</a:t>
            </a:r>
          </a:p>
          <a:p>
            <a:r>
              <a:rPr lang="it-IT" b="1" dirty="0"/>
              <a:t>Micro-partizionamento (</a:t>
            </a:r>
            <a:r>
              <a:rPr lang="it-IT" b="1" dirty="0" err="1"/>
              <a:t>OpenMP</a:t>
            </a:r>
            <a:r>
              <a:rPr lang="it-IT" b="1" dirty="0"/>
              <a:t>):</a:t>
            </a:r>
            <a:r>
              <a:rPr lang="it-IT" dirty="0"/>
              <a:t> </a:t>
            </a:r>
            <a:r>
              <a:rPr lang="it-IT" b="1" dirty="0"/>
              <a:t>Parallelizza i cicli annidati</a:t>
            </a:r>
            <a:r>
              <a:rPr lang="it-IT" dirty="0"/>
              <a:t> per il calcolo dello stencil a 5 punti sfruttando tutti i core all'interno del singolo nodo.</a:t>
            </a:r>
          </a:p>
          <a:p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216751562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871E138E-F846-CDE8-B528-35D5A3E7AB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wrap="square" anchor="t">
            <a:normAutofit/>
          </a:bodyPr>
          <a:lstStyle/>
          <a:p>
            <a:r>
              <a:rPr lang="it-IT" dirty="0"/>
              <a:t>MPI + </a:t>
            </a:r>
            <a:r>
              <a:rPr lang="it-IT" dirty="0" err="1"/>
              <a:t>OpenMP</a:t>
            </a:r>
            <a:r>
              <a:rPr lang="it-IT" dirty="0"/>
              <a:t> – Inizializzazione </a:t>
            </a:r>
          </a:p>
        </p:txBody>
      </p:sp>
      <p:pic>
        <p:nvPicPr>
          <p:cNvPr id="6" name="Segnaposto immagine 5">
            <a:extLst>
              <a:ext uri="{FF2B5EF4-FFF2-40B4-BE49-F238E27FC236}">
                <a16:creationId xmlns:a16="http://schemas.microsoft.com/office/drawing/2014/main" id="{3915D1A8-EC41-0186-0CAA-B2A12A8A965D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/>
        </p:blipFill>
        <p:spPr>
          <a:xfrm>
            <a:off x="4937125" y="2432904"/>
            <a:ext cx="6594475" cy="2362080"/>
          </a:xfrm>
          <a:prstGeom prst="rect">
            <a:avLst/>
          </a:prstGeom>
          <a:noFill/>
          <a:ln>
            <a:noFill/>
          </a:ln>
        </p:spPr>
      </p:pic>
      <p:sp>
        <p:nvSpPr>
          <p:cNvPr id="4" name="Segnaposto testo 3">
            <a:extLst>
              <a:ext uri="{FF2B5EF4-FFF2-40B4-BE49-F238E27FC236}">
                <a16:creationId xmlns:a16="http://schemas.microsoft.com/office/drawing/2014/main" id="{6C5D7A0D-6F05-5EFB-0052-1363DA115F1E}"/>
              </a:ext>
            </a:extLst>
          </p:cNvPr>
          <p:cNvSpPr>
            <a:spLocks noGrp="1"/>
          </p:cNvSpPr>
          <p:nvPr>
            <p:ph type="body" idx="2"/>
          </p:nvPr>
        </p:nvSpPr>
        <p:spPr/>
        <p:txBody>
          <a:bodyPr wrap="square" anchor="t">
            <a:normAutofit/>
          </a:bodyPr>
          <a:lstStyle/>
          <a:p>
            <a:r>
              <a:rPr lang="it-IT" b="1" dirty="0"/>
              <a:t>Ottimizzazione NUMA:</a:t>
            </a:r>
            <a:r>
              <a:rPr lang="it-IT" dirty="0"/>
              <a:t> Implementazione della politica </a:t>
            </a:r>
            <a:r>
              <a:rPr lang="it-IT" i="1" dirty="0"/>
              <a:t>First-Touch</a:t>
            </a:r>
            <a:r>
              <a:rPr lang="it-IT" dirty="0"/>
              <a:t> in fase di inizializzazione per garantire la località dei dati.</a:t>
            </a:r>
          </a:p>
          <a:p>
            <a:r>
              <a:rPr lang="it-IT" b="1" dirty="0"/>
              <a:t>Vantaggio:</a:t>
            </a:r>
            <a:r>
              <a:rPr lang="it-IT" dirty="0"/>
              <a:t> Previene il sovraccarico del bus di memoria, un problema tipico quando un singolo thread (master) pre-alloca l'intera struttura dati.</a:t>
            </a:r>
          </a:p>
        </p:txBody>
      </p:sp>
    </p:spTree>
    <p:extLst>
      <p:ext uri="{BB962C8B-B14F-4D97-AF65-F5344CB8AC3E}">
        <p14:creationId xmlns:p14="http://schemas.microsoft.com/office/powerpoint/2010/main" val="123587429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F52B4C1B-262D-F31E-D03A-9888E390656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wrap="square" anchor="t">
            <a:normAutofit/>
          </a:bodyPr>
          <a:lstStyle/>
          <a:p>
            <a:r>
              <a:rPr lang="it-IT" noProof="0" dirty="0"/>
              <a:t>MPI + </a:t>
            </a:r>
            <a:r>
              <a:rPr lang="it-IT" noProof="0" dirty="0" err="1"/>
              <a:t>OpenMP</a:t>
            </a:r>
            <a:r>
              <a:rPr lang="it-IT" noProof="0" dirty="0"/>
              <a:t> - Calcolo</a:t>
            </a:r>
          </a:p>
        </p:txBody>
      </p:sp>
      <p:sp>
        <p:nvSpPr>
          <p:cNvPr id="11" name="Text Placeholder 3">
            <a:extLst>
              <a:ext uri="{FF2B5EF4-FFF2-40B4-BE49-F238E27FC236}">
                <a16:creationId xmlns:a16="http://schemas.microsoft.com/office/drawing/2014/main" id="{EA25794F-11FF-B974-5911-B0DB7F93EA5C}"/>
              </a:ext>
            </a:extLst>
          </p:cNvPr>
          <p:cNvSpPr>
            <a:spLocks noGrp="1"/>
          </p:cNvSpPr>
          <p:nvPr>
            <p:ph type="body" idx="2"/>
          </p:nvPr>
        </p:nvSpPr>
        <p:spPr/>
        <p:txBody>
          <a:bodyPr wrap="square" anchor="t">
            <a:normAutofit/>
          </a:bodyPr>
          <a:lstStyle/>
          <a:p>
            <a:r>
              <a:rPr lang="it-IT" dirty="0"/>
              <a:t>Il calcolo interno è parallelizzato tramite </a:t>
            </a:r>
            <a:r>
              <a:rPr lang="it-IT" dirty="0" err="1"/>
              <a:t>OpenMP</a:t>
            </a:r>
            <a:r>
              <a:rPr lang="it-IT" dirty="0"/>
              <a:t> </a:t>
            </a:r>
            <a:r>
              <a:rPr lang="it-IT" b="1" dirty="0"/>
              <a:t>(#pragma </a:t>
            </a:r>
            <a:r>
              <a:rPr lang="it-IT" b="1" dirty="0" err="1"/>
              <a:t>omp</a:t>
            </a:r>
            <a:r>
              <a:rPr lang="it-IT" b="1" dirty="0"/>
              <a:t> </a:t>
            </a:r>
            <a:r>
              <a:rPr lang="it-IT" b="1" dirty="0" err="1"/>
              <a:t>parallel</a:t>
            </a:r>
            <a:r>
              <a:rPr lang="it-IT" b="1" dirty="0"/>
              <a:t> for</a:t>
            </a:r>
            <a:r>
              <a:rPr lang="it-IT" dirty="0"/>
              <a:t>). Per evitare </a:t>
            </a:r>
            <a:r>
              <a:rPr lang="it-IT" i="1" dirty="0"/>
              <a:t>data race</a:t>
            </a:r>
            <a:r>
              <a:rPr lang="it-IT" dirty="0"/>
              <a:t> sulla variabile globale </a:t>
            </a:r>
            <a:r>
              <a:rPr lang="it-IT" b="1" dirty="0"/>
              <a:t>differenza</a:t>
            </a:r>
            <a:r>
              <a:rPr lang="it-IT" dirty="0"/>
              <a:t> – che causerebbe la perdita di aggiornamenti e corromperebbe la verifica di convergenza – è obbligatorio proteggere l'accumulo con la clausola </a:t>
            </a:r>
            <a:r>
              <a:rPr lang="it-IT" b="1" dirty="0" err="1"/>
              <a:t>reduction</a:t>
            </a:r>
            <a:r>
              <a:rPr lang="it-IT" b="1" dirty="0"/>
              <a:t>(+:differenza).</a:t>
            </a:r>
            <a:endParaRPr lang="it-IT" b="1" noProof="0" dirty="0"/>
          </a:p>
        </p:txBody>
      </p:sp>
      <p:pic>
        <p:nvPicPr>
          <p:cNvPr id="6" name="Immagine 5">
            <a:extLst>
              <a:ext uri="{FF2B5EF4-FFF2-40B4-BE49-F238E27FC236}">
                <a16:creationId xmlns:a16="http://schemas.microsoft.com/office/drawing/2014/main" id="{9D72504C-D3E4-58AB-A4AE-BE5766A10C34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-727"/>
          <a:stretch>
            <a:fillRect/>
          </a:stretch>
        </p:blipFill>
        <p:spPr>
          <a:xfrm>
            <a:off x="4499478" y="1048888"/>
            <a:ext cx="7692522" cy="5632288"/>
          </a:xfrm>
          <a:prstGeom prst="rect">
            <a:avLst/>
          </a:prstGeom>
          <a:noFill/>
        </p:spPr>
      </p:pic>
    </p:spTree>
    <p:extLst>
      <p:ext uri="{BB962C8B-B14F-4D97-AF65-F5344CB8AC3E}">
        <p14:creationId xmlns:p14="http://schemas.microsoft.com/office/powerpoint/2010/main" val="14975298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2349ACF0-3807-AD51-3B76-19564753781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0080" y="1371600"/>
            <a:ext cx="10890924" cy="1097280"/>
          </a:xfrm>
        </p:spPr>
        <p:txBody>
          <a:bodyPr wrap="square" anchor="t">
            <a:normAutofit/>
          </a:bodyPr>
          <a:lstStyle/>
          <a:p>
            <a:r>
              <a:rPr lang="it-IT" dirty="0" err="1"/>
              <a:t>OpenMP</a:t>
            </a:r>
            <a:endParaRPr lang="it-IT" dirty="0"/>
          </a:p>
        </p:txBody>
      </p:sp>
      <p:sp>
        <p:nvSpPr>
          <p:cNvPr id="4" name="Segnaposto testo 3">
            <a:extLst>
              <a:ext uri="{FF2B5EF4-FFF2-40B4-BE49-F238E27FC236}">
                <a16:creationId xmlns:a16="http://schemas.microsoft.com/office/drawing/2014/main" id="{25292627-5D7F-DE0A-5853-EFB812E50C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40080" y="2633472"/>
            <a:ext cx="5212080" cy="3566160"/>
          </a:xfrm>
        </p:spPr>
        <p:txBody>
          <a:bodyPr wrap="square" anchor="t">
            <a:normAutofit/>
          </a:bodyPr>
          <a:lstStyle/>
          <a:p>
            <a:r>
              <a:rPr lang="it-IT" dirty="0"/>
              <a:t>A questo punto, per avere una panoramica completa. Si è scelto di effettuare dei test usando una versione basata esclusivamente su </a:t>
            </a:r>
            <a:r>
              <a:rPr lang="it-IT" dirty="0" err="1"/>
              <a:t>OpenMP</a:t>
            </a:r>
            <a:r>
              <a:rPr lang="it-IT" dirty="0"/>
              <a:t> mantenendo la struttura vista precedentemente vista.</a:t>
            </a:r>
          </a:p>
        </p:txBody>
      </p:sp>
      <p:pic>
        <p:nvPicPr>
          <p:cNvPr id="8" name="Immagine 7">
            <a:extLst>
              <a:ext uri="{FF2B5EF4-FFF2-40B4-BE49-F238E27FC236}">
                <a16:creationId xmlns:a16="http://schemas.microsoft.com/office/drawing/2014/main" id="{6364650F-3FCD-B42F-0B1A-1B2964300AF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39842" y="1173593"/>
            <a:ext cx="5523120" cy="5026039"/>
          </a:xfrm>
          <a:prstGeom prst="rect">
            <a:avLst/>
          </a:prstGeom>
          <a:noFill/>
        </p:spPr>
      </p:pic>
    </p:spTree>
    <p:extLst>
      <p:ext uri="{BB962C8B-B14F-4D97-AF65-F5344CB8AC3E}">
        <p14:creationId xmlns:p14="http://schemas.microsoft.com/office/powerpoint/2010/main" val="405639001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61E4177B-5BED-732D-416F-4A3E8F6078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/>
              <a:t>Metriche di Analisi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Segnaposto contenuto 7">
                <a:extLst>
                  <a:ext uri="{FF2B5EF4-FFF2-40B4-BE49-F238E27FC236}">
                    <a16:creationId xmlns:a16="http://schemas.microsoft.com/office/drawing/2014/main" id="{A6E9697B-30F9-9129-BEAA-86E3543871D3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488933" y="2398490"/>
                <a:ext cx="11214133" cy="3981262"/>
              </a:xfrm>
            </p:spPr>
            <p:txBody>
              <a:bodyPr>
                <a:normAutofit fontScale="77500" lnSpcReduction="20000"/>
              </a:bodyPr>
              <a:lstStyle/>
              <a:p>
                <a:pPr marL="0" indent="0">
                  <a:buNone/>
                </a:pPr>
                <a:r>
                  <a:rPr lang="it-IT" sz="2300" dirty="0"/>
                  <a:t>Per analizzare le prestazioni del codice, sono state considerate:</a:t>
                </a:r>
              </a:p>
              <a:p>
                <a:pPr lvl="1"/>
                <a:r>
                  <a:rPr lang="en-US" sz="2300" b="1" noProof="0" dirty="0"/>
                  <a:t>Speedup</a:t>
                </a:r>
                <a:r>
                  <a:rPr lang="it-IT" sz="2300" b="1" dirty="0"/>
                  <a:t> =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it-IT" sz="2300" b="1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300" b="1" i="1" smtClean="0">
                            <a:latin typeface="Cambria Math" panose="02040503050406030204" pitchFamily="18" charset="0"/>
                          </a:rPr>
                          <m:t>𝑺</m:t>
                        </m:r>
                      </m:e>
                      <m:sub>
                        <m:r>
                          <a:rPr lang="it-IT" sz="2300" b="1" i="1" smtClean="0">
                            <a:latin typeface="Cambria Math" panose="02040503050406030204" pitchFamily="18" charset="0"/>
                          </a:rPr>
                          <m:t>𝒑</m:t>
                        </m:r>
                      </m:sub>
                    </m:sSub>
                    <m:r>
                      <a:rPr lang="it-IT" sz="2300" b="1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it-IT" sz="2300" b="1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it-IT" sz="2300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it-IT" sz="2300" b="1" i="1" smtClean="0">
                                <a:latin typeface="Cambria Math" panose="02040503050406030204" pitchFamily="18" charset="0"/>
                              </a:rPr>
                              <m:t>𝑻</m:t>
                            </m:r>
                          </m:e>
                          <m:sub>
                            <m:r>
                              <a:rPr lang="it-IT" sz="2300" b="1" i="1" smtClean="0">
                                <a:latin typeface="Cambria Math" panose="02040503050406030204" pitchFamily="18" charset="0"/>
                              </a:rPr>
                              <m:t>𝟏</m:t>
                            </m:r>
                          </m:sub>
                        </m:sSub>
                      </m:num>
                      <m:den>
                        <m:sSub>
                          <m:sSubPr>
                            <m:ctrlPr>
                              <a:rPr lang="it-IT" sz="2300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it-IT" sz="2300" b="1" i="1" smtClean="0">
                                <a:latin typeface="Cambria Math" panose="02040503050406030204" pitchFamily="18" charset="0"/>
                              </a:rPr>
                              <m:t>𝑻</m:t>
                            </m:r>
                          </m:e>
                          <m:sub>
                            <m:r>
                              <a:rPr lang="it-IT" sz="2300" b="1" i="1" smtClean="0">
                                <a:latin typeface="Cambria Math" panose="02040503050406030204" pitchFamily="18" charset="0"/>
                              </a:rPr>
                              <m:t>𝒑</m:t>
                            </m:r>
                          </m:sub>
                        </m:sSub>
                      </m:den>
                    </m:f>
                  </m:oMath>
                </a14:m>
                <a:endParaRPr lang="it-IT" sz="2300" b="1" dirty="0"/>
              </a:p>
              <a:p>
                <a:pPr lvl="1" algn="just"/>
                <a:r>
                  <a:rPr lang="it-IT" sz="2300" b="1" dirty="0"/>
                  <a:t>Efficienza =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it-IT" sz="2300" b="1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300" b="1" i="1" smtClean="0">
                            <a:latin typeface="Cambria Math" panose="02040503050406030204" pitchFamily="18" charset="0"/>
                          </a:rPr>
                          <m:t>𝑬</m:t>
                        </m:r>
                      </m:e>
                      <m:sub>
                        <m:r>
                          <a:rPr lang="it-IT" sz="2300" b="1" i="1" smtClean="0">
                            <a:latin typeface="Cambria Math" panose="02040503050406030204" pitchFamily="18" charset="0"/>
                          </a:rPr>
                          <m:t>𝒑</m:t>
                        </m:r>
                      </m:sub>
                    </m:sSub>
                    <m:r>
                      <a:rPr lang="it-IT" sz="2300" b="1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it-IT" sz="2300" b="1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it-IT" sz="2300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it-IT" sz="2300" b="1" i="1" smtClean="0">
                                <a:latin typeface="Cambria Math" panose="02040503050406030204" pitchFamily="18" charset="0"/>
                              </a:rPr>
                              <m:t>𝑺</m:t>
                            </m:r>
                          </m:e>
                          <m:sub>
                            <m:r>
                              <a:rPr lang="it-IT" sz="2300" b="1" i="1" smtClean="0">
                                <a:latin typeface="Cambria Math" panose="02040503050406030204" pitchFamily="18" charset="0"/>
                              </a:rPr>
                              <m:t>𝒑</m:t>
                            </m:r>
                          </m:sub>
                        </m:sSub>
                      </m:num>
                      <m:den>
                        <m:r>
                          <m:rPr>
                            <m:sty m:val="p"/>
                          </m:rPr>
                          <a:rPr lang="it-IT" sz="2300" b="1" i="1" smtClean="0">
                            <a:latin typeface="Cambria Math" panose="02040503050406030204" pitchFamily="18" charset="0"/>
                          </a:rPr>
                          <m:t>p</m:t>
                        </m:r>
                      </m:den>
                    </m:f>
                  </m:oMath>
                </a14:m>
                <a:endParaRPr lang="it-IT" sz="2300" b="1" dirty="0"/>
              </a:p>
              <a:p>
                <a:pPr marL="0" indent="0" algn="just">
                  <a:buNone/>
                </a:pPr>
                <a:br>
                  <a:rPr lang="it-IT" sz="1800" dirty="0"/>
                </a:br>
                <a:r>
                  <a:rPr lang="it-IT" sz="2300" dirty="0"/>
                  <a:t>Inoltre, sono stati considerati i seguenti setup per mettere a paragone MPI puro con la versione Ibrida</a:t>
                </a:r>
                <a:r>
                  <a:rPr lang="it-IT" sz="2300" b="1" dirty="0"/>
                  <a:t>:</a:t>
                </a:r>
              </a:p>
              <a:p>
                <a:pPr lvl="1"/>
                <a:r>
                  <a:rPr lang="it-IT" sz="2300" b="1" dirty="0"/>
                  <a:t>6 Processi x 1 Thread</a:t>
                </a:r>
              </a:p>
              <a:p>
                <a:pPr lvl="1"/>
                <a:r>
                  <a:rPr lang="it-IT" sz="2300" b="1" dirty="0"/>
                  <a:t>3 Processi x 2 Thread</a:t>
                </a:r>
              </a:p>
              <a:p>
                <a:pPr lvl="1"/>
                <a:r>
                  <a:rPr lang="it-IT" sz="2300" b="1" dirty="0"/>
                  <a:t>2 Processi x 3 Thread </a:t>
                </a:r>
              </a:p>
              <a:p>
                <a:pPr lvl="1"/>
                <a:r>
                  <a:rPr lang="it-IT" sz="2300" b="1" dirty="0"/>
                  <a:t>1 Processo x 6 Thread</a:t>
                </a:r>
                <a:br>
                  <a:rPr lang="it-IT" sz="2300" dirty="0"/>
                </a:br>
                <a:br>
                  <a:rPr lang="it-IT" sz="2300" dirty="0"/>
                </a:br>
                <a:endParaRPr lang="it-IT" sz="2300" dirty="0"/>
              </a:p>
              <a:p>
                <a:pPr marL="265176" lvl="1" indent="0" algn="just">
                  <a:buNone/>
                </a:pPr>
                <a:endParaRPr lang="it-IT" sz="1600" dirty="0"/>
              </a:p>
            </p:txBody>
          </p:sp>
        </mc:Choice>
        <mc:Fallback xmlns="">
          <p:sp>
            <p:nvSpPr>
              <p:cNvPr id="8" name="Segnaposto contenuto 7">
                <a:extLst>
                  <a:ext uri="{FF2B5EF4-FFF2-40B4-BE49-F238E27FC236}">
                    <a16:creationId xmlns:a16="http://schemas.microsoft.com/office/drawing/2014/main" id="{A6E9697B-30F9-9129-BEAA-86E3543871D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88933" y="2398490"/>
                <a:ext cx="11214133" cy="3981262"/>
              </a:xfrm>
              <a:blipFill>
                <a:blip r:embed="rId3"/>
                <a:stretch>
                  <a:fillRect l="-435" t="-765"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600859803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82F1B685-8655-DB8D-67D1-546733005C9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/>
              <a:t>Analisi – Tempo Sequenziale</a:t>
            </a:r>
          </a:p>
        </p:txBody>
      </p:sp>
      <p:graphicFrame>
        <p:nvGraphicFramePr>
          <p:cNvPr id="11" name="Segnaposto contenuto 10">
            <a:extLst>
              <a:ext uri="{FF2B5EF4-FFF2-40B4-BE49-F238E27FC236}">
                <a16:creationId xmlns:a16="http://schemas.microsoft.com/office/drawing/2014/main" id="{DAF6E4D3-37AC-94A8-0A29-3E72441C4D07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163075499"/>
              </p:ext>
            </p:extLst>
          </p:nvPr>
        </p:nvGraphicFramePr>
        <p:xfrm>
          <a:off x="639764" y="2281383"/>
          <a:ext cx="10890924" cy="391780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</p:spTree>
    <p:extLst>
      <p:ext uri="{BB962C8B-B14F-4D97-AF65-F5344CB8AC3E}">
        <p14:creationId xmlns:p14="http://schemas.microsoft.com/office/powerpoint/2010/main" val="2363376588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9D74DACE-A7A1-98C2-AB20-2627F434AA4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/>
              <a:t>Analisi – Tempo Sequenziale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Segnaposto contenuto 2">
                <a:extLst>
                  <a:ext uri="{FF2B5EF4-FFF2-40B4-BE49-F238E27FC236}">
                    <a16:creationId xmlns:a16="http://schemas.microsoft.com/office/drawing/2014/main" id="{BC5ACEE4-ECEA-BB1B-25B2-6A587573F718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it-IT" dirty="0"/>
                  <a:t>A </a:t>
                </a:r>
                <a14:m>
                  <m:oMath xmlns:m="http://schemas.openxmlformats.org/officeDocument/2006/math">
                    <m:r>
                      <a:rPr lang="it-IT" i="1" dirty="0" smtClean="0">
                        <a:latin typeface="Cambria Math" panose="02040503050406030204" pitchFamily="18" charset="0"/>
                      </a:rPr>
                      <m:t>𝑁</m:t>
                    </m:r>
                    <m:r>
                      <a:rPr lang="it-IT" i="1" dirty="0">
                        <a:latin typeface="Cambria Math" panose="02040503050406030204" pitchFamily="18" charset="0"/>
                      </a:rPr>
                      <m:t>=</m:t>
                    </m:r>
                    <m:r>
                      <a:rPr lang="it-IT" i="1" dirty="0" smtClean="0">
                        <a:latin typeface="Cambria Math" panose="02040503050406030204" pitchFamily="18" charset="0"/>
                      </a:rPr>
                      <m:t>512 </m:t>
                    </m:r>
                  </m:oMath>
                </a14:m>
                <a:r>
                  <a:rPr lang="it-IT" dirty="0"/>
                  <a:t>il tempo reale ricalca fedelmente la curva teorica </a:t>
                </a:r>
                <a14:m>
                  <m:oMath xmlns:m="http://schemas.openxmlformats.org/officeDocument/2006/math">
                    <m:r>
                      <a:rPr lang="it-IT" i="1" dirty="0" smtClean="0">
                        <a:latin typeface="Cambria Math" panose="02040503050406030204" pitchFamily="18" charset="0"/>
                      </a:rPr>
                      <m:t>𝑂</m:t>
                    </m:r>
                    <m:d>
                      <m:dPr>
                        <m:ctrlPr>
                          <a:rPr lang="it-IT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it-IT" i="1" dirty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it-IT" i="1" dirty="0">
                                <a:latin typeface="Cambria Math" panose="02040503050406030204" pitchFamily="18" charset="0"/>
                              </a:rPr>
                              <m:t>𝑁</m:t>
                            </m:r>
                          </m:e>
                          <m:sup>
                            <m:r>
                              <a:rPr lang="it-IT" i="1" dirty="0">
                                <a:latin typeface="Cambria Math" panose="02040503050406030204" pitchFamily="18" charset="0"/>
                              </a:rPr>
                              <m:t>4</m:t>
                            </m:r>
                          </m:sup>
                        </m:sSup>
                      </m:e>
                    </m:d>
                  </m:oMath>
                </a14:m>
                <a:r>
                  <a:rPr lang="it-IT" dirty="0"/>
                  <a:t>.</a:t>
                </a:r>
              </a:p>
              <a:p>
                <a:r>
                  <a:rPr lang="it-IT" dirty="0"/>
                  <a:t>A </a:t>
                </a:r>
                <a14:m>
                  <m:oMath xmlns:m="http://schemas.openxmlformats.org/officeDocument/2006/math">
                    <m:r>
                      <a:rPr lang="it-IT" i="1" dirty="0" smtClean="0">
                        <a:latin typeface="Cambria Math" panose="02040503050406030204" pitchFamily="18" charset="0"/>
                      </a:rPr>
                      <m:t>𝑁</m:t>
                    </m:r>
                    <m:r>
                      <a:rPr lang="it-IT" i="1" dirty="0">
                        <a:latin typeface="Cambria Math" panose="02040503050406030204" pitchFamily="18" charset="0"/>
                      </a:rPr>
                      <m:t>=</m:t>
                    </m:r>
                    <m:r>
                      <a:rPr lang="it-IT" i="1" dirty="0" smtClean="0">
                        <a:latin typeface="Cambria Math" panose="02040503050406030204" pitchFamily="18" charset="0"/>
                      </a:rPr>
                      <m:t>1024</m:t>
                    </m:r>
                  </m:oMath>
                </a14:m>
                <a:r>
                  <a:rPr lang="it-IT" dirty="0"/>
                  <a:t>, il tempo reale (</a:t>
                </a:r>
                <a14:m>
                  <m:oMath xmlns:m="http://schemas.openxmlformats.org/officeDocument/2006/math">
                    <m:r>
                      <a:rPr lang="it-IT" i="1" dirty="0" smtClean="0">
                        <a:latin typeface="Cambria Math" panose="02040503050406030204" pitchFamily="18" charset="0"/>
                      </a:rPr>
                      <m:t>2537.81</m:t>
                    </m:r>
                  </m:oMath>
                </a14:m>
                <a:r>
                  <a:rPr lang="it-IT" dirty="0"/>
                  <a:t> s) devia nettamente verso l'alto rispetto alla proiezione asintotica (</a:t>
                </a:r>
                <a14:m>
                  <m:oMath xmlns:m="http://schemas.openxmlformats.org/officeDocument/2006/math">
                    <m:r>
                      <a:rPr lang="it-IT" i="1" dirty="0" smtClean="0">
                        <a:latin typeface="Cambria Math" panose="02040503050406030204" pitchFamily="18" charset="0"/>
                      </a:rPr>
                      <m:t>1913.65</m:t>
                    </m:r>
                  </m:oMath>
                </a14:m>
                <a:r>
                  <a:rPr lang="it-IT" dirty="0"/>
                  <a:t> s). Perché?</a:t>
                </a:r>
              </a:p>
              <a:p>
                <a:r>
                  <a:rPr lang="it-IT" dirty="0"/>
                  <a:t>La </a:t>
                </a:r>
                <a:r>
                  <a:rPr lang="it-IT" b="1" dirty="0"/>
                  <a:t>cache L3 </a:t>
                </a:r>
                <a:r>
                  <a:rPr lang="it-IT" dirty="0"/>
                  <a:t>ha uno spazio totale di </a:t>
                </a:r>
                <a:r>
                  <a:rPr lang="it-IT" b="1" dirty="0"/>
                  <a:t>8MB </a:t>
                </a:r>
                <a:r>
                  <a:rPr lang="it-IT" dirty="0"/>
                  <a:t>mentre, invece, le due matrici occupano uno spazio di circa </a:t>
                </a:r>
                <a:r>
                  <a:rPr lang="it-IT" b="1" dirty="0"/>
                  <a:t>8 MB </a:t>
                </a:r>
                <a:r>
                  <a:rPr lang="it-IT" dirty="0"/>
                  <a:t>l’una, rendendo quindi il totale </a:t>
                </a:r>
                <a:r>
                  <a:rPr lang="it-IT" b="1" dirty="0"/>
                  <a:t>16 MB </a:t>
                </a:r>
                <a:r>
                  <a:rPr lang="it-IT" dirty="0"/>
                  <a:t>forzando dunque continui accessi alla RAM.</a:t>
                </a:r>
                <a:endParaRPr lang="it-IT" b="1" dirty="0"/>
              </a:p>
              <a:p>
                <a:endParaRPr lang="it-IT" dirty="0"/>
              </a:p>
            </p:txBody>
          </p:sp>
        </mc:Choice>
        <mc:Fallback xmlns="">
          <p:sp>
            <p:nvSpPr>
              <p:cNvPr id="3" name="Segnaposto contenuto 2">
                <a:extLst>
                  <a:ext uri="{FF2B5EF4-FFF2-40B4-BE49-F238E27FC236}">
                    <a16:creationId xmlns:a16="http://schemas.microsoft.com/office/drawing/2014/main" id="{BC5ACEE4-ECEA-BB1B-25B2-6A587573F71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336" t="-171" r="-839"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756742803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06E32EEB-9DF8-90E6-C23B-BA442C246B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/>
              <a:t>Analisi – Tempo OMP</a:t>
            </a:r>
          </a:p>
        </p:txBody>
      </p:sp>
      <p:graphicFrame>
        <p:nvGraphicFramePr>
          <p:cNvPr id="4" name="Segnaposto contenuto 5">
            <a:extLst>
              <a:ext uri="{FF2B5EF4-FFF2-40B4-BE49-F238E27FC236}">
                <a16:creationId xmlns:a16="http://schemas.microsoft.com/office/drawing/2014/main" id="{98D824CD-E50A-9D7E-C836-3034B6E53B57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197382120"/>
              </p:ext>
            </p:extLst>
          </p:nvPr>
        </p:nvGraphicFramePr>
        <p:xfrm>
          <a:off x="553453" y="2224489"/>
          <a:ext cx="10890924" cy="3919537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</p:spTree>
    <p:extLst>
      <p:ext uri="{BB962C8B-B14F-4D97-AF65-F5344CB8AC3E}">
        <p14:creationId xmlns:p14="http://schemas.microsoft.com/office/powerpoint/2010/main" val="134546828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9DDBBE78-F38D-B06C-A837-25E624036E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/>
              <a:t>Analisi – Strong Scaling - OMP</a:t>
            </a:r>
          </a:p>
        </p:txBody>
      </p:sp>
      <p:graphicFrame>
        <p:nvGraphicFramePr>
          <p:cNvPr id="5" name="Grafico 4">
            <a:extLst>
              <a:ext uri="{FF2B5EF4-FFF2-40B4-BE49-F238E27FC236}">
                <a16:creationId xmlns:a16="http://schemas.microsoft.com/office/drawing/2014/main" id="{2792B85B-7526-FA3D-0583-D6B60813A951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9864946"/>
              </p:ext>
            </p:extLst>
          </p:nvPr>
        </p:nvGraphicFramePr>
        <p:xfrm>
          <a:off x="6252910" y="2633663"/>
          <a:ext cx="4538819" cy="3622282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aphicFrame>
        <p:nvGraphicFramePr>
          <p:cNvPr id="7" name="Grafico 6">
            <a:extLst>
              <a:ext uri="{FF2B5EF4-FFF2-40B4-BE49-F238E27FC236}">
                <a16:creationId xmlns:a16="http://schemas.microsoft.com/office/drawing/2014/main" id="{0263905D-CB5A-0379-4C68-C69D35AD3779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4157162868"/>
              </p:ext>
            </p:extLst>
          </p:nvPr>
        </p:nvGraphicFramePr>
        <p:xfrm>
          <a:off x="851793" y="2633663"/>
          <a:ext cx="4538819" cy="3622282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</p:spTree>
    <p:extLst>
      <p:ext uri="{BB962C8B-B14F-4D97-AF65-F5344CB8AC3E}">
        <p14:creationId xmlns:p14="http://schemas.microsoft.com/office/powerpoint/2010/main" val="2140186101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481FA6A8-D99B-67C9-9EA0-F517BD5D3C1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/>
              <a:t>Analisi – Tempo MPI </a:t>
            </a:r>
          </a:p>
        </p:txBody>
      </p:sp>
      <p:graphicFrame>
        <p:nvGraphicFramePr>
          <p:cNvPr id="6" name="Segnaposto contenuto 5">
            <a:extLst>
              <a:ext uri="{FF2B5EF4-FFF2-40B4-BE49-F238E27FC236}">
                <a16:creationId xmlns:a16="http://schemas.microsoft.com/office/drawing/2014/main" id="{B76F5DEC-0AB9-CFDB-2791-74570536B345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31428235"/>
              </p:ext>
            </p:extLst>
          </p:nvPr>
        </p:nvGraphicFramePr>
        <p:xfrm>
          <a:off x="640080" y="2185988"/>
          <a:ext cx="10890924" cy="3919537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</p:spTree>
    <p:extLst>
      <p:ext uri="{BB962C8B-B14F-4D97-AF65-F5344CB8AC3E}">
        <p14:creationId xmlns:p14="http://schemas.microsoft.com/office/powerpoint/2010/main" val="1491229942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5ABE67F2-AE56-2BCC-9C60-964D5A7B8A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/>
              <a:t>Analisi – Strong Scaling – MPI </a:t>
            </a:r>
          </a:p>
        </p:txBody>
      </p:sp>
      <p:graphicFrame>
        <p:nvGraphicFramePr>
          <p:cNvPr id="6" name="Segnaposto contenuto 5">
            <a:extLst>
              <a:ext uri="{FF2B5EF4-FFF2-40B4-BE49-F238E27FC236}">
                <a16:creationId xmlns:a16="http://schemas.microsoft.com/office/drawing/2014/main" id="{89E2DBA0-6FEA-2ED1-9A6B-526AC1487ABE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748413613"/>
              </p:ext>
            </p:extLst>
          </p:nvPr>
        </p:nvGraphicFramePr>
        <p:xfrm>
          <a:off x="639763" y="2633663"/>
          <a:ext cx="4538819" cy="3622282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aphicFrame>
        <p:nvGraphicFramePr>
          <p:cNvPr id="5" name="Grafico 4">
            <a:extLst>
              <a:ext uri="{FF2B5EF4-FFF2-40B4-BE49-F238E27FC236}">
                <a16:creationId xmlns:a16="http://schemas.microsoft.com/office/drawing/2014/main" id="{3F16AD40-9051-5400-1525-BC8988DB6288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290816080"/>
              </p:ext>
            </p:extLst>
          </p:nvPr>
        </p:nvGraphicFramePr>
        <p:xfrm>
          <a:off x="6252910" y="2633663"/>
          <a:ext cx="4538819" cy="3622282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</p:spTree>
    <p:extLst>
      <p:ext uri="{BB962C8B-B14F-4D97-AF65-F5344CB8AC3E}">
        <p14:creationId xmlns:p14="http://schemas.microsoft.com/office/powerpoint/2010/main" val="2777621118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6A26640F-8D0E-644A-BB0D-A967EC7415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/>
              <a:t>Analisi – Tempo Ibrido</a:t>
            </a:r>
          </a:p>
        </p:txBody>
      </p:sp>
      <p:graphicFrame>
        <p:nvGraphicFramePr>
          <p:cNvPr id="6" name="Segnaposto contenuto 5">
            <a:extLst>
              <a:ext uri="{FF2B5EF4-FFF2-40B4-BE49-F238E27FC236}">
                <a16:creationId xmlns:a16="http://schemas.microsoft.com/office/drawing/2014/main" id="{E1C4C71E-76CE-4E3F-6E1D-D9B7D837F47E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523123222"/>
              </p:ext>
            </p:extLst>
          </p:nvPr>
        </p:nvGraphicFramePr>
        <p:xfrm>
          <a:off x="639763" y="2633663"/>
          <a:ext cx="10891837" cy="3565525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</p:spTree>
    <p:extLst>
      <p:ext uri="{BB962C8B-B14F-4D97-AF65-F5344CB8AC3E}">
        <p14:creationId xmlns:p14="http://schemas.microsoft.com/office/powerpoint/2010/main" val="2513905353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0A453487-373E-170F-EE64-C39FA4EA6C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/>
              <a:t>Analisi – Strong Scaling - Ibrido</a:t>
            </a:r>
          </a:p>
        </p:txBody>
      </p:sp>
      <p:graphicFrame>
        <p:nvGraphicFramePr>
          <p:cNvPr id="4" name="Segnaposto contenuto 5">
            <a:extLst>
              <a:ext uri="{FF2B5EF4-FFF2-40B4-BE49-F238E27FC236}">
                <a16:creationId xmlns:a16="http://schemas.microsoft.com/office/drawing/2014/main" id="{385B09B4-13B8-EDE7-059B-FA50E441B012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474167843"/>
              </p:ext>
            </p:extLst>
          </p:nvPr>
        </p:nvGraphicFramePr>
        <p:xfrm>
          <a:off x="639763" y="2633663"/>
          <a:ext cx="4538819" cy="3622282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aphicFrame>
        <p:nvGraphicFramePr>
          <p:cNvPr id="6" name="Grafico 5">
            <a:extLst>
              <a:ext uri="{FF2B5EF4-FFF2-40B4-BE49-F238E27FC236}">
                <a16:creationId xmlns:a16="http://schemas.microsoft.com/office/drawing/2014/main" id="{9E181B14-5F21-5B24-7D05-5CDDDA1BE4DF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40983735"/>
              </p:ext>
            </p:extLst>
          </p:nvPr>
        </p:nvGraphicFramePr>
        <p:xfrm>
          <a:off x="6458184" y="2633663"/>
          <a:ext cx="4538819" cy="3622282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</p:spTree>
    <p:extLst>
      <p:ext uri="{BB962C8B-B14F-4D97-AF65-F5344CB8AC3E}">
        <p14:creationId xmlns:p14="http://schemas.microsoft.com/office/powerpoint/2010/main" val="3239206603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B7034AD0-5801-DD07-C38E-75A121A8C5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it-IT" dirty="0"/>
              <a:t>Analisi – Paragone tra MPI, Ibrido e OMP- Tempi</a:t>
            </a:r>
          </a:p>
        </p:txBody>
      </p:sp>
      <p:graphicFrame>
        <p:nvGraphicFramePr>
          <p:cNvPr id="6" name="Segnaposto contenuto 5">
            <a:extLst>
              <a:ext uri="{FF2B5EF4-FFF2-40B4-BE49-F238E27FC236}">
                <a16:creationId xmlns:a16="http://schemas.microsoft.com/office/drawing/2014/main" id="{587EA6D0-6DC4-0393-D19C-F0E25D15A47F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913061046"/>
              </p:ext>
            </p:extLst>
          </p:nvPr>
        </p:nvGraphicFramePr>
        <p:xfrm>
          <a:off x="639763" y="2633663"/>
          <a:ext cx="10891837" cy="3565525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</p:spTree>
    <p:extLst>
      <p:ext uri="{BB962C8B-B14F-4D97-AF65-F5344CB8AC3E}">
        <p14:creationId xmlns:p14="http://schemas.microsoft.com/office/powerpoint/2010/main" val="646342104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2D057568-0B86-DC5C-58C0-EA38B07114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it-IT" dirty="0"/>
              <a:t>Analisi – Paragone tra MPI, Ibrido e OMP- </a:t>
            </a:r>
            <a:r>
              <a:rPr lang="it-IT" dirty="0" err="1"/>
              <a:t>Speedup</a:t>
            </a:r>
            <a:r>
              <a:rPr lang="it-IT" dirty="0"/>
              <a:t> Efficienza</a:t>
            </a:r>
          </a:p>
        </p:txBody>
      </p:sp>
      <p:graphicFrame>
        <p:nvGraphicFramePr>
          <p:cNvPr id="15" name="Segnaposto contenuto 5">
            <a:extLst>
              <a:ext uri="{FF2B5EF4-FFF2-40B4-BE49-F238E27FC236}">
                <a16:creationId xmlns:a16="http://schemas.microsoft.com/office/drawing/2014/main" id="{D05DD848-2AEC-A041-3634-956ECB6A2A76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331085129"/>
              </p:ext>
            </p:extLst>
          </p:nvPr>
        </p:nvGraphicFramePr>
        <p:xfrm>
          <a:off x="639763" y="2633663"/>
          <a:ext cx="5303837" cy="3622282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17" name="Grafico 16">
            <a:extLst>
              <a:ext uri="{FF2B5EF4-FFF2-40B4-BE49-F238E27FC236}">
                <a16:creationId xmlns:a16="http://schemas.microsoft.com/office/drawing/2014/main" id="{AB3B9DFE-2A72-3518-F432-6EDDC3E84310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100703800"/>
              </p:ext>
            </p:extLst>
          </p:nvPr>
        </p:nvGraphicFramePr>
        <p:xfrm>
          <a:off x="6458184" y="2633663"/>
          <a:ext cx="4538819" cy="3622282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</p:spTree>
    <p:extLst>
      <p:ext uri="{BB962C8B-B14F-4D97-AF65-F5344CB8AC3E}">
        <p14:creationId xmlns:p14="http://schemas.microsoft.com/office/powerpoint/2010/main" val="1391924552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65AAC004-FD2D-DA60-B52F-E45565C2BF3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9170" y="1371600"/>
            <a:ext cx="10890924" cy="1097280"/>
          </a:xfrm>
        </p:spPr>
        <p:txBody>
          <a:bodyPr>
            <a:normAutofit/>
          </a:bodyPr>
          <a:lstStyle/>
          <a:p>
            <a:r>
              <a:rPr lang="it-IT" dirty="0"/>
              <a:t>Analisi – </a:t>
            </a:r>
            <a:r>
              <a:rPr lang="it-IT" dirty="0" err="1"/>
              <a:t>Perf</a:t>
            </a:r>
            <a:endParaRPr lang="it-IT" dirty="0"/>
          </a:p>
        </p:txBody>
      </p:sp>
      <p:graphicFrame>
        <p:nvGraphicFramePr>
          <p:cNvPr id="20" name="Segnaposto contenuto 19">
            <a:extLst>
              <a:ext uri="{FF2B5EF4-FFF2-40B4-BE49-F238E27FC236}">
                <a16:creationId xmlns:a16="http://schemas.microsoft.com/office/drawing/2014/main" id="{05B88DB5-7029-89D3-645C-845E8C62E677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344748112"/>
              </p:ext>
            </p:extLst>
          </p:nvPr>
        </p:nvGraphicFramePr>
        <p:xfrm>
          <a:off x="812609" y="3831336"/>
          <a:ext cx="10544045" cy="2743391"/>
        </p:xfrm>
        <a:graphic>
          <a:graphicData uri="http://schemas.openxmlformats.org/drawingml/2006/table">
            <a:tbl>
              <a:tblPr/>
              <a:tblGrid>
                <a:gridCol w="1717722">
                  <a:extLst>
                    <a:ext uri="{9D8B030D-6E8A-4147-A177-3AD203B41FA5}">
                      <a16:colId xmlns:a16="http://schemas.microsoft.com/office/drawing/2014/main" val="1823872166"/>
                    </a:ext>
                  </a:extLst>
                </a:gridCol>
                <a:gridCol w="1717722">
                  <a:extLst>
                    <a:ext uri="{9D8B030D-6E8A-4147-A177-3AD203B41FA5}">
                      <a16:colId xmlns:a16="http://schemas.microsoft.com/office/drawing/2014/main" val="3122249832"/>
                    </a:ext>
                  </a:extLst>
                </a:gridCol>
                <a:gridCol w="1717722">
                  <a:extLst>
                    <a:ext uri="{9D8B030D-6E8A-4147-A177-3AD203B41FA5}">
                      <a16:colId xmlns:a16="http://schemas.microsoft.com/office/drawing/2014/main" val="3449718266"/>
                    </a:ext>
                  </a:extLst>
                </a:gridCol>
                <a:gridCol w="1794980">
                  <a:extLst>
                    <a:ext uri="{9D8B030D-6E8A-4147-A177-3AD203B41FA5}">
                      <a16:colId xmlns:a16="http://schemas.microsoft.com/office/drawing/2014/main" val="2268862395"/>
                    </a:ext>
                  </a:extLst>
                </a:gridCol>
                <a:gridCol w="1867932">
                  <a:extLst>
                    <a:ext uri="{9D8B030D-6E8A-4147-A177-3AD203B41FA5}">
                      <a16:colId xmlns:a16="http://schemas.microsoft.com/office/drawing/2014/main" val="2500154743"/>
                    </a:ext>
                  </a:extLst>
                </a:gridCol>
                <a:gridCol w="1727967">
                  <a:extLst>
                    <a:ext uri="{9D8B030D-6E8A-4147-A177-3AD203B41FA5}">
                      <a16:colId xmlns:a16="http://schemas.microsoft.com/office/drawing/2014/main" val="598991843"/>
                    </a:ext>
                  </a:extLst>
                </a:gridCol>
              </a:tblGrid>
              <a:tr h="475611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400" b="1" i="0" u="none" strike="noStrike" dirty="0">
                          <a:solidFill>
                            <a:srgbClr val="FFFFFF"/>
                          </a:solidFill>
                          <a:effectLst/>
                          <a:latin typeface="Aptos Narrow" panose="020B0004020202020204" pitchFamily="34" charset="0"/>
                        </a:rPr>
                        <a:t> Dim. Griglia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608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400" b="1" i="0" u="none" strike="noStrike" dirty="0">
                          <a:solidFill>
                            <a:srgbClr val="FFFFFF"/>
                          </a:solidFill>
                          <a:effectLst/>
                          <a:latin typeface="Aptos Narrow" panose="020B0004020202020204" pitchFamily="34" charset="0"/>
                        </a:rPr>
                        <a:t>Tempo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608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400" b="1" i="0" u="none" strike="noStrike" dirty="0">
                          <a:solidFill>
                            <a:srgbClr val="FFFFFF"/>
                          </a:solidFill>
                          <a:effectLst/>
                          <a:latin typeface="Aptos Narrow" panose="020B0004020202020204" pitchFamily="34" charset="0"/>
                        </a:rPr>
                        <a:t>IPC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608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400" b="1" i="0" u="none" strike="noStrike" dirty="0">
                          <a:solidFill>
                            <a:srgbClr val="FFFFFF"/>
                          </a:solidFill>
                          <a:effectLst/>
                          <a:latin typeface="Aptos Narrow" panose="020B0004020202020204" pitchFamily="34" charset="0"/>
                        </a:rPr>
                        <a:t>Cache Miss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608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400" b="1" i="0" u="none" strike="noStrike" dirty="0">
                          <a:solidFill>
                            <a:srgbClr val="FFFFFF"/>
                          </a:solidFill>
                          <a:effectLst/>
                          <a:latin typeface="Aptos Narrow" panose="020B0004020202020204" pitchFamily="34" charset="0"/>
                        </a:rPr>
                        <a:t>Cache Miss %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608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400" b="1" i="0" u="none" strike="noStrike" dirty="0">
                          <a:solidFill>
                            <a:srgbClr val="FFFFFF"/>
                          </a:solidFill>
                          <a:effectLst/>
                          <a:latin typeface="Aptos Narrow" panose="020B0004020202020204" pitchFamily="34" charset="0"/>
                        </a:rPr>
                        <a:t>Iterazioni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608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67233036"/>
                  </a:ext>
                </a:extLst>
              </a:tr>
              <a:tr h="453556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4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N 64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4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0,080435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4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0,75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4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17,3 Milioni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4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15,46 %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4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8334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19779387"/>
                  </a:ext>
                </a:extLst>
              </a:tr>
              <a:tr h="453556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4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N 128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4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0,379968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4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0,94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4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50,8 Milioni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4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10,65 %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4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31585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9668585"/>
                  </a:ext>
                </a:extLst>
              </a:tr>
              <a:tr h="453556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4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N 256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400" dirty="0"/>
                        <a:t>3,244</a:t>
                      </a:r>
                      <a:endParaRPr lang="it-IT" sz="2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4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1,43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4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253,5 Milioni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4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6,14 %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4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118160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919164283"/>
                  </a:ext>
                </a:extLst>
              </a:tr>
              <a:tr h="453556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4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N 512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4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43,772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4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1,48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4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4,62 Miliardi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4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6,16 %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4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437720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08791796"/>
                  </a:ext>
                </a:extLst>
              </a:tr>
              <a:tr h="453556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4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N 1024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400" dirty="0"/>
                        <a:t>1942,127</a:t>
                      </a:r>
                      <a:endParaRPr lang="it-IT" sz="2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4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0,46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4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48,61 Miliardi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4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4,13 %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4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1607108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65979137"/>
                  </a:ext>
                </a:extLst>
              </a:tr>
            </a:tbl>
          </a:graphicData>
        </a:graphic>
      </p:graphicFrame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812177CD-883B-D69D-04ED-9229622B3423}"/>
              </a:ext>
            </a:extLst>
          </p:cNvPr>
          <p:cNvSpPr txBox="1">
            <a:spLocks/>
          </p:cNvSpPr>
          <p:nvPr/>
        </p:nvSpPr>
        <p:spPr>
          <a:xfrm>
            <a:off x="639170" y="2066544"/>
            <a:ext cx="11248030" cy="1764792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anchor="t" anchorCtr="0" compatLnSpc="1">
            <a:normAutofit fontScale="92500" lnSpcReduction="20000"/>
          </a:bodyPr>
          <a:lstStyle>
            <a:lvl1pPr marL="228600" marR="0" lvl="0" indent="-228600" algn="l" defTabSz="914400" rtl="0" fontAlgn="auto" hangingPunct="1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SzPct val="87000"/>
              <a:buFont typeface="Arial" pitchFamily="34"/>
              <a:buChar char="•"/>
              <a:tabLst/>
              <a:defRPr lang="en-US" sz="2000" b="0" i="0" u="none" strike="noStrike" kern="1200" cap="none" spc="0" baseline="0">
                <a:solidFill>
                  <a:srgbClr val="000000"/>
                </a:solidFill>
                <a:uFillTx/>
                <a:latin typeface="Grandview Display"/>
              </a:defRPr>
            </a:lvl1pPr>
            <a:lvl2pPr marL="493776" marR="0" lvl="1" indent="-228600" algn="l" defTabSz="914400" rtl="0" fontAlgn="auto" hangingPunct="1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ct val="87000"/>
              <a:buFont typeface="Arial" pitchFamily="34"/>
              <a:buChar char="•"/>
              <a:tabLst/>
              <a:defRPr lang="en-US" sz="1800" b="0" i="0" u="none" strike="noStrike" kern="1200" cap="none" spc="0" baseline="0">
                <a:solidFill>
                  <a:srgbClr val="000000"/>
                </a:solidFill>
                <a:uFillTx/>
                <a:latin typeface="Grandview Display"/>
              </a:defRPr>
            </a:lvl2pPr>
            <a:lvl3pPr marL="731520" marR="0" lvl="2" indent="-228600" algn="l" defTabSz="914400" rtl="0" fontAlgn="auto" hangingPunct="1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ct val="87000"/>
              <a:buFont typeface="Arial" pitchFamily="34"/>
              <a:buChar char="•"/>
              <a:tabLst/>
              <a:defRPr lang="en-US" sz="1600" b="0" i="0" u="none" strike="noStrike" kern="1200" cap="none" spc="0" baseline="0">
                <a:solidFill>
                  <a:srgbClr val="000000"/>
                </a:solidFill>
                <a:uFillTx/>
                <a:latin typeface="Grandview Display"/>
              </a:defRPr>
            </a:lvl3pPr>
            <a:lvl4pPr marL="1051560" marR="0" lvl="3" indent="-285750" algn="l" defTabSz="914400" rtl="0" fontAlgn="auto" hangingPunct="1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ct val="87000"/>
              <a:buFont typeface="Arial" pitchFamily="34"/>
              <a:buChar char="•"/>
              <a:tabLst/>
              <a:defRPr lang="en-US" sz="1400" b="0" i="0" u="none" strike="noStrike" kern="1200" cap="none" spc="0" baseline="0">
                <a:solidFill>
                  <a:srgbClr val="000000"/>
                </a:solidFill>
                <a:uFillTx/>
                <a:latin typeface="Grandview Display"/>
              </a:defRPr>
            </a:lvl4pPr>
            <a:lvl5pPr marL="1298448" marR="0" lvl="4" indent="-228600" algn="l" defTabSz="914400" rtl="0" fontAlgn="auto" hangingPunct="1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ct val="87000"/>
              <a:buFont typeface="Arial" pitchFamily="34"/>
              <a:buChar char="•"/>
              <a:tabLst/>
              <a:defRPr lang="en-US" sz="1400" b="0" i="0" u="none" strike="noStrike" kern="1200" cap="none" spc="0" baseline="0">
                <a:solidFill>
                  <a:srgbClr val="000000"/>
                </a:solidFill>
                <a:uFillTx/>
                <a:latin typeface="Grandview Display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it-IT" b="1" dirty="0"/>
              <a:t>Granularità ridotta (N=64, N=128):</a:t>
            </a:r>
            <a:r>
              <a:rPr lang="it-IT" dirty="0"/>
              <a:t> L'IPC è inferiore a 1 a causa del ridotto carico computazionale. Il tempo speso nella gestione dei messaggi MPI e nella sincronizzazione </a:t>
            </a:r>
            <a:r>
              <a:rPr lang="it-IT" i="1" dirty="0"/>
              <a:t>Fork-Join</a:t>
            </a:r>
            <a:r>
              <a:rPr lang="it-IT" dirty="0"/>
              <a:t> di </a:t>
            </a:r>
            <a:r>
              <a:rPr lang="it-IT" dirty="0" err="1"/>
              <a:t>OpenMP</a:t>
            </a:r>
            <a:r>
              <a:rPr lang="it-IT" dirty="0"/>
              <a:t> domina sul calcolo dello stencil, introducendo stalli. </a:t>
            </a:r>
          </a:p>
          <a:p>
            <a:r>
              <a:rPr lang="it-IT" b="1" dirty="0"/>
              <a:t>Crollo dell'IPC per Memory Wall (N=1024):</a:t>
            </a:r>
            <a:r>
              <a:rPr lang="it-IT" dirty="0"/>
              <a:t> L'IPC precipita a </a:t>
            </a:r>
            <a:r>
              <a:rPr lang="it-IT" b="1" dirty="0"/>
              <a:t>0,46</a:t>
            </a:r>
            <a:r>
              <a:rPr lang="it-IT" dirty="0"/>
              <a:t> a causa del superamento degli 8MB di Cache L3. Con oltre </a:t>
            </a:r>
            <a:r>
              <a:rPr lang="it-IT" b="1" dirty="0"/>
              <a:t>48 miliardi di cache miss</a:t>
            </a:r>
            <a:r>
              <a:rPr lang="it-IT" dirty="0"/>
              <a:t>, la CPU passa il 70% del tempo ferma ad aspettare i dati.</a:t>
            </a:r>
          </a:p>
          <a:p>
            <a:endParaRPr lang="it-IT" b="1" dirty="0"/>
          </a:p>
        </p:txBody>
      </p:sp>
    </p:spTree>
    <p:extLst>
      <p:ext uri="{BB962C8B-B14F-4D97-AF65-F5344CB8AC3E}">
        <p14:creationId xmlns:p14="http://schemas.microsoft.com/office/powerpoint/2010/main" val="2489376052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0C0AA44F-25CC-2744-2E05-73DA52D01B2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/>
              <a:t>Conclusioni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BD85BB37-5235-7F10-E336-283B6677114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it-IT" b="1" dirty="0"/>
              <a:t>Modello Ottimale:</a:t>
            </a:r>
            <a:r>
              <a:rPr lang="it-IT" dirty="0"/>
              <a:t> A parità di core totali, la segmentazione in processi </a:t>
            </a:r>
            <a:r>
              <a:rPr lang="it-IT" b="1" dirty="0"/>
              <a:t>MPI Puri</a:t>
            </a:r>
            <a:r>
              <a:rPr lang="it-IT" dirty="0"/>
              <a:t> o un approccio ibrido bilanciato (</a:t>
            </a:r>
            <a:r>
              <a:rPr lang="it-IT" b="1" dirty="0"/>
              <a:t>3P x 2T</a:t>
            </a:r>
            <a:r>
              <a:rPr lang="it-IT" dirty="0"/>
              <a:t>) minimizza gli overhead di sincronizzazione. </a:t>
            </a:r>
          </a:p>
          <a:p>
            <a:r>
              <a:rPr lang="it-IT" b="1" dirty="0"/>
              <a:t>Il Limite dei Thread:</a:t>
            </a:r>
            <a:r>
              <a:rPr lang="it-IT" dirty="0"/>
              <a:t> Strutture sbilanciate sui thread </a:t>
            </a:r>
            <a:r>
              <a:rPr lang="it-IT" dirty="0" err="1"/>
              <a:t>OpenMP</a:t>
            </a:r>
            <a:r>
              <a:rPr lang="it-IT" dirty="0"/>
              <a:t> (come 1P x 6T) pagano un costo eccessivo in termini di </a:t>
            </a:r>
            <a:r>
              <a:rPr lang="it-IT" i="1" dirty="0"/>
              <a:t>Fork-Join</a:t>
            </a:r>
            <a:r>
              <a:rPr lang="it-IT" dirty="0"/>
              <a:t> all'interno dei cicli iterativi di convergenza. </a:t>
            </a:r>
          </a:p>
          <a:p>
            <a:r>
              <a:rPr lang="it-IT" b="1" dirty="0"/>
              <a:t>Efficienza Hardware:</a:t>
            </a:r>
            <a:r>
              <a:rPr lang="it-IT" dirty="0"/>
              <a:t> La profilazione con </a:t>
            </a:r>
            <a:r>
              <a:rPr lang="it-IT" dirty="0" err="1"/>
              <a:t>perf</a:t>
            </a:r>
            <a:r>
              <a:rPr lang="it-IT" dirty="0"/>
              <a:t> ha dimostrato che lo scaling parallelo è strettamente vincolato all'architettura delle cache hardware. Superato il vincolo della Cache L3 (N=1024), il problema diventa strutturalmente </a:t>
            </a:r>
            <a:r>
              <a:rPr lang="it-IT" i="1" dirty="0"/>
              <a:t>Memory-Bound.</a:t>
            </a:r>
            <a:endParaRPr lang="it-IT" dirty="0"/>
          </a:p>
          <a:p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943614744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84A585-8F4F-63CF-7FCF-92CE5BFF1C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31">
            <a:extLst>
              <a:ext uri="{FF2B5EF4-FFF2-40B4-BE49-F238E27FC236}">
                <a16:creationId xmlns:a16="http://schemas.microsoft.com/office/drawing/2014/main" id="{AA370DCB-1E1A-D8C3-2C31-FE687FA081B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Move="1" noResize="1"/>
          </p:cNvSpPr>
          <p:nvPr/>
        </p:nvSpPr>
        <p:spPr>
          <a:xfrm>
            <a:off x="0" y="0"/>
            <a:ext cx="12191996" cy="6858000"/>
          </a:xfrm>
          <a:prstGeom prst="rect">
            <a:avLst/>
          </a:prstGeom>
          <a:solidFill>
            <a:srgbClr val="000000"/>
          </a:solidFill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it-IT" sz="1800" b="0" i="0" u="none" strike="noStrike" kern="1200" cap="none" spc="0" baseline="0" dirty="0">
              <a:solidFill>
                <a:srgbClr val="FFFFFF"/>
              </a:solidFill>
              <a:uFillTx/>
              <a:latin typeface="Grandview Display"/>
            </a:endParaRPr>
          </a:p>
        </p:txBody>
      </p:sp>
      <p:pic>
        <p:nvPicPr>
          <p:cNvPr id="3" name="Picture 3">
            <a:extLst>
              <a:ext uri="{FF2B5EF4-FFF2-40B4-BE49-F238E27FC236}">
                <a16:creationId xmlns:a16="http://schemas.microsoft.com/office/drawing/2014/main" id="{5942DCDB-7AE1-EBE3-7839-E8B50E605524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20451" r="9091" b="28413"/>
          <a:stretch>
            <a:fillRect/>
          </a:stretch>
        </p:blipFill>
        <p:spPr>
          <a:xfrm>
            <a:off x="-14" y="0"/>
            <a:ext cx="12191996" cy="6858000"/>
          </a:xfrm>
          <a:prstGeom prst="rect">
            <a:avLst/>
          </a:prstGeom>
          <a:noFill/>
          <a:ln cap="flat">
            <a:noFill/>
          </a:ln>
        </p:spPr>
      </p:pic>
      <p:sp>
        <p:nvSpPr>
          <p:cNvPr id="4" name="Rectangle 33">
            <a:extLst>
              <a:ext uri="{FF2B5EF4-FFF2-40B4-BE49-F238E27FC236}">
                <a16:creationId xmlns:a16="http://schemas.microsoft.com/office/drawing/2014/main" id="{FC616C02-B5BA-8B6C-A90B-5BBDB38D9BA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Move="1" noResize="1"/>
          </p:cNvSpPr>
          <p:nvPr/>
        </p:nvSpPr>
        <p:spPr>
          <a:xfrm rot="5400013">
            <a:off x="-173179" y="173178"/>
            <a:ext cx="6858000" cy="6511643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100000">
                <a:srgbClr val="000000">
                  <a:alpha val="17000"/>
                </a:srgbClr>
              </a:gs>
            </a:gsLst>
            <a:lin ang="5400000"/>
          </a:gradFill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it-IT" sz="1800" b="0" i="0" u="none" strike="noStrike" kern="1200" cap="none" spc="0" baseline="0" dirty="0">
              <a:solidFill>
                <a:srgbClr val="FFFFFF"/>
              </a:solidFill>
              <a:uFillTx/>
              <a:latin typeface="Neue Haas Grotesk Text Pro"/>
            </a:endParaRPr>
          </a:p>
        </p:txBody>
      </p:sp>
      <p:sp>
        <p:nvSpPr>
          <p:cNvPr id="5" name="Titolo 1">
            <a:extLst>
              <a:ext uri="{FF2B5EF4-FFF2-40B4-BE49-F238E27FC236}">
                <a16:creationId xmlns:a16="http://schemas.microsoft.com/office/drawing/2014/main" id="{04645714-467F-0C7D-D238-BD63972125BA}"/>
              </a:ext>
            </a:extLst>
          </p:cNvPr>
          <p:cNvSpPr txBox="1">
            <a:spLocks noGrp="1"/>
          </p:cNvSpPr>
          <p:nvPr>
            <p:ph type="ctrTitle"/>
          </p:nvPr>
        </p:nvSpPr>
        <p:spPr>
          <a:xfrm>
            <a:off x="393182" y="1744382"/>
            <a:ext cx="8542431" cy="4399423"/>
          </a:xfrm>
        </p:spPr>
        <p:txBody>
          <a:bodyPr>
            <a:normAutofit/>
          </a:bodyPr>
          <a:lstStyle/>
          <a:p>
            <a:pPr lvl="0"/>
            <a:r>
              <a:rPr lang="it-IT" sz="8000" dirty="0">
                <a:solidFill>
                  <a:srgbClr val="FFFFFF"/>
                </a:solidFill>
              </a:rPr>
              <a:t>GRAZIE PER L’ATTENZIONE</a:t>
            </a:r>
          </a:p>
        </p:txBody>
      </p:sp>
      <p:sp>
        <p:nvSpPr>
          <p:cNvPr id="6" name="Sottotitolo 2">
            <a:extLst>
              <a:ext uri="{FF2B5EF4-FFF2-40B4-BE49-F238E27FC236}">
                <a16:creationId xmlns:a16="http://schemas.microsoft.com/office/drawing/2014/main" id="{548C8BF9-4E93-5C92-578D-8BFAF1341A1B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468090" y="5253054"/>
            <a:ext cx="3888421" cy="969264"/>
          </a:xfrm>
        </p:spPr>
        <p:txBody>
          <a:bodyPr anchor="t"/>
          <a:lstStyle/>
          <a:p>
            <a:pPr lvl="0">
              <a:lnSpc>
                <a:spcPct val="120000"/>
              </a:lnSpc>
            </a:pPr>
            <a:r>
              <a:rPr lang="it-IT" sz="1400" dirty="0">
                <a:solidFill>
                  <a:srgbClr val="FFFFFF"/>
                </a:solidFill>
              </a:rPr>
              <a:t>Petronio </a:t>
            </a:r>
            <a:r>
              <a:rPr lang="it-IT" sz="1400" dirty="0" err="1">
                <a:solidFill>
                  <a:srgbClr val="FFFFFF"/>
                </a:solidFill>
              </a:rPr>
              <a:t>petronio</a:t>
            </a:r>
            <a:r>
              <a:rPr lang="it-IT" sz="1400" dirty="0">
                <a:solidFill>
                  <a:srgbClr val="FFFFFF"/>
                </a:solidFill>
              </a:rPr>
              <a:t> Davide</a:t>
            </a:r>
          </a:p>
          <a:p>
            <a:pPr lvl="0">
              <a:lnSpc>
                <a:spcPct val="120000"/>
              </a:lnSpc>
            </a:pPr>
            <a:endParaRPr lang="it-IT" sz="1400" dirty="0">
              <a:solidFill>
                <a:srgbClr val="FFFFFF"/>
              </a:solidFill>
            </a:endParaRPr>
          </a:p>
        </p:txBody>
      </p:sp>
      <p:cxnSp>
        <p:nvCxnSpPr>
          <p:cNvPr id="7" name="Straight Connector 35">
            <a:extLst>
              <a:ext uri="{FF2B5EF4-FFF2-40B4-BE49-F238E27FC236}">
                <a16:creationId xmlns:a16="http://schemas.microsoft.com/office/drawing/2014/main" id="{15F9C4F6-4EC7-8EE0-3D52-C714C018EF8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Move="1" noResize="1"/>
          </p:cNvCxnSpPr>
          <p:nvPr/>
        </p:nvCxnSpPr>
        <p:spPr>
          <a:xfrm>
            <a:off x="540328" y="4861206"/>
            <a:ext cx="978865" cy="0"/>
          </a:xfrm>
          <a:prstGeom prst="straightConnector1">
            <a:avLst/>
          </a:prstGeom>
          <a:noFill/>
          <a:ln w="76196" cap="flat">
            <a:solidFill>
              <a:srgbClr val="1973EB"/>
            </a:solidFill>
            <a:prstDash val="solid"/>
            <a:miter/>
          </a:ln>
        </p:spPr>
      </p:cxnSp>
    </p:spTree>
    <p:extLst>
      <p:ext uri="{BB962C8B-B14F-4D97-AF65-F5344CB8AC3E}">
        <p14:creationId xmlns:p14="http://schemas.microsoft.com/office/powerpoint/2010/main" val="12011373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iterate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7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1500"/>
                                  </p:stCondLst>
                                  <p:iterate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700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  <p:bldP spid="6" grpId="0" build="p"/>
    </p:bldLst>
  </p:timing>
</p:sld>
</file>

<file path=ppt/theme/theme1.xml><?xml version="1.0" encoding="utf-8"?>
<a:theme xmlns:a="http://schemas.openxmlformats.org/drawingml/2006/main" name="DashVTI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Tema di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TM04033923[[fn=Profondità]]</Template>
  <TotalTime>856</TotalTime>
  <Words>1265</Words>
  <Application>Microsoft Office PowerPoint</Application>
  <PresentationFormat>Widescreen</PresentationFormat>
  <Paragraphs>136</Paragraphs>
  <Slides>30</Slides>
  <Notes>8</Notes>
  <HiddenSlides>0</HiddenSlides>
  <MMClips>0</MMClips>
  <ScaleCrop>false</ScaleCrop>
  <HeadingPairs>
    <vt:vector size="6" baseType="variant">
      <vt:variant>
        <vt:lpstr>Caratteri utilizzati</vt:lpstr>
      </vt:variant>
      <vt:variant>
        <vt:i4>6</vt:i4>
      </vt:variant>
      <vt:variant>
        <vt:lpstr>Tema</vt:lpstr>
      </vt:variant>
      <vt:variant>
        <vt:i4>1</vt:i4>
      </vt:variant>
      <vt:variant>
        <vt:lpstr>Titoli diapositive</vt:lpstr>
      </vt:variant>
      <vt:variant>
        <vt:i4>30</vt:i4>
      </vt:variant>
    </vt:vector>
  </HeadingPairs>
  <TitlesOfParts>
    <vt:vector size="37" baseType="lpstr">
      <vt:lpstr>Aptos</vt:lpstr>
      <vt:lpstr>Aptos Narrow</vt:lpstr>
      <vt:lpstr>Arial</vt:lpstr>
      <vt:lpstr>Cambria Math</vt:lpstr>
      <vt:lpstr>Grandview Display</vt:lpstr>
      <vt:lpstr>Neue Haas Grotesk Text Pro</vt:lpstr>
      <vt:lpstr>DashVTI</vt:lpstr>
      <vt:lpstr>Simulazione della Diffusione del Calore 2D </vt:lpstr>
      <vt:lpstr>Equazione del Calore 2D  </vt:lpstr>
      <vt:lpstr>Equazione del calore 2D</vt:lpstr>
      <vt:lpstr>Equazione del calore 2D</vt:lpstr>
      <vt:lpstr>Hardware di Test</vt:lpstr>
      <vt:lpstr>Codice Sequenziale – Inizializzazione </vt:lpstr>
      <vt:lpstr>Codice sequenziale – Inizializzazione</vt:lpstr>
      <vt:lpstr>Codice sequenziale – Calcolo</vt:lpstr>
      <vt:lpstr>MPI– Topologia</vt:lpstr>
      <vt:lpstr>MPI – Latency Hiding</vt:lpstr>
      <vt:lpstr>MPI – Calcolo</vt:lpstr>
      <vt:lpstr>MPI – Calcolo – Waitall </vt:lpstr>
      <vt:lpstr>MPI + OpenMP</vt:lpstr>
      <vt:lpstr>MPI + OpenMP – Inizializzazione </vt:lpstr>
      <vt:lpstr>MPI + OpenMP - Calcolo</vt:lpstr>
      <vt:lpstr>OpenMP</vt:lpstr>
      <vt:lpstr>Metriche di Analisi</vt:lpstr>
      <vt:lpstr>Analisi – Tempo Sequenziale</vt:lpstr>
      <vt:lpstr>Analisi – Tempo Sequenziale</vt:lpstr>
      <vt:lpstr>Analisi – Tempo OMP</vt:lpstr>
      <vt:lpstr>Analisi – Strong Scaling - OMP</vt:lpstr>
      <vt:lpstr>Analisi – Tempo MPI </vt:lpstr>
      <vt:lpstr>Analisi – Strong Scaling – MPI </vt:lpstr>
      <vt:lpstr>Analisi – Tempo Ibrido</vt:lpstr>
      <vt:lpstr>Analisi – Strong Scaling - Ibrido</vt:lpstr>
      <vt:lpstr>Analisi – Paragone tra MPI, Ibrido e OMP- Tempi</vt:lpstr>
      <vt:lpstr>Analisi – Paragone tra MPI, Ibrido e OMP- Speedup Efficienza</vt:lpstr>
      <vt:lpstr>Analisi – Perf</vt:lpstr>
      <vt:lpstr>Conclusioni</vt:lpstr>
      <vt:lpstr>GRAZIE PER L’ATTENZIONE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DAVIDE PETRONIO PETRONIO</dc:creator>
  <cp:lastModifiedBy>DAVIDE PETRONIO PETRONIO</cp:lastModifiedBy>
  <cp:revision>19</cp:revision>
  <dcterms:created xsi:type="dcterms:W3CDTF">2026-07-10T08:20:12Z</dcterms:created>
  <dcterms:modified xsi:type="dcterms:W3CDTF">2026-07-12T14:23:32Z</dcterms:modified>
</cp:coreProperties>
</file>