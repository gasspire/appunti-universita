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0FD5F304-DC12-D4A8-51C3-B9E0003266CB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CD04EC8-A71D-908E-F4D8-BC63EF1B30CF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345BF391-7E6E-4620-98FD-023CDA366473}" type="datetime1">
              <a:rPr lang="it-IT"/>
              <a:pPr lvl="0"/>
              <a:t>10/07/2026</a:t>
            </a:fld>
            <a:endParaRPr lang="it-IT"/>
          </a:p>
        </p:txBody>
      </p:sp>
      <p:sp>
        <p:nvSpPr>
          <p:cNvPr id="4" name="Segnaposto immagine diapositiva 3">
            <a:extLst>
              <a:ext uri="{FF2B5EF4-FFF2-40B4-BE49-F238E27FC236}">
                <a16:creationId xmlns:a16="http://schemas.microsoft.com/office/drawing/2014/main" id="{DD8C2011-6F45-ABD3-A184-06D6BBFBC1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Segnaposto note 4">
            <a:extLst>
              <a:ext uri="{FF2B5EF4-FFF2-40B4-BE49-F238E27FC236}">
                <a16:creationId xmlns:a16="http://schemas.microsoft.com/office/drawing/2014/main" id="{BF2C5360-EC2A-4BE4-B733-8F784911D019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ADD83F7-AFD9-69C4-F4E7-E1159A3BFAF1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0C107DE-6ED6-8E78-4F3B-D4AC4F9742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DF8E85A9-1D11-4CA2-93D1-7F51BDFAA9B0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2345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671C149-41E3-9E10-9DFC-41A88BF72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D6A1B5-99AB-D0AE-1D12-54639B7640E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AC1C25-44FC-B1CC-4798-51949EA2E14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761E351-D3CA-45FD-BB1A-67D5D6C020F8}" type="slidenum">
              <a:t>3</a:t>
            </a:fld>
            <a:endParaRPr lang="it-IT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4F33831-7FED-FB65-2E8D-1664B123CC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0D96929-5236-3E5C-3E06-897DB3BD77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3407EAF-AFE8-C37D-3A31-579F9A4AFB7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0D8501A-DB08-4F3A-B64F-B6EE730CFE4E}" type="slidenum">
              <a:t>4</a:t>
            </a:fld>
            <a:endParaRPr lang="it-IT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613000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486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18E1E-A05F-5DD7-697E-A2191A10120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40080" y="1371600"/>
            <a:ext cx="6675120" cy="2951829"/>
          </a:xfrm>
        </p:spPr>
        <p:txBody>
          <a:bodyPr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F402F6-1E53-79FC-AA3E-EEF14FE4F5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40080" y="4584874"/>
            <a:ext cx="6675120" cy="1287886"/>
          </a:xfrm>
        </p:spPr>
        <p:txBody>
          <a:bodyPr anchor="b"/>
          <a:lstStyle>
            <a:lvl1pPr marL="0" indent="0">
              <a:lnSpc>
                <a:spcPct val="130000"/>
              </a:lnSpc>
              <a:buNone/>
              <a:defRPr sz="1800" b="1" cap="all" spc="30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2D3A4-39F3-6E5D-D982-D981481861D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FCAB46A-6DD9-4F62-ABE0-FC90F728C7BD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950B3-5D2B-4556-C9E3-62810B9A7FD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0FB4D-0FAF-0D88-8449-634264DF080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CD1D701-E0DA-47E7-AE05-D4E81710CCC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47895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97854-007B-F30C-587D-3208ACA4B7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1CE00-00A5-86FC-948B-FC2F569CA08A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68B19-6079-D1DA-CC5C-7B48D39D18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B338F0-B854-43AE-9608-61F80A23B07E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54788-D612-8CED-4B8B-F3DC15B9113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0EF10-05C0-1527-A71D-C4015F6C8CE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6DD340A-BED0-4C8D-ADCE-4D8330FA331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0214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F2E2230-E277-4A56-A5B8-1864A161682D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F755F9-1EAC-67F2-7318-30ACBA82BE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291370"/>
            <a:ext cx="9214884" cy="3159974"/>
          </a:xfrm>
        </p:spPr>
        <p:txBody>
          <a:bodyPr anchor="b"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C85201F-8730-1EB2-5957-4AE41A58FD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5018565"/>
            <a:ext cx="7907081" cy="107388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7A72495-7A31-FB4E-70FF-35120905D09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93E276-F7A9-4844-8194-3164C7EFB60D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ADCB569-0602-BA13-F47C-882939EDE7F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D3C7C61-A96A-4F50-B7D4-0F71149543B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C596049-FA60-4EA9-BEE1-079A3F4065C5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14CEA97-11DB-E232-375E-B9506404D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6276" y="471523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3893543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218D4-DB96-DEB6-99D7-8A9947E0B52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E91BB-E403-6EB0-FF50-BE2517C6DC1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40080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924F30-953C-BB1B-2923-ED493A0F227B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318924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6E9E5F-E380-D58B-19A5-4A2AF1A7B9D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4EB2D0A-4E10-4794-ADEA-97748A83AB24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62D3E-A740-5D35-D228-7D60A31E65A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4E94B3-E737-4429-18B8-DC47B2540D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E14826-9D53-4503-B7BA-9E905D98A6A9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34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AD44E-AC61-408C-FE32-FF0FFB6204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9397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54060-7042-A891-855A-674324F0DB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0C96-3FC1-E36F-23A0-9D210754DE92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40080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48FD6-4CAE-C640-8862-019A18216417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318924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FA119D-E12F-8859-CD2A-1BBDED9A2D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318924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2FB1C-948E-16FC-30C6-321D5A86C1E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0503B2-A64A-4185-816F-E5138D67B637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8B6FBF-CC0D-5AD6-C5D7-E2EFAD48F4E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33E7E9-23F4-1C80-C96F-43D998A6B67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ADB242E-E84B-412B-A59A-955B9853A614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49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9474-98C0-50CE-71B1-C878FADA3DE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60EB5-2FB0-B130-DB15-6840F4DF4C2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5BFD29E-4622-48D4-BC35-30ADB7E99029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9C2154-04FA-855A-0AD4-24E648A5192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B824F-23E2-520A-DE54-7401E4DE55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F53DF92-02FB-4AD2-8B20-13FAE105E26A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83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53B90D2-AFAF-0DBB-706C-7769C770398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EE0256B8-E41F-1B65-99E2-0C2D9E0CDC7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68017F-0127-4BE8-A92F-7CA6D920EA84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46133EF3-8209-509B-B1A9-A00F958AB5B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F493F70F-F350-558E-D486-087255FC9BD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3DB8B9F-35C5-4A68-BDA4-6A6668A28501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226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A4AEE-0D14-3A7E-9914-CCFC362BE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6F8D6-56D9-948D-E4D7-2F93513F80A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936516" y="1031004"/>
            <a:ext cx="6594488" cy="516635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DCEFEB-0B24-F688-B37D-AF6AD362C16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93F7E0-B488-10BC-07DB-FEDF669270B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AC66ADE-EAF2-4E0D-AB93-F35B2645C19A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8425B-1411-4F78-D92F-44C0C9A95FF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C228D5-B3F9-3D93-C887-6611498C8B4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637991E-FB36-4A7B-A351-D9504B9B2D26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9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EE4F1-F802-0F8D-8289-C175016D17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5D0501-4C57-BE47-FE07-5CDCEDDC4D2D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4937760" y="1033272"/>
            <a:ext cx="6592824" cy="5166359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1A70F4-0655-AC1A-5F68-6926FF51AA7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67DFF-DF0C-DE7C-D9BD-9D52BCEC98A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59BCB41-B51A-4811-BCAB-ED3D313D0567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B701FD-7512-7B89-6688-82AB4E8C3E8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661D5-0F37-0188-A43E-84537491E48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185BC8-9663-4640-8F71-4543BC393B00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12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3756D-F3B5-748C-0939-AC922EC853D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7E810-1537-D698-1299-4DEF8A4BB7FB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DCAA9-A411-81D6-A62E-0D13FC8C748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2A8780D-DC3D-49DD-80BA-AF37FC030400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263A3-9FB6-9A75-B2AC-AA53E4D6A15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4A6464-9F98-1B21-2101-534E86595EE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D984466-FA15-43CB-AE6D-4D69DDB631C5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58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77266678-F30E-07F2-920F-53D76500685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Vertical Title 1">
            <a:extLst>
              <a:ext uri="{FF2B5EF4-FFF2-40B4-BE49-F238E27FC236}">
                <a16:creationId xmlns:a16="http://schemas.microsoft.com/office/drawing/2014/main" id="{18036DFE-53E7-70C8-4896-C95BD26EB844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9209215" y="640080"/>
            <a:ext cx="1811773" cy="553688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Vertical Text Placeholder 2">
            <a:extLst>
              <a:ext uri="{FF2B5EF4-FFF2-40B4-BE49-F238E27FC236}">
                <a16:creationId xmlns:a16="http://schemas.microsoft.com/office/drawing/2014/main" id="{5F95A118-A0E7-D4D2-8182-A56ED99E59A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5" cy="553688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87EE4BD-BBF9-1436-990D-2217A3020B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64CF83D-396D-4087-A7AC-2608151ECF00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E849338-C2D6-8407-8E4E-D691CE6F2C7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79BBB22-08A0-22BE-D0D1-F62C34856AD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5351D8B-7ADE-4FC0-99A7-58577B95DC9C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87DA102-F641-EB77-9948-8ADA4644D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rot="5400013">
            <a:off x="10872151" y="119244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4175948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D37AC1-8440-D728-05D7-61A7564CB3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109728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A0D1E-B902-0F7E-C6F8-4FE3778DA9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633472"/>
            <a:ext cx="10890924" cy="356616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A8CF2-FFE6-36F9-7020-F06ABE00D02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40080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CCE64167-1427-45D0-A173-8E84E9565017}" type="datetime1">
              <a:rPr lang="en-US"/>
              <a:pPr lvl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C12E7-92FF-79F3-A0E3-055E3D74004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6767620" y="6356351"/>
            <a:ext cx="404037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06C81-6671-F98A-4CEB-06F645AF09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0807997" y="6356351"/>
            <a:ext cx="72301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75831271-C9A9-478D-8814-89D844B950B5}" type="slidenum">
              <a:t>‹N›</a:t>
            </a:fld>
            <a:endParaRPr lang="en-US"/>
          </a:p>
        </p:txBody>
      </p:sp>
      <p:cxnSp>
        <p:nvCxnSpPr>
          <p:cNvPr id="7" name="Straight Connector 8">
            <a:extLst>
              <a:ext uri="{FF2B5EF4-FFF2-40B4-BE49-F238E27FC236}">
                <a16:creationId xmlns:a16="http://schemas.microsoft.com/office/drawing/2014/main" id="{237754E6-2D02-BD27-6F7A-292255E4A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000" b="1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</p:titleStyle>
    <p:bodyStyle>
      <a:lvl1pPr marL="228600" marR="0" lvl="0" indent="-228600" algn="l" defTabSz="914400" rtl="0" fontAlgn="auto" hangingPunct="1">
        <a:lnSpc>
          <a:spcPct val="120000"/>
        </a:lnSpc>
        <a:spcBef>
          <a:spcPts val="1000"/>
        </a:spcBef>
        <a:spcAft>
          <a:spcPts val="0"/>
        </a:spcAft>
        <a:buSzPct val="87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  <a:lvl2pPr marL="493776" marR="0" lvl="1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2pPr>
      <a:lvl3pPr marL="731520" marR="0" lvl="2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6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3pPr>
      <a:lvl4pPr marL="1051560" marR="0" lvl="3" indent="-28575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4pPr>
      <a:lvl5pPr marL="1298448" marR="0" lvl="4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45A4658C-D57B-BA92-4666-21A85E77B5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A13F1CD9-C69F-53C0-A91F-E7F06CD466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451" r="9091" b="28413"/>
          <a:stretch>
            <a:fillRect/>
          </a:stretch>
        </p:blipFill>
        <p:spPr>
          <a:xfrm>
            <a:off x="0" y="0"/>
            <a:ext cx="12191996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ectangle 33">
            <a:extLst>
              <a:ext uri="{FF2B5EF4-FFF2-40B4-BE49-F238E27FC236}">
                <a16:creationId xmlns:a16="http://schemas.microsoft.com/office/drawing/2014/main" id="{CB8B7AC9-9F77-410D-0744-F31B0A6A18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5400013">
            <a:off x="-173179" y="173178"/>
            <a:ext cx="6858000" cy="651164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17000"/>
                </a:srgbClr>
              </a:gs>
            </a:gsLst>
            <a:lin ang="5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Neue Haas Grotesk Text Pro"/>
            </a:endParaRP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C5FBAED7-8105-083A-C09C-BA1D1DFB11D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7190" y="701966"/>
            <a:ext cx="5370947" cy="3640299"/>
          </a:xfrm>
        </p:spPr>
        <p:txBody>
          <a:bodyPr/>
          <a:lstStyle/>
          <a:p>
            <a:pPr lvl="0"/>
            <a:r>
              <a:rPr lang="it-IT" sz="6000">
                <a:solidFill>
                  <a:srgbClr val="FFFFFF"/>
                </a:solidFill>
              </a:rPr>
              <a:t>Simulazione della Diffusione del Calore 2D 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DEA79D2B-AE31-C718-ADF2-54354400ACB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8090" y="5253054"/>
            <a:ext cx="3888421" cy="969264"/>
          </a:xfrm>
        </p:spPr>
        <p:txBody>
          <a:bodyPr anchor="t"/>
          <a:lstStyle/>
          <a:p>
            <a:pPr lvl="0">
              <a:lnSpc>
                <a:spcPct val="120000"/>
              </a:lnSpc>
            </a:pPr>
            <a:r>
              <a:rPr lang="it-IT" sz="1400">
                <a:solidFill>
                  <a:srgbClr val="FFFFFF"/>
                </a:solidFill>
              </a:rPr>
              <a:t>Progetto di Principi della Programmazione Parallela</a:t>
            </a:r>
          </a:p>
          <a:p>
            <a:pPr lvl="0">
              <a:lnSpc>
                <a:spcPct val="120000"/>
              </a:lnSpc>
            </a:pPr>
            <a:r>
              <a:rPr lang="it-IT" sz="1400">
                <a:solidFill>
                  <a:srgbClr val="FFFFFF"/>
                </a:solidFill>
              </a:rPr>
              <a:t>Proff. Sciacca e Vitello</a:t>
            </a:r>
          </a:p>
        </p:txBody>
      </p:sp>
      <p:cxnSp>
        <p:nvCxnSpPr>
          <p:cNvPr id="7" name="Straight Connector 35">
            <a:extLst>
              <a:ext uri="{FF2B5EF4-FFF2-40B4-BE49-F238E27FC236}">
                <a16:creationId xmlns:a16="http://schemas.microsoft.com/office/drawing/2014/main" id="{6253D43F-58E3-FD2B-DBF5-AAC52B7859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40328" y="4861206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AC486-3969-4E6E-C1C8-8D0A4050C26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3200"/>
              <a:t>Equazione del Calore 2D </a:t>
            </a:r>
            <a:br>
              <a:rPr lang="it-IT" sz="3200"/>
            </a:br>
            <a:endParaRPr lang="it-IT"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it-IT"/>
                  <a:t>L’idea di questo progetto è quello di simulare la diffusione del calore su una griglia N x N sottoposta a diverse fonti di calore che provengono dai lati della griglia a diverse temperature. </a:t>
                </a:r>
              </a:p>
              <a:p>
                <a:pPr lvl="0"/>
                <a:r>
                  <a:rPr lang="it-IT"/>
                  <a:t>Il calcolo del calore per ogni punto è dato dalla seguente equazione:</a:t>
                </a:r>
              </a:p>
              <a:p>
                <a:pPr marL="0" lvl="0" indent="0">
                  <a:buNone/>
                </a:pPr>
                <a:endParaRPr lang="it-IT" i="1">
                  <a:latin typeface="Cambria Math" pitchFamily="18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f>
                        <m:fPr>
                          <m:type m:val="lin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it-IT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it-IT">
                          <a:latin typeface="Cambria Math" panose="02040503050406030204" pitchFamily="18" charset="0"/>
                        </a:rPr>
                        <m:t>.0</m:t>
                      </m:r>
                    </m:oMath>
                  </m:oMathPara>
                </a14:m>
                <a:endParaRPr lang="it-IT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6" t="-171" r="-4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AC448C-2EF1-E7BA-8D18-3C24267D4A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0531" y="171450"/>
            <a:ext cx="10890924" cy="1097280"/>
          </a:xfrm>
        </p:spPr>
        <p:txBody>
          <a:bodyPr/>
          <a:lstStyle/>
          <a:p>
            <a:pPr lvl="0"/>
            <a:r>
              <a:rPr lang="it-IT"/>
              <a:t>Equazione del calore 2D</a:t>
            </a:r>
          </a:p>
        </p:txBody>
      </p:sp>
      <p:pic>
        <p:nvPicPr>
          <p:cNvPr id="3" name="Immagine 4">
            <a:extLst>
              <a:ext uri="{FF2B5EF4-FFF2-40B4-BE49-F238E27FC236}">
                <a16:creationId xmlns:a16="http://schemas.microsoft.com/office/drawing/2014/main" id="{0B678F58-BEBD-2281-300A-944489C5E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1" y="1154430"/>
            <a:ext cx="10779468" cy="5600718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C1CA7EE3-E58C-6FAF-7A88-B65E8D3814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D247F251-46FD-00B6-B3B0-92C20AFA32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37860" cy="1097280"/>
          </a:xfrm>
        </p:spPr>
        <p:txBody>
          <a:bodyPr/>
          <a:lstStyle/>
          <a:p>
            <a:pPr lvl="0"/>
            <a:r>
              <a:rPr lang="it-IT"/>
              <a:t>Equazione del calore 2D</a:t>
            </a:r>
          </a:p>
        </p:txBody>
      </p:sp>
      <p:cxnSp>
        <p:nvCxnSpPr>
          <p:cNvPr id="4" name="Straight Connector 11">
            <a:extLst>
              <a:ext uri="{FF2B5EF4-FFF2-40B4-BE49-F238E27FC236}">
                <a16:creationId xmlns:a16="http://schemas.microsoft.com/office/drawing/2014/main" id="{F32C8394-2663-8B79-96F7-9656E874A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</p:spPr>
            <p:txBody>
              <a:bodyPr/>
              <a:lstStyle/>
              <a:p>
                <a:pPr lvl="0">
                  <a:lnSpc>
                    <a:spcPct val="110000"/>
                  </a:lnSpc>
                </a:pPr>
                <a:r>
                  <a:rPr lang="it-IT" sz="1900"/>
                  <a:t>La complessità di una singola iterazione del do-while è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it-IT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1900"/>
                  <a:t> a causa dei due cicli for annidati. </a:t>
                </a:r>
              </a:p>
              <a:p>
                <a:pPr lvl="0">
                  <a:lnSpc>
                    <a:spcPct val="110000"/>
                  </a:lnSpc>
                </a:pPr>
                <a:r>
                  <a:rPr lang="it-IT" sz="1900"/>
                  <a:t>Il do-while viene eseguito un numero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sz="1900"/>
                  <a:t> di volte che cresce all’aumentare non solo di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/>
                  <a:t>ma anche in base al valore di convergenza impostato. Di fatto, ciò rende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/>
                  <a:t>un valore assolutamente non trascurabile che, dai dati raccolti sembra essere circa un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/>
              </a:p>
              <a:p>
                <a:pPr lvl="0">
                  <a:lnSpc>
                    <a:spcPct val="110000"/>
                  </a:lnSpc>
                </a:pPr>
                <a:r>
                  <a:rPr lang="it-IT" sz="1900"/>
                  <a:t>Di fatto dunque la risoluzione ha un costo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it-IT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lit/>
                          </m:rPr>
                          <a:rPr lang="it-IT">
                            <a:latin typeface="Cambria Math" panose="02040503050406030204" pitchFamily="18" charset="0"/>
                          </a:rPr>
                          <m:t>^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it-IT" sz="1900"/>
                  <a:t> che è circa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/>
              </a:p>
              <a:p>
                <a:pPr lvl="0">
                  <a:lnSpc>
                    <a:spcPct val="110000"/>
                  </a:lnSpc>
                </a:pPr>
                <a:endParaRPr lang="it-IT" sz="1900"/>
              </a:p>
            </p:txBody>
          </p:sp>
        </mc:Choice>
        <mc:Fallback xmlns="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  <a:blipFill>
                <a:blip r:embed="rId3"/>
                <a:stretch>
                  <a:fillRect l="-425" t="-998" b="-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magine 4">
            <a:extLst>
              <a:ext uri="{FF2B5EF4-FFF2-40B4-BE49-F238E27FC236}">
                <a16:creationId xmlns:a16="http://schemas.microsoft.com/office/drawing/2014/main" id="{8A25A3A0-DFA6-84CE-C423-C2EAA61EF8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59" y="922355"/>
            <a:ext cx="5494016" cy="5480282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>
            <a:extLst>
              <a:ext uri="{FF2B5EF4-FFF2-40B4-BE49-F238E27FC236}">
                <a16:creationId xmlns:a16="http://schemas.microsoft.com/office/drawing/2014/main" id="{D90661F3-5169-F132-5576-226FCE4CF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5781F44E-E62B-7DDC-80D2-114A278CD9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93144" y="1371600"/>
            <a:ext cx="5737860" cy="1097280"/>
          </a:xfrm>
        </p:spPr>
        <p:txBody>
          <a:bodyPr/>
          <a:lstStyle/>
          <a:p>
            <a:pPr lvl="0"/>
            <a:r>
              <a:rPr lang="it-IT"/>
              <a:t>Hardware di Test</a:t>
            </a:r>
          </a:p>
        </p:txBody>
      </p:sp>
      <p:pic>
        <p:nvPicPr>
          <p:cNvPr id="4" name="Immagine 3" descr="Laptop - Free computer icons">
            <a:extLst>
              <a:ext uri="{FF2B5EF4-FFF2-40B4-BE49-F238E27FC236}">
                <a16:creationId xmlns:a16="http://schemas.microsoft.com/office/drawing/2014/main" id="{EF55B225-28F9-7619-E718-3F8996620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56816"/>
            <a:ext cx="4343400" cy="434340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5" name="Straight Connector 18">
            <a:extLst>
              <a:ext uri="{FF2B5EF4-FFF2-40B4-BE49-F238E27FC236}">
                <a16:creationId xmlns:a16="http://schemas.microsoft.com/office/drawing/2014/main" id="{ACDE3FF2-512B-7B1F-69B9-3C6656A83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866296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990AC120-5871-FA03-4779-5764D82911E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793144" y="2633234"/>
            <a:ext cx="5737860" cy="3666981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it-IT" sz="1400" b="1" dirty="0"/>
              <a:t>Processore:</a:t>
            </a:r>
            <a:r>
              <a:rPr lang="it-IT" sz="1400" dirty="0"/>
              <a:t> AMD Ryzen 5 5500U (Architettura Zen 2 / Lucienne, x86_64)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Topologia Core:</a:t>
            </a:r>
            <a:r>
              <a:rPr lang="it-IT" sz="1400" dirty="0"/>
              <a:t> 6 Core Fisici / 12 Core Logici (Thread per core: 2, SMT abilitato)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Frequenza di Clock:</a:t>
            </a:r>
            <a:r>
              <a:rPr lang="it-IT" sz="1400" dirty="0"/>
              <a:t> Base 2.10 GHz / Max Boost 4.05 GHz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Sottosistema di Cache:</a:t>
            </a:r>
            <a:endParaRPr lang="it-IT" sz="1400" dirty="0"/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L1d:</a:t>
            </a:r>
            <a:r>
              <a:rPr lang="it-IT" sz="1400" dirty="0"/>
              <a:t> 192 </a:t>
            </a:r>
            <a:r>
              <a:rPr lang="it-IT" sz="1400" dirty="0" err="1"/>
              <a:t>KiB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L2:</a:t>
            </a:r>
            <a:r>
              <a:rPr lang="it-IT" sz="1400" dirty="0"/>
              <a:t> 3 </a:t>
            </a:r>
            <a:r>
              <a:rPr lang="it-IT" sz="1400" dirty="0" err="1"/>
              <a:t>MiB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L3:</a:t>
            </a:r>
            <a:r>
              <a:rPr lang="it-IT" sz="1400" dirty="0"/>
              <a:t> </a:t>
            </a:r>
            <a:r>
              <a:rPr lang="it-IT" sz="1400" b="1" dirty="0"/>
              <a:t>8 </a:t>
            </a:r>
            <a:r>
              <a:rPr lang="it-IT" sz="1400" b="1" dirty="0" err="1"/>
              <a:t>MiB</a:t>
            </a:r>
            <a:r>
              <a:rPr lang="it-IT" sz="1400" b="1" dirty="0"/>
              <a:t> totali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Memoria RAM:</a:t>
            </a:r>
            <a:r>
              <a:rPr lang="it-IT" sz="1400" dirty="0"/>
              <a:t> 8 GB DDR4 (Memoria disponibile a sistema: ~5.8 GB unificati)</a:t>
            </a:r>
          </a:p>
          <a:p>
            <a:pPr lvl="0">
              <a:lnSpc>
                <a:spcPct val="110000"/>
              </a:lnSpc>
            </a:pPr>
            <a:endParaRPr lang="it-IT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>
            <a:extLst>
              <a:ext uri="{FF2B5EF4-FFF2-40B4-BE49-F238E27FC236}">
                <a16:creationId xmlns:a16="http://schemas.microsoft.com/office/drawing/2014/main" id="{944F8663-AD2B-71DE-BB24-E6DB91A29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CB916E8E-B538-4ECD-8787-31BCA5695B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52097" cy="1097280"/>
          </a:xfrm>
        </p:spPr>
        <p:txBody>
          <a:bodyPr/>
          <a:lstStyle/>
          <a:p>
            <a:pPr lvl="0">
              <a:lnSpc>
                <a:spcPct val="90000"/>
              </a:lnSpc>
            </a:pPr>
            <a:r>
              <a:rPr lang="it-IT" sz="3400"/>
              <a:t>Codice Sequenziale – Inizializzazione </a:t>
            </a:r>
          </a:p>
        </p:txBody>
      </p:sp>
      <p:cxnSp>
        <p:nvCxnSpPr>
          <p:cNvPr id="4" name="Straight Connector 16">
            <a:extLst>
              <a:ext uri="{FF2B5EF4-FFF2-40B4-BE49-F238E27FC236}">
                <a16:creationId xmlns:a16="http://schemas.microsoft.com/office/drawing/2014/main" id="{4B4A4741-CD6F-F14C-2C75-2D89C8531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5" name="CasellaDiTesto 9">
            <a:extLst>
              <a:ext uri="{FF2B5EF4-FFF2-40B4-BE49-F238E27FC236}">
                <a16:creationId xmlns:a16="http://schemas.microsoft.com/office/drawing/2014/main" id="{A4F720BC-BF1E-2762-F1AE-D8C4D0DD667A}"/>
              </a:ext>
            </a:extLst>
          </p:cNvPr>
          <p:cNvSpPr txBox="1"/>
          <p:nvPr/>
        </p:nvSpPr>
        <p:spPr>
          <a:xfrm>
            <a:off x="640070" y="2468880"/>
            <a:ext cx="5752097" cy="36617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 Per inizializzare la matrice, si avevano principalmente due scelte: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multipla: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chiamare più volte la calloc, genera più sequenze di memorie contigue ma che, tra di loro, non lo sono, rischiando di avere un maggior numero di cache miss.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singola: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utilizzare una singola calloc fa sì che otteniamo una sola sequenza di memoria contigua che siamo, però, costretti a gestire come una matrice attraverso l’aritmetica dei puntatori.</a:t>
            </a:r>
            <a:endParaRPr lang="it-IT" sz="1700" b="1" i="0" u="none" strike="noStrike" kern="1200" cap="none" spc="0" baseline="0">
              <a:solidFill>
                <a:srgbClr val="000000"/>
              </a:solidFill>
              <a:uFillTx/>
              <a:latin typeface="Grandview Display"/>
            </a:endParaRPr>
          </a:p>
        </p:txBody>
      </p:sp>
      <p:pic>
        <p:nvPicPr>
          <p:cNvPr id="6" name="Immagine 19">
            <a:extLst>
              <a:ext uri="{FF2B5EF4-FFF2-40B4-BE49-F238E27FC236}">
                <a16:creationId xmlns:a16="http://schemas.microsoft.com/office/drawing/2014/main" id="{713378E9-E6FF-EEDF-1950-B37DC265A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477" y="1752593"/>
            <a:ext cx="4929448" cy="192426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7" name="Immagine 21">
            <a:extLst>
              <a:ext uri="{FF2B5EF4-FFF2-40B4-BE49-F238E27FC236}">
                <a16:creationId xmlns:a16="http://schemas.microsoft.com/office/drawing/2014/main" id="{FF24AF6D-034E-8165-B5D2-996127182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7" t="26947" r="1930" b="20209"/>
          <a:stretch>
            <a:fillRect/>
          </a:stretch>
        </p:blipFill>
        <p:spPr>
          <a:xfrm>
            <a:off x="4057650" y="5914531"/>
            <a:ext cx="8134346" cy="428625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nettore 2 23">
            <a:extLst>
              <a:ext uri="{FF2B5EF4-FFF2-40B4-BE49-F238E27FC236}">
                <a16:creationId xmlns:a16="http://schemas.microsoft.com/office/drawing/2014/main" id="{45D98BFC-4BC3-9717-AF1D-C0DEA6B5E8E0}"/>
              </a:ext>
            </a:extLst>
          </p:cNvPr>
          <p:cNvCxnSpPr/>
          <p:nvPr/>
        </p:nvCxnSpPr>
        <p:spPr>
          <a:xfrm>
            <a:off x="6053584" y="5399678"/>
            <a:ext cx="677168" cy="456706"/>
          </a:xfrm>
          <a:prstGeom prst="straightConnector1">
            <a:avLst/>
          </a:prstGeom>
          <a:noFill/>
          <a:ln w="6345" cap="flat">
            <a:solidFill>
              <a:srgbClr val="FD0505"/>
            </a:solidFill>
            <a:prstDash val="solid"/>
            <a:miter/>
            <a:tailEnd type="arrow"/>
          </a:ln>
        </p:spPr>
      </p:cxnSp>
      <p:cxnSp>
        <p:nvCxnSpPr>
          <p:cNvPr id="9" name="Connettore 2 25">
            <a:extLst>
              <a:ext uri="{FF2B5EF4-FFF2-40B4-BE49-F238E27FC236}">
                <a16:creationId xmlns:a16="http://schemas.microsoft.com/office/drawing/2014/main" id="{60CE1441-FF5F-E5CA-CD04-09FCE4A3AE57}"/>
              </a:ext>
            </a:extLst>
          </p:cNvPr>
          <p:cNvCxnSpPr/>
          <p:nvPr/>
        </p:nvCxnSpPr>
        <p:spPr>
          <a:xfrm flipV="1">
            <a:off x="6060496" y="3297362"/>
            <a:ext cx="561981" cy="485775"/>
          </a:xfrm>
          <a:prstGeom prst="straightConnector1">
            <a:avLst/>
          </a:prstGeom>
          <a:noFill/>
          <a:ln w="6345" cap="flat">
            <a:solidFill>
              <a:srgbClr val="FF0000"/>
            </a:solidFill>
            <a:prstDash val="solid"/>
            <a:miter/>
            <a:tailEnd type="arrow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26">
            <a:extLst>
              <a:ext uri="{FF2B5EF4-FFF2-40B4-BE49-F238E27FC236}">
                <a16:creationId xmlns:a16="http://schemas.microsoft.com/office/drawing/2014/main" id="{AD6A9582-B99B-9961-F23E-15048402B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3" name="Rectangle 28">
            <a:extLst>
              <a:ext uri="{FF2B5EF4-FFF2-40B4-BE49-F238E27FC236}">
                <a16:creationId xmlns:a16="http://schemas.microsoft.com/office/drawing/2014/main" id="{EB4964EA-2F1C-8554-BB67-41F919357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D3B14F1A-AE47-96E9-46A8-1753BF636D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2572" y="1171145"/>
            <a:ext cx="10168109" cy="955511"/>
          </a:xfrm>
        </p:spPr>
        <p:txBody>
          <a:bodyPr anchorCtr="1"/>
          <a:lstStyle/>
          <a:p>
            <a:pPr lvl="0" algn="ctr"/>
            <a:r>
              <a:rPr lang="en-US" sz="4800"/>
              <a:t>Codice sequenziale – Inizializzazione</a:t>
            </a:r>
          </a:p>
        </p:txBody>
      </p:sp>
      <p:cxnSp>
        <p:nvCxnSpPr>
          <p:cNvPr id="5" name="Straight Connector 30">
            <a:extLst>
              <a:ext uri="{FF2B5EF4-FFF2-40B4-BE49-F238E27FC236}">
                <a16:creationId xmlns:a16="http://schemas.microsoft.com/office/drawing/2014/main" id="{681B5981-0C85-F4D8-89AB-50AD2F3FBF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992572" y="914400"/>
            <a:ext cx="10208828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10">
            <a:extLst>
              <a:ext uri="{FF2B5EF4-FFF2-40B4-BE49-F238E27FC236}">
                <a16:creationId xmlns:a16="http://schemas.microsoft.com/office/drawing/2014/main" id="{79DF628D-778A-1C99-7016-8FF69650C2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100" y="2842531"/>
            <a:ext cx="4504572" cy="32996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7" name="Segnaposto contenuto 14">
            <a:extLst>
              <a:ext uri="{FF2B5EF4-FFF2-40B4-BE49-F238E27FC236}">
                <a16:creationId xmlns:a16="http://schemas.microsoft.com/office/drawing/2014/main" id="{0292EFF8-4FA1-70F6-F391-BA6B1279D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13232" y="2829427"/>
            <a:ext cx="5497180" cy="1662900"/>
          </a:xfrm>
        </p:spPr>
      </p:pic>
      <p:pic>
        <p:nvPicPr>
          <p:cNvPr id="8" name="Immagine 16">
            <a:extLst>
              <a:ext uri="{FF2B5EF4-FFF2-40B4-BE49-F238E27FC236}">
                <a16:creationId xmlns:a16="http://schemas.microsoft.com/office/drawing/2014/main" id="{44074279-E68C-46AF-3B6F-C707D6413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4731343"/>
            <a:ext cx="5582128" cy="1038895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3">
            <a:extLst>
              <a:ext uri="{FF2B5EF4-FFF2-40B4-BE49-F238E27FC236}">
                <a16:creationId xmlns:a16="http://schemas.microsoft.com/office/drawing/2014/main" id="{1ECE44B2-0531-C49F-9642-A6D061DD6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68C60361-B12E-7645-60B3-1E30E20431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914400"/>
            <a:ext cx="10847490" cy="1171072"/>
          </a:xfrm>
        </p:spPr>
        <p:txBody>
          <a:bodyPr/>
          <a:lstStyle/>
          <a:p>
            <a:pPr lvl="0"/>
            <a:r>
              <a:rPr lang="it-IT"/>
              <a:t>Codice sequenziale – Calcolo</a:t>
            </a:r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F3FBECBC-2AE3-5176-B827-DE37CB5AE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07" y="1499936"/>
            <a:ext cx="6401943" cy="465741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5" name="Segnaposto contenuto 6">
            <a:extLst>
              <a:ext uri="{FF2B5EF4-FFF2-40B4-BE49-F238E27FC236}">
                <a16:creationId xmlns:a16="http://schemas.microsoft.com/office/drawing/2014/main" id="{D5A1F5DD-D28A-D669-AE59-1485BE570D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915149" y="2256291"/>
            <a:ext cx="4563614" cy="3760460"/>
          </a:xfrm>
        </p:spPr>
        <p:txBody>
          <a:bodyPr/>
          <a:lstStyle/>
          <a:p>
            <a:pPr lvl="0"/>
            <a:r>
              <a:rPr lang="it-IT"/>
              <a:t>Il codice sequenziale, banalmente, ricalca alla perfezione quello che è lo pseudocodice visto precedentemente.</a:t>
            </a:r>
          </a:p>
        </p:txBody>
      </p:sp>
      <p:cxnSp>
        <p:nvCxnSpPr>
          <p:cNvPr id="6" name="Straight Connector 25">
            <a:extLst>
              <a:ext uri="{FF2B5EF4-FFF2-40B4-BE49-F238E27FC236}">
                <a16:creationId xmlns:a16="http://schemas.microsoft.com/office/drawing/2014/main" id="{8A47BDFE-DFF4-5677-E6A3-FEE9244A4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672248" y="6272783"/>
            <a:ext cx="10847500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3C7B53-044B-5D21-F353-72BFB7AA58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 wrap="square" anchor="t">
            <a:normAutofit/>
          </a:bodyPr>
          <a:lstStyle/>
          <a:p>
            <a:pPr lvl="0"/>
            <a:r>
              <a:rPr lang="it-IT"/>
              <a:t>MPI– Topologia</a:t>
            </a:r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09F0AFA6-40C3-1757-FE74-40DB197C9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60" y="1033272"/>
            <a:ext cx="5555224" cy="516635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C30C96-647A-C38B-E01A-D925D137F510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 wrap="square" anchor="t">
            <a:normAutofit/>
          </a:bodyPr>
          <a:lstStyle/>
          <a:p>
            <a:pPr lvl="0"/>
            <a:r>
              <a:rPr lang="it-IT" dirty="0"/>
              <a:t>La matrice viene divisa secondo un partizionamento orizzontale cercando di assegnare ad ogni processo un </a:t>
            </a:r>
            <a:r>
              <a:rPr lang="it-IT" b="1" dirty="0"/>
              <a:t>numero equo di righe da calcolare.</a:t>
            </a:r>
          </a:p>
          <a:p>
            <a:pPr lvl="0"/>
            <a:r>
              <a:rPr lang="it-IT" dirty="0"/>
              <a:t>Grazie all’uso di </a:t>
            </a:r>
            <a:r>
              <a:rPr lang="it-IT" b="1" dirty="0" err="1"/>
              <a:t>MPI_Cart_create</a:t>
            </a:r>
            <a:r>
              <a:rPr lang="it-IT" dirty="0"/>
              <a:t>, è possibile effettuare questo tipo di decomposizione molto facilmente gestendo facilmente l’identificazione e lo scambio di messaggi con i vicini tramite le </a:t>
            </a:r>
            <a:r>
              <a:rPr lang="it-IT" b="1" dirty="0"/>
              <a:t>righe di Halo</a:t>
            </a:r>
            <a:r>
              <a:rPr lang="it-IT" dirty="0"/>
              <a:t>.</a:t>
            </a:r>
          </a:p>
          <a:p>
            <a:pPr lvl="0"/>
            <a:endParaRPr lang="it-IT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64FD68-6942-C5F8-5C45-CFE66A53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MPI – </a:t>
            </a:r>
            <a:r>
              <a:rPr lang="en-GB" dirty="0"/>
              <a:t>Latency Hiding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577971-0454-FBAB-EE60-E5DAFC74C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336533"/>
            <a:ext cx="4230303" cy="3794760"/>
          </a:xfrm>
        </p:spPr>
        <p:txBody>
          <a:bodyPr>
            <a:normAutofit fontScale="92500" lnSpcReduction="10000"/>
          </a:bodyPr>
          <a:lstStyle/>
          <a:p>
            <a:r>
              <a:rPr lang="it-IT" dirty="0"/>
              <a:t>Una volta identificati i vicini tramite la </a:t>
            </a:r>
            <a:r>
              <a:rPr lang="it-IT" b="1" dirty="0" err="1"/>
              <a:t>MPI_Cart_shift</a:t>
            </a:r>
            <a:r>
              <a:rPr lang="it-IT" dirty="0"/>
              <a:t>, la prima cosa che facciamo dentro il do-while è proprio quella di inviare e ricevere gli </a:t>
            </a:r>
            <a:r>
              <a:rPr lang="it-IT" b="1" dirty="0"/>
              <a:t>Halo</a:t>
            </a:r>
            <a:r>
              <a:rPr lang="it-IT" dirty="0"/>
              <a:t> tramite chiamate </a:t>
            </a:r>
            <a:r>
              <a:rPr lang="it-IT" b="1" dirty="0"/>
              <a:t>asincrone</a:t>
            </a:r>
            <a:r>
              <a:rPr lang="it-IT" dirty="0"/>
              <a:t>, così ché, in attesa del completamento dello scambio, cominciamo ad effettuare i calcoli necessari, di fatto, riducendo l’impatto che ha la comunicazione sull’intero codice.</a:t>
            </a:r>
          </a:p>
          <a:p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5F66DDA-677B-6F24-6BAE-504D29A3B1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262"/>
          <a:stretch>
            <a:fillRect/>
          </a:stretch>
        </p:blipFill>
        <p:spPr>
          <a:xfrm>
            <a:off x="4671933" y="4235548"/>
            <a:ext cx="7520067" cy="2060043"/>
          </a:xfrm>
          <a:prstGeom prst="rect">
            <a:avLst/>
          </a:prstGeom>
        </p:spPr>
      </p:pic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57A37A00-A936-EF65-DAA2-DE2500A61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0896" y="2468880"/>
            <a:ext cx="5245769" cy="13450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371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B3887D-27D9-4BFD-7A9F-B5D2558FA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 wrap="square" anchor="t">
            <a:normAutofit/>
          </a:bodyPr>
          <a:lstStyle/>
          <a:p>
            <a:r>
              <a:rPr lang="it-IT" dirty="0"/>
              <a:t>MPI – Calcolo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7A9EA59F-F723-4884-F9E8-1945C1BA4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096" y="1785237"/>
            <a:ext cx="6592824" cy="3065662"/>
          </a:xfrm>
          <a:prstGeom prst="rect">
            <a:avLst/>
          </a:prstGeom>
          <a:noFill/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BD9FCC-B365-05EA-BD18-8662E0C3EDA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 wrap="square" anchor="t">
            <a:normAutofit/>
          </a:bodyPr>
          <a:lstStyle/>
          <a:p>
            <a:r>
              <a:rPr lang="it-IT" dirty="0"/>
              <a:t>Il calcolo interno in questa versione viene fatto senza utilizzo di ulteriori Thread, lavorando esclusivamente in sequenziale. Tutte le righe vengono calcolate normalmente meno che la prima e l’ultima che verranno calcolate successivamente dopo che si è certi che si è ricevuto l’Halo dai vicini. </a:t>
            </a:r>
          </a:p>
        </p:txBody>
      </p:sp>
    </p:spTree>
    <p:extLst>
      <p:ext uri="{BB962C8B-B14F-4D97-AF65-F5344CB8AC3E}">
        <p14:creationId xmlns:p14="http://schemas.microsoft.com/office/powerpoint/2010/main" val="2673955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55ABAD-810C-43FF-372A-A9B3826ED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8" y="1121343"/>
            <a:ext cx="10890924" cy="109728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MPI – Calcolo – </a:t>
            </a:r>
            <a:r>
              <a:rPr lang="it-IT" noProof="0" dirty="0" err="1"/>
              <a:t>Waitall</a:t>
            </a:r>
            <a:r>
              <a:rPr lang="it-IT" noProof="0" dirty="0"/>
              <a:t>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B98DB1A3-BABB-9AB8-4B86-7179945BEB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-2" b="1196"/>
          <a:stretch>
            <a:fillRect/>
          </a:stretch>
        </p:blipFill>
        <p:spPr>
          <a:xfrm>
            <a:off x="0" y="1810005"/>
            <a:ext cx="6915752" cy="473183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207C738-0CFB-1A4D-1C03-86076B30BC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7151570" y="2633472"/>
            <a:ext cx="4379433" cy="356616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A questo punto, una volta certi che abbiamo completato lo scambio con tutti i processi, possiamo calcolare le righe mancanti.</a:t>
            </a:r>
          </a:p>
        </p:txBody>
      </p:sp>
    </p:spTree>
    <p:extLst>
      <p:ext uri="{BB962C8B-B14F-4D97-AF65-F5344CB8AC3E}">
        <p14:creationId xmlns:p14="http://schemas.microsoft.com/office/powerpoint/2010/main" val="2826647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3F1517-D17F-8AED-3B69-4D2098BE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endParaRPr lang="it-IT" dirty="0"/>
          </a:p>
        </p:txBody>
      </p:sp>
      <p:pic>
        <p:nvPicPr>
          <p:cNvPr id="6" name="Segnaposto contenuto 5">
            <a:extLst>
              <a:ext uri="{FF2B5EF4-FFF2-40B4-BE49-F238E27FC236}">
                <a16:creationId xmlns:a16="http://schemas.microsoft.com/office/drawing/2014/main" id="{3E85B865-F908-13A5-59CF-A5E925BC769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71"/>
          <a:stretch>
            <a:fillRect/>
          </a:stretch>
        </p:blipFill>
        <p:spPr>
          <a:xfrm>
            <a:off x="5973366" y="374650"/>
            <a:ext cx="5856081" cy="612534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D561801-8511-4BD4-CC81-45BB87F5A1A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0080" y="2972165"/>
            <a:ext cx="4819160" cy="2613823"/>
          </a:xfrm>
        </p:spPr>
        <p:txBody>
          <a:bodyPr wrap="square" anchor="t">
            <a:normAutofit/>
          </a:bodyPr>
          <a:lstStyle/>
          <a:p>
            <a:r>
              <a:rPr lang="it-IT" b="1" dirty="0"/>
              <a:t>Macro-partizionamento (MPI):</a:t>
            </a:r>
            <a:r>
              <a:rPr lang="it-IT" dirty="0"/>
              <a:t> Suddivide il dominio 2D in strisce orizzontali e gestisce lo scambio asincrono degli Halo (Ghost </a:t>
            </a:r>
            <a:r>
              <a:rPr lang="it-IT" dirty="0" err="1"/>
              <a:t>Cells</a:t>
            </a:r>
            <a:r>
              <a:rPr lang="it-IT" dirty="0"/>
              <a:t>) tra i nodi.</a:t>
            </a:r>
          </a:p>
          <a:p>
            <a:r>
              <a:rPr lang="it-IT" b="1" dirty="0"/>
              <a:t>Micro-partizionamento (</a:t>
            </a:r>
            <a:r>
              <a:rPr lang="it-IT" b="1" dirty="0" err="1"/>
              <a:t>OpenMP</a:t>
            </a:r>
            <a:r>
              <a:rPr lang="it-IT" b="1" dirty="0"/>
              <a:t>):</a:t>
            </a:r>
            <a:r>
              <a:rPr lang="it-IT" dirty="0"/>
              <a:t> </a:t>
            </a:r>
            <a:r>
              <a:rPr lang="it-IT" b="1" dirty="0"/>
              <a:t>Parallelizza i cicli annidati</a:t>
            </a:r>
            <a:r>
              <a:rPr lang="it-IT" dirty="0"/>
              <a:t> per il calcolo dello stencil a 5 punti sfruttando tutti i core all'interno del singolo nodo.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7515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1E138E-F846-CDE8-B528-35D5A3E7A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r>
              <a:rPr lang="it-IT" dirty="0"/>
              <a:t> – Inizializzazione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3915D1A8-EC41-0186-0CAA-B2A12A8A96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/>
        </p:blipFill>
        <p:spPr>
          <a:xfrm>
            <a:off x="4957432" y="2972165"/>
            <a:ext cx="6594488" cy="235752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C5D7A0D-6F05-5EFB-0052-1363DA115F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 wrap="square" anchor="t">
            <a:normAutofit/>
          </a:bodyPr>
          <a:lstStyle/>
          <a:p>
            <a:r>
              <a:rPr lang="it-IT" b="1" dirty="0"/>
              <a:t>Ottimizzazione NUMA:</a:t>
            </a:r>
            <a:r>
              <a:rPr lang="it-IT" dirty="0"/>
              <a:t> Implementazione della politica </a:t>
            </a:r>
            <a:r>
              <a:rPr lang="it-IT" i="1" dirty="0"/>
              <a:t>First-Touch</a:t>
            </a:r>
            <a:r>
              <a:rPr lang="it-IT" dirty="0"/>
              <a:t> in fase di inizializzazione per garantire la località dei dati.</a:t>
            </a:r>
          </a:p>
          <a:p>
            <a:r>
              <a:rPr lang="it-IT" b="1" dirty="0"/>
              <a:t>Vantaggio:</a:t>
            </a:r>
            <a:r>
              <a:rPr lang="it-IT" dirty="0"/>
              <a:t> Previene il sovraccarico del bus di memoria, un problema tipico quando un singolo thread (master) pre-alloca l'intera struttura dati.</a:t>
            </a:r>
          </a:p>
        </p:txBody>
      </p:sp>
    </p:spTree>
    <p:extLst>
      <p:ext uri="{BB962C8B-B14F-4D97-AF65-F5344CB8AC3E}">
        <p14:creationId xmlns:p14="http://schemas.microsoft.com/office/powerpoint/2010/main" val="1235874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2B4C1B-262D-F31E-D03A-9888E3906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MPI + </a:t>
            </a:r>
            <a:r>
              <a:rPr lang="it-IT" noProof="0" dirty="0" err="1"/>
              <a:t>OpenMP</a:t>
            </a:r>
            <a:r>
              <a:rPr lang="it-IT" noProof="0" dirty="0"/>
              <a:t> - Calcolo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D72504C-D3E4-58AB-A4AE-BE5766A10C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727"/>
          <a:stretch>
            <a:fillRect/>
          </a:stretch>
        </p:blipFill>
        <p:spPr>
          <a:xfrm>
            <a:off x="4499478" y="1048888"/>
            <a:ext cx="7692522" cy="5632288"/>
          </a:xfrm>
          <a:prstGeom prst="rect">
            <a:avLst/>
          </a:prstGeom>
          <a:noFill/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A25794F-11FF-B974-5911-B0DB7F93EA5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 wrap="square" anchor="t">
            <a:normAutofit/>
          </a:bodyPr>
          <a:lstStyle/>
          <a:p>
            <a:r>
              <a:rPr lang="it-IT" dirty="0"/>
              <a:t>Il calcolo interno è parallelizzato tramite </a:t>
            </a:r>
            <a:r>
              <a:rPr lang="it-IT" dirty="0" err="1"/>
              <a:t>OpenMP</a:t>
            </a:r>
            <a:r>
              <a:rPr lang="it-IT" dirty="0"/>
              <a:t> </a:t>
            </a:r>
            <a:r>
              <a:rPr lang="it-IT" b="1" dirty="0"/>
              <a:t>(#pragma </a:t>
            </a:r>
            <a:r>
              <a:rPr lang="it-IT" b="1" dirty="0" err="1"/>
              <a:t>omp</a:t>
            </a:r>
            <a:r>
              <a:rPr lang="it-IT" b="1" dirty="0"/>
              <a:t> </a:t>
            </a:r>
            <a:r>
              <a:rPr lang="it-IT" b="1" dirty="0" err="1"/>
              <a:t>parallel</a:t>
            </a:r>
            <a:r>
              <a:rPr lang="it-IT" b="1" dirty="0"/>
              <a:t> for</a:t>
            </a:r>
            <a:r>
              <a:rPr lang="it-IT" dirty="0"/>
              <a:t>). Per evitare </a:t>
            </a:r>
            <a:r>
              <a:rPr lang="it-IT" i="1" dirty="0"/>
              <a:t>data race</a:t>
            </a:r>
            <a:r>
              <a:rPr lang="it-IT" dirty="0"/>
              <a:t> sulla variabile globale </a:t>
            </a:r>
            <a:r>
              <a:rPr lang="it-IT" b="1" dirty="0"/>
              <a:t>differenza</a:t>
            </a:r>
            <a:r>
              <a:rPr lang="it-IT" dirty="0"/>
              <a:t> – che causerebbe la perdita di aggiornamenti e corromperebbe la verifica di convergenza – è obbligatorio proteggere l'accumulo con la clausola </a:t>
            </a:r>
            <a:r>
              <a:rPr lang="it-IT" b="1" dirty="0" err="1"/>
              <a:t>reduction</a:t>
            </a:r>
            <a:r>
              <a:rPr lang="it-IT" b="1" dirty="0"/>
              <a:t>(+:differenza).</a:t>
            </a:r>
            <a:endParaRPr lang="it-IT" b="1" noProof="0" dirty="0"/>
          </a:p>
        </p:txBody>
      </p:sp>
    </p:spTree>
    <p:extLst>
      <p:ext uri="{BB962C8B-B14F-4D97-AF65-F5344CB8AC3E}">
        <p14:creationId xmlns:p14="http://schemas.microsoft.com/office/powerpoint/2010/main" val="149752981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367</TotalTime>
  <Words>751</Words>
  <Application>Microsoft Office PowerPoint</Application>
  <PresentationFormat>Widescreen</PresentationFormat>
  <Paragraphs>50</Paragraphs>
  <Slides>15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1" baseType="lpstr">
      <vt:lpstr>Aptos</vt:lpstr>
      <vt:lpstr>Arial</vt:lpstr>
      <vt:lpstr>Cambria Math</vt:lpstr>
      <vt:lpstr>Grandview Display</vt:lpstr>
      <vt:lpstr>Neue Haas Grotesk Text Pro</vt:lpstr>
      <vt:lpstr>DashVTI</vt:lpstr>
      <vt:lpstr>Simulazione della Diffusione del Calore 2D </vt:lpstr>
      <vt:lpstr>Equazione del Calore 2D  </vt:lpstr>
      <vt:lpstr>Equazione del calore 2D</vt:lpstr>
      <vt:lpstr>Equazione del calore 2D</vt:lpstr>
      <vt:lpstr>Hardware di Test</vt:lpstr>
      <vt:lpstr>Codice Sequenziale – Inizializzazione </vt:lpstr>
      <vt:lpstr>Codice sequenziale – Inizializzazione</vt:lpstr>
      <vt:lpstr>Codice sequenziale – Calcolo</vt:lpstr>
      <vt:lpstr>MPI– Topologia</vt:lpstr>
      <vt:lpstr>MPI – Latency Hiding</vt:lpstr>
      <vt:lpstr>MPI – Calcolo</vt:lpstr>
      <vt:lpstr>MPI – Calcolo – Waitall </vt:lpstr>
      <vt:lpstr>MPI + OpenMP</vt:lpstr>
      <vt:lpstr>MPI + OpenMP – Inizializzazione </vt:lpstr>
      <vt:lpstr>MPI + OpenMP - Calcolo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DAVIDE PETRONIO PETRONIO</dc:creator>
  <cp:lastModifiedBy>DAVIDE PETRONIO PETRONIO</cp:lastModifiedBy>
  <cp:revision>6</cp:revision>
  <dcterms:created xsi:type="dcterms:W3CDTF">2026-07-10T08:20:12Z</dcterms:created>
  <dcterms:modified xsi:type="dcterms:W3CDTF">2026-07-10T16:48:55Z</dcterms:modified>
</cp:coreProperties>
</file>